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9" r:id="rId24"/>
    <p:sldId id="280" r:id="rId25"/>
    <p:sldId id="283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E22"/>
    <a:srgbClr val="C0392B"/>
    <a:srgbClr val="27A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3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974D3-AB3F-B36D-1EF2-345388FB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13234-1A8E-27E2-B193-13E496076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D4F63-615E-13F4-9A77-CAAAFE9EC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3B033-D93E-D82A-1591-97F002405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11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09728" cy="2560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Détection automatisée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 dommages automobiles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4F7"/>
                </a:solidFill>
              </a:rPr>
              <a:t>par apprentissage </a:t>
            </a:r>
            <a:r>
              <a:rPr lang="en-US" sz="2200" i="1" dirty="0" err="1">
                <a:solidFill>
                  <a:srgbClr val="D6E4F7"/>
                </a:solidFill>
              </a:rPr>
              <a:t>profond</a:t>
            </a:r>
            <a:r>
              <a:rPr lang="en-US" sz="2200" i="1" dirty="0">
                <a:solidFill>
                  <a:srgbClr val="D6E4F7"/>
                </a:solidFill>
              </a:rPr>
              <a:t> avec YOLO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</a:rPr>
              <a:t>INF1022  —  </a:t>
            </a:r>
            <a:r>
              <a:rPr lang="en-US" sz="1200" dirty="0" err="1">
                <a:solidFill>
                  <a:srgbClr val="D6E4F7"/>
                </a:solidFill>
              </a:rPr>
              <a:t>Projet</a:t>
            </a:r>
            <a:r>
              <a:rPr lang="en-US" sz="1200" dirty="0">
                <a:solidFill>
                  <a:srgbClr val="D6E4F7"/>
                </a:solidFill>
              </a:rPr>
              <a:t> de </a:t>
            </a:r>
            <a:r>
              <a:rPr lang="en-US" sz="1200" dirty="0" err="1">
                <a:solidFill>
                  <a:srgbClr val="D6E4F7"/>
                </a:solidFill>
              </a:rPr>
              <a:t>synthèse</a:t>
            </a:r>
            <a:endParaRPr lang="en-US" sz="1200" dirty="0">
              <a:solidFill>
                <a:srgbClr val="D6E4F7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</a:rPr>
              <a:t>Université du Québec à Trois-Rivières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6E4F7"/>
                </a:solidFill>
              </a:rPr>
              <a:t>Yannick Poirier 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</a:rPr>
              <a:t>30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Problématique et motivation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D6E4F7"/>
          </a:solidFill>
          <a:ln/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</a:rPr>
              <a:t>Comment identifier automatiquement les dommages, leur localisation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</a:rPr>
              <a:t>et leur sévérité depuis une simple </a:t>
            </a:r>
            <a:r>
              <a:rPr lang="en-US" sz="1400" b="1" i="1" dirty="0" err="1">
                <a:solidFill>
                  <a:srgbClr val="1E2761"/>
                </a:solidFill>
              </a:rPr>
              <a:t>photographie</a:t>
            </a:r>
            <a:r>
              <a:rPr lang="en-US" sz="1400" b="1" i="1" dirty="0">
                <a:solidFill>
                  <a:srgbClr val="1E2761"/>
                </a:solidFill>
              </a:rPr>
              <a:t> d’un véhicule 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697480" cy="1136469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91440" cy="1136469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Assurance automobile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25146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3D4E6B"/>
                </a:solidFill>
              </a:rPr>
              <a:t>Automatiser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l’expertise</a:t>
            </a:r>
            <a:r>
              <a:rPr lang="en-US" sz="1100" dirty="0">
                <a:solidFill>
                  <a:srgbClr val="3D4E6B"/>
                </a:solidFill>
              </a:rPr>
              <a:t> des </a:t>
            </a:r>
            <a:r>
              <a:rPr lang="en-US" sz="1100" dirty="0" err="1">
                <a:solidFill>
                  <a:srgbClr val="3D4E6B"/>
                </a:solidFill>
              </a:rPr>
              <a:t>sinistres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permet</a:t>
            </a:r>
            <a:r>
              <a:rPr lang="en-US" sz="1100" dirty="0">
                <a:solidFill>
                  <a:srgbClr val="3D4E6B"/>
                </a:solidFill>
              </a:rPr>
              <a:t> de réduire les délais et les </a:t>
            </a:r>
            <a:r>
              <a:rPr lang="en-US" sz="1100" dirty="0" err="1">
                <a:solidFill>
                  <a:srgbClr val="3D4E6B"/>
                </a:solidFill>
              </a:rPr>
              <a:t>coûts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d’inspection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2697480" cy="1136469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64008" cy="1136469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Achat / vente occasion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496312"/>
            <a:ext cx="25146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Évaluer </a:t>
            </a:r>
            <a:r>
              <a:rPr lang="en-US" sz="1100" dirty="0" err="1">
                <a:solidFill>
                  <a:srgbClr val="3D4E6B"/>
                </a:solidFill>
              </a:rPr>
              <a:t>objectivement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l’état</a:t>
            </a:r>
            <a:r>
              <a:rPr lang="en-US" sz="1100" dirty="0">
                <a:solidFill>
                  <a:srgbClr val="3D4E6B"/>
                </a:solidFill>
              </a:rPr>
              <a:t> d'un véhicule sans inspection physique préalable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2697480" cy="1136469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64008" cy="1136469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6172200" y="21488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Gestion des sinistres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496312"/>
            <a:ext cx="25146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Standardiser et accélérer le traitement des dossiers d'accident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422469"/>
            <a:ext cx="8412480" cy="1286691"/>
          </a:xfrm>
          <a:prstGeom prst="rect">
            <a:avLst/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0" name="Image 19" descr="Une image contenant voiture, pneu, Pièce auto, véhicule&#10;&#10;Le contenu généré par l’IA peut être incorrect.">
            <a:extLst>
              <a:ext uri="{FF2B5EF4-FFF2-40B4-BE49-F238E27FC236}">
                <a16:creationId xmlns:a16="http://schemas.microsoft.com/office/drawing/2014/main" id="{AF289A6C-8D76-6CD1-1810-A27C219B05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" y="3403759"/>
            <a:ext cx="2085023" cy="1284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73BC3A6-1CE3-C96A-C579-5C7F4AD44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381" y="3418932"/>
            <a:ext cx="1915518" cy="1293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632A86D-02CB-7949-69BC-632D61F92D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202" y="3432452"/>
            <a:ext cx="1847156" cy="128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Vue </a:t>
            </a:r>
            <a:r>
              <a:rPr lang="en-US" sz="2400" b="1" dirty="0" err="1">
                <a:solidFill>
                  <a:srgbClr val="1E2761"/>
                </a:solidFill>
              </a:rPr>
              <a:t>d’ensemble</a:t>
            </a:r>
            <a:r>
              <a:rPr lang="en-US" sz="2400" b="1" dirty="0">
                <a:solidFill>
                  <a:srgbClr val="1E2761"/>
                </a:solidFill>
              </a:rPr>
              <a:t> du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457200" y="1861457"/>
            <a:ext cx="1920240" cy="1645920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457200" y="1907177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Image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d’entrée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75857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684417"/>
            <a:ext cx="274320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2606040" y="2574689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838596"/>
            <a:ext cx="1920240" cy="1645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2468880" y="1907177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Détection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des pièces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775857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YOLO11s (v5)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17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2684417"/>
            <a:ext cx="182880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4617720" y="2574689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61457"/>
            <a:ext cx="192024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4663440" y="1907177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Zone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d'impact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775857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Vote pondéré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+ </a:t>
            </a:r>
            <a:r>
              <a:rPr lang="en-US" sz="1000" dirty="0" err="1">
                <a:solidFill>
                  <a:srgbClr val="D6E4F7"/>
                </a:solidFill>
              </a:rPr>
              <a:t>Classificateur</a:t>
            </a:r>
            <a:r>
              <a:rPr lang="en-US" sz="1000" dirty="0">
                <a:solidFill>
                  <a:srgbClr val="D6E4F7"/>
                </a:solidFill>
              </a:rPr>
              <a:t> </a:t>
            </a:r>
            <a:r>
              <a:rPr lang="en-US" sz="1000" dirty="0" err="1">
                <a:solidFill>
                  <a:srgbClr val="D6E4F7"/>
                </a:solidFill>
              </a:rPr>
              <a:t>visuel</a:t>
            </a:r>
            <a:r>
              <a:rPr lang="en-US" sz="1000" dirty="0">
                <a:solidFill>
                  <a:srgbClr val="D6E4F7"/>
                </a:solidFill>
              </a:rPr>
              <a:t> (v3)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2684417"/>
            <a:ext cx="176349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6812280" y="2574689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861457"/>
            <a:ext cx="1920240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6773091" y="187452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Sévérité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73091" y="27432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D6E4F7"/>
                </a:solidFill>
              </a:rPr>
              <a:t>Modèle</a:t>
            </a:r>
            <a:r>
              <a:rPr lang="en-US" sz="1000" dirty="0">
                <a:solidFill>
                  <a:srgbClr val="D6E4F7"/>
                </a:solidFill>
              </a:rPr>
              <a:t> detection (SEV)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+ </a:t>
            </a:r>
            <a:r>
              <a:rPr lang="en-US" sz="1000" dirty="0" err="1">
                <a:solidFill>
                  <a:srgbClr val="D6E4F7"/>
                </a:solidFill>
              </a:rPr>
              <a:t>Pointage</a:t>
            </a:r>
            <a:r>
              <a:rPr lang="en-US" sz="1000" dirty="0">
                <a:solidFill>
                  <a:srgbClr val="D6E4F7"/>
                </a:solidFill>
              </a:rPr>
              <a:t> par composite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735977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3 </a:t>
            </a:r>
            <a:r>
              <a:rPr lang="en-US" sz="1200" b="1" dirty="0" err="1">
                <a:solidFill>
                  <a:srgbClr val="1E2761"/>
                </a:solidFill>
              </a:rPr>
              <a:t>modèles</a:t>
            </a:r>
            <a:r>
              <a:rPr lang="en-US" sz="1200" b="1" dirty="0">
                <a:solidFill>
                  <a:srgbClr val="1E2761"/>
                </a:solidFill>
              </a:rPr>
              <a:t> </a:t>
            </a:r>
            <a:r>
              <a:rPr lang="en-US" sz="1200" b="1" dirty="0" err="1">
                <a:solidFill>
                  <a:srgbClr val="1E2761"/>
                </a:solidFill>
              </a:rPr>
              <a:t>d’apprentissage</a:t>
            </a:r>
            <a:r>
              <a:rPr lang="en-US" sz="1200" b="1" dirty="0">
                <a:solidFill>
                  <a:srgbClr val="1E2761"/>
                </a:solidFill>
              </a:rPr>
              <a:t> profond  ·  1 système de règles expertes  ·  1 module de score </a:t>
            </a:r>
            <a:r>
              <a:rPr lang="en-US" sz="1200" b="1" dirty="0" err="1">
                <a:solidFill>
                  <a:srgbClr val="1E2761"/>
                </a:solidFill>
              </a:rPr>
              <a:t>analytique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DONNÉES ET PRÉPARATION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Jeu de données — 800 images annotées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828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82880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images totales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1828800" cy="1280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2331720" y="1280160"/>
            <a:ext cx="182880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31720" y="19385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234440"/>
            <a:ext cx="182880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4389120" y="1280160"/>
            <a:ext cx="182880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486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19385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train (60.8%)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18" y="1235812"/>
            <a:ext cx="2302329" cy="539181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6446518" y="1405432"/>
            <a:ext cx="2302329" cy="2965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159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54681" y="1551892"/>
            <a:ext cx="2302329" cy="2156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</a:rPr>
              <a:t>val</a:t>
            </a:r>
            <a:r>
              <a:rPr lang="en-US" sz="1100" dirty="0">
                <a:solidFill>
                  <a:srgbClr val="FFFFFF"/>
                </a:solidFill>
              </a:rPr>
              <a:t> (19.8%)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31821" y="1969095"/>
            <a:ext cx="2325189" cy="55693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6408961" y="2134732"/>
            <a:ext cx="2302329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155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31821" y="2286000"/>
            <a:ext cx="2302329" cy="204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test (19.4%)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Classes annotées 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36499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Endommagées (8) : </a:t>
            </a:r>
            <a:r>
              <a:rPr lang="en-US" sz="1100" dirty="0">
                <a:solidFill>
                  <a:srgbClr val="3D4E6B"/>
                </a:solidFill>
              </a:rPr>
              <a:t>aile, capot, coffre, parechoc, phare, porte_droite, porte_gauche, retroviseur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Saines (8+voiture) : </a:t>
            </a:r>
            <a:r>
              <a:rPr lang="en-US" sz="1100" dirty="0">
                <a:solidFill>
                  <a:srgbClr val="3D4E6B"/>
                </a:solidFill>
              </a:rPr>
              <a:t>aile, capot, coffre, </a:t>
            </a:r>
            <a:r>
              <a:rPr lang="en-US" sz="1100" dirty="0" err="1">
                <a:solidFill>
                  <a:srgbClr val="3D4E6B"/>
                </a:solidFill>
              </a:rPr>
              <a:t>parechoc</a:t>
            </a:r>
            <a:r>
              <a:rPr lang="en-US" sz="1100" dirty="0">
                <a:solidFill>
                  <a:srgbClr val="3D4E6B"/>
                </a:solidFill>
              </a:rPr>
              <a:t>, phare, porte_droite, porte_gauche, retroviseur + voiture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14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5"/>
                </a:solidFill>
              </a:rPr>
              <a:t>Outil : Roboflow (</a:t>
            </a:r>
            <a:r>
              <a:rPr lang="en-US" sz="1100" i="1" dirty="0" err="1">
                <a:solidFill>
                  <a:srgbClr val="8A9BB5"/>
                </a:solidFill>
              </a:rPr>
              <a:t>polygones</a:t>
            </a:r>
            <a:r>
              <a:rPr lang="en-US" sz="1100" i="1" dirty="0">
                <a:solidFill>
                  <a:srgbClr val="8A9BB5"/>
                </a:solidFill>
              </a:rPr>
              <a:t> </a:t>
            </a:r>
            <a:r>
              <a:rPr lang="en-US" sz="1100" i="1" dirty="0" err="1">
                <a:solidFill>
                  <a:srgbClr val="8A9BB5"/>
                </a:solidFill>
              </a:rPr>
              <a:t>transformé</a:t>
            </a:r>
            <a:r>
              <a:rPr lang="en-US" sz="1100" i="1" dirty="0">
                <a:solidFill>
                  <a:srgbClr val="8A9BB5"/>
                </a:solidFill>
              </a:rPr>
              <a:t> </a:t>
            </a:r>
            <a:r>
              <a:rPr lang="en-US" sz="1100" i="1" dirty="0" err="1">
                <a:solidFill>
                  <a:srgbClr val="8A9BB5"/>
                </a:solidFill>
              </a:rPr>
              <a:t>en</a:t>
            </a:r>
            <a:r>
              <a:rPr lang="en-US" sz="1100" i="1" dirty="0">
                <a:solidFill>
                  <a:srgbClr val="8A9BB5"/>
                </a:solidFill>
              </a:rPr>
              <a:t> bbox YOLO)  et  Split stratifié multi-label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DONNÉES ET PRÉPARATION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Défis d'annotation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69080" cy="95765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95765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86200" cy="227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Classes sous-représentées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886200" cy="730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phare_endommage : 277 instances, </a:t>
            </a:r>
            <a:r>
              <a:rPr lang="en-US" sz="1100" dirty="0" err="1">
                <a:solidFill>
                  <a:srgbClr val="3D4E6B"/>
                </a:solidFill>
              </a:rPr>
              <a:t>porte_droite_end</a:t>
            </a:r>
            <a:r>
              <a:rPr lang="en-US" sz="1100" dirty="0">
                <a:solidFill>
                  <a:srgbClr val="3D4E6B"/>
                </a:solidFill>
              </a:rPr>
              <a:t>. : 129 instances, </a:t>
            </a:r>
            <a:r>
              <a:rPr lang="en-US" sz="1100" dirty="0" err="1">
                <a:solidFill>
                  <a:srgbClr val="3D4E6B"/>
                </a:solidFill>
              </a:rPr>
              <a:t>coffre_endommage</a:t>
            </a:r>
            <a:r>
              <a:rPr lang="en-US" sz="1100" dirty="0">
                <a:solidFill>
                  <a:srgbClr val="3D4E6B"/>
                </a:solidFill>
              </a:rPr>
              <a:t> : 110 instances. Support </a:t>
            </a:r>
            <a:r>
              <a:rPr lang="en-US" sz="1100" dirty="0" err="1">
                <a:solidFill>
                  <a:srgbClr val="3D4E6B"/>
                </a:solidFill>
              </a:rPr>
              <a:t>potentiellement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insuffisant</a:t>
            </a:r>
            <a:r>
              <a:rPr lang="en-US" sz="1100" dirty="0">
                <a:solidFill>
                  <a:srgbClr val="3D4E6B"/>
                </a:solidFill>
              </a:rPr>
              <a:t> pour une haute variance visuelle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69080" cy="95765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64008" cy="95765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886200" cy="227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</a:rPr>
              <a:t>Fichiers</a:t>
            </a:r>
            <a:r>
              <a:rPr lang="en-US" sz="1300" b="1" dirty="0">
                <a:solidFill>
                  <a:srgbClr val="1E2761"/>
                </a:solidFill>
              </a:rPr>
              <a:t> </a:t>
            </a:r>
            <a:r>
              <a:rPr lang="en-US" sz="1300" b="1" dirty="0" err="1">
                <a:solidFill>
                  <a:srgbClr val="1E2761"/>
                </a:solidFill>
              </a:rPr>
              <a:t>tronqués</a:t>
            </a:r>
            <a:r>
              <a:rPr lang="en-US" sz="1300" b="1" dirty="0">
                <a:solidFill>
                  <a:srgbClr val="1E2761"/>
                </a:solidFill>
              </a:rPr>
              <a:t> (format DOS)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81912"/>
            <a:ext cx="3886200" cy="730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Noms limités à 8 </a:t>
            </a:r>
            <a:r>
              <a:rPr lang="en-US" sz="1100" dirty="0" err="1">
                <a:solidFill>
                  <a:srgbClr val="3D4E6B"/>
                </a:solidFill>
              </a:rPr>
              <a:t>caractères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créaient</a:t>
            </a:r>
            <a:r>
              <a:rPr lang="en-US" sz="1100" dirty="0">
                <a:solidFill>
                  <a:srgbClr val="3D4E6B"/>
                </a:solidFill>
              </a:rPr>
              <a:t> références brisées entre images et annotations. Correction manuelle + vérification systématique.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8462"/>
            <a:ext cx="4069080" cy="95765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365760" y="2288462"/>
            <a:ext cx="64008" cy="95765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502920" y="2288462"/>
            <a:ext cx="3886200" cy="227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Annotation </a:t>
            </a:r>
            <a:r>
              <a:rPr lang="en-US" sz="1300" b="1" dirty="0" err="1">
                <a:solidFill>
                  <a:srgbClr val="1E2761"/>
                </a:solidFill>
              </a:rPr>
              <a:t>polygones</a:t>
            </a:r>
            <a:r>
              <a:rPr lang="en-US" sz="1300" b="1" dirty="0">
                <a:solidFill>
                  <a:srgbClr val="1E2761"/>
                </a:solidFill>
              </a:rPr>
              <a:t> </a:t>
            </a:r>
            <a:r>
              <a:rPr lang="en-US" sz="1300" b="1" dirty="0" err="1">
                <a:solidFill>
                  <a:srgbClr val="1E2761"/>
                </a:solidFill>
              </a:rPr>
              <a:t>vers</a:t>
            </a:r>
            <a:r>
              <a:rPr lang="en-US" sz="1300" b="1" dirty="0">
                <a:solidFill>
                  <a:srgbClr val="1E2761"/>
                </a:solidFill>
              </a:rPr>
              <a:t> bbox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635934"/>
            <a:ext cx="3886200" cy="730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Les polygones capturent la forme précise mais YOLO requiert des boîtes englobantes. Conversion </a:t>
            </a:r>
            <a:r>
              <a:rPr lang="en-US" sz="1100" dirty="0" err="1">
                <a:solidFill>
                  <a:srgbClr val="3D4E6B"/>
                </a:solidFill>
              </a:rPr>
              <a:t>nécessaire</a:t>
            </a:r>
            <a:r>
              <a:rPr lang="en-US" sz="1100" dirty="0">
                <a:solidFill>
                  <a:srgbClr val="3D4E6B"/>
                </a:solidFill>
              </a:rPr>
              <a:t> avec conservation des masks pour usage futur.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8462"/>
            <a:ext cx="4069080" cy="95765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4663440" y="2288462"/>
            <a:ext cx="64008" cy="95765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800600" y="2288462"/>
            <a:ext cx="3886200" cy="227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Déséquilibre des classes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635934"/>
            <a:ext cx="3886200" cy="730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Les classes saines sont plus représentées que leurs équivalentes endommagées. Impact direct sur les métriques de rappel des classes d’état endommagé.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42484"/>
            <a:ext cx="8366760" cy="1549556"/>
          </a:xfrm>
          <a:prstGeom prst="rect">
            <a:avLst/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29510050-C0EC-F2AF-8972-5D696A545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346555"/>
            <a:ext cx="1974134" cy="1504645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BF3C7861-A4E0-0F12-8C89-7A844809F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519" y="3342484"/>
            <a:ext cx="2035481" cy="150188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71AB9266-1A8A-2E8E-F342-C2FA08339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617" y="3366148"/>
            <a:ext cx="1974134" cy="1497081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95639224-C569-188A-863B-842492EEF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734" y="3342484"/>
            <a:ext cx="1920240" cy="517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DONNÉES ET PRÉPARATION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Stratégie d'augmentation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86868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6404"/>
                </a:solidFill>
              </a:rPr>
              <a:t>Bug critique V1 — fliplr=0.5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6404"/>
                </a:solidFill>
              </a:rPr>
              <a:t>Le miroir horizontal transformait porte_gauche en </a:t>
            </a:r>
            <a:r>
              <a:rPr lang="en-US" sz="1100" dirty="0" err="1">
                <a:solidFill>
                  <a:srgbClr val="856404"/>
                </a:solidFill>
              </a:rPr>
              <a:t>porte_droite</a:t>
            </a:r>
            <a:r>
              <a:rPr lang="en-US" sz="1100" dirty="0">
                <a:solidFill>
                  <a:srgbClr val="856404"/>
                </a:solidFill>
              </a:rPr>
              <a:t> </a:t>
            </a:r>
            <a:r>
              <a:rPr lang="en-US" sz="1100" dirty="0" err="1">
                <a:solidFill>
                  <a:srgbClr val="856404"/>
                </a:solidFill>
              </a:rPr>
              <a:t>donc</a:t>
            </a:r>
            <a:r>
              <a:rPr lang="en-US" sz="1100" dirty="0">
                <a:solidFill>
                  <a:srgbClr val="856404"/>
                </a:solidFill>
              </a:rPr>
              <a:t> confusion +-30% dans les deux </a:t>
            </a:r>
            <a:r>
              <a:rPr lang="en-US" sz="1100" dirty="0" err="1">
                <a:solidFill>
                  <a:srgbClr val="856404"/>
                </a:solidFill>
              </a:rPr>
              <a:t>sens</a:t>
            </a:r>
            <a:r>
              <a:rPr lang="en-US" sz="1100" dirty="0">
                <a:solidFill>
                  <a:srgbClr val="856404"/>
                </a:solidFill>
              </a:rPr>
              <a:t> car le </a:t>
            </a:r>
            <a:r>
              <a:rPr lang="en-US" sz="1100" dirty="0" err="1">
                <a:solidFill>
                  <a:srgbClr val="856404"/>
                </a:solidFill>
              </a:rPr>
              <a:t>modèle</a:t>
            </a:r>
            <a:r>
              <a:rPr lang="en-US" sz="1100" dirty="0">
                <a:solidFill>
                  <a:srgbClr val="856404"/>
                </a:solidFill>
              </a:rPr>
              <a:t> </a:t>
            </a:r>
            <a:r>
              <a:rPr lang="en-US" sz="1100" dirty="0" err="1">
                <a:solidFill>
                  <a:srgbClr val="856404"/>
                </a:solidFill>
              </a:rPr>
              <a:t>était</a:t>
            </a:r>
            <a:r>
              <a:rPr lang="en-US" sz="1100" dirty="0">
                <a:solidFill>
                  <a:srgbClr val="856404"/>
                </a:solidFill>
              </a:rPr>
              <a:t> inutilisable pour la zone </a:t>
            </a:r>
            <a:r>
              <a:rPr lang="en-US" sz="1100" dirty="0" err="1">
                <a:solidFill>
                  <a:srgbClr val="856404"/>
                </a:solidFill>
              </a:rPr>
              <a:t>d’impact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406908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B5E20"/>
                </a:solidFill>
              </a:rPr>
              <a:t>Correctif</a:t>
            </a:r>
            <a:r>
              <a:rPr lang="en-US" sz="1300" b="1" dirty="0">
                <a:solidFill>
                  <a:srgbClr val="1B5E20"/>
                </a:solidFill>
              </a:rPr>
              <a:t> — fliplr=0.0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06908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mosaic=1.0  </a:t>
            </a:r>
            <a:r>
              <a:rPr lang="en-US" sz="1100" dirty="0">
                <a:solidFill>
                  <a:srgbClr val="3D4E6B"/>
                </a:solidFill>
              </a:rPr>
              <a:t>4 images </a:t>
            </a:r>
            <a:r>
              <a:rPr lang="en-US" sz="1100" dirty="0" err="1">
                <a:solidFill>
                  <a:srgbClr val="3D4E6B"/>
                </a:solidFill>
              </a:rPr>
              <a:t>assemblées</a:t>
            </a:r>
            <a:r>
              <a:rPr lang="en-US" sz="1100" dirty="0">
                <a:solidFill>
                  <a:srgbClr val="3D4E6B"/>
                </a:solidFill>
              </a:rPr>
              <a:t> : diversité de contexte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406908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480060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mixup=0.1  </a:t>
            </a:r>
            <a:r>
              <a:rPr lang="en-US" sz="1100" dirty="0">
                <a:solidFill>
                  <a:srgbClr val="3D4E6B"/>
                </a:solidFill>
              </a:rPr>
              <a:t>Superposition </a:t>
            </a:r>
            <a:r>
              <a:rPr lang="en-US" sz="1100" dirty="0" err="1">
                <a:solidFill>
                  <a:srgbClr val="3D4E6B"/>
                </a:solidFill>
              </a:rPr>
              <a:t>légère</a:t>
            </a:r>
            <a:r>
              <a:rPr lang="en-US" sz="1100" dirty="0">
                <a:solidFill>
                  <a:srgbClr val="3D4E6B"/>
                </a:solidFill>
              </a:rPr>
              <a:t> : généralisation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18688"/>
            <a:ext cx="406908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copy_paste=0.1  </a:t>
            </a:r>
            <a:r>
              <a:rPr lang="en-US" sz="1100" dirty="0">
                <a:solidFill>
                  <a:srgbClr val="3D4E6B"/>
                </a:solidFill>
              </a:rPr>
              <a:t>Copie </a:t>
            </a:r>
            <a:r>
              <a:rPr lang="en-US" sz="1100" dirty="0" err="1">
                <a:solidFill>
                  <a:srgbClr val="3D4E6B"/>
                </a:solidFill>
              </a:rPr>
              <a:t>d'objets</a:t>
            </a:r>
            <a:r>
              <a:rPr lang="en-US" sz="1100" dirty="0">
                <a:solidFill>
                  <a:srgbClr val="3D4E6B"/>
                </a:solidFill>
              </a:rPr>
              <a:t> : aide les classes rares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18688"/>
            <a:ext cx="406908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4800600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degrees=5.0°  </a:t>
            </a:r>
            <a:r>
              <a:rPr lang="en-US" sz="1100" dirty="0">
                <a:solidFill>
                  <a:srgbClr val="3D4E6B"/>
                </a:solidFill>
              </a:rPr>
              <a:t>Rotation </a:t>
            </a:r>
            <a:r>
              <a:rPr lang="en-US" sz="1100" dirty="0" err="1">
                <a:solidFill>
                  <a:srgbClr val="3D4E6B"/>
                </a:solidFill>
              </a:rPr>
              <a:t>légère</a:t>
            </a:r>
            <a:r>
              <a:rPr lang="en-US" sz="1100" dirty="0">
                <a:solidFill>
                  <a:srgbClr val="3D4E6B"/>
                </a:solidFill>
              </a:rPr>
              <a:t> : angles de prise de vue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85616"/>
            <a:ext cx="406908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scale=0.5  </a:t>
            </a:r>
            <a:r>
              <a:rPr lang="en-US" sz="1100" dirty="0">
                <a:solidFill>
                  <a:srgbClr val="3D4E6B"/>
                </a:solidFill>
              </a:rPr>
              <a:t>Mise à </a:t>
            </a:r>
            <a:r>
              <a:rPr lang="en-US" sz="1100" dirty="0" err="1">
                <a:solidFill>
                  <a:srgbClr val="3D4E6B"/>
                </a:solidFill>
              </a:rPr>
              <a:t>l'échelle</a:t>
            </a:r>
            <a:r>
              <a:rPr lang="en-US" sz="1100" dirty="0">
                <a:solidFill>
                  <a:srgbClr val="3D4E6B"/>
                </a:solidFill>
              </a:rPr>
              <a:t> : distances variées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785616"/>
            <a:ext cx="406908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4800600" y="378561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hsv_s=0.7 / hsv_v=0.4  </a:t>
            </a:r>
            <a:r>
              <a:rPr lang="en-US" sz="1100" dirty="0">
                <a:solidFill>
                  <a:srgbClr val="3D4E6B"/>
                </a:solidFill>
              </a:rPr>
              <a:t>Variations </a:t>
            </a:r>
            <a:r>
              <a:rPr lang="en-US" sz="1100" dirty="0" err="1">
                <a:solidFill>
                  <a:srgbClr val="3D4E6B"/>
                </a:solidFill>
              </a:rPr>
              <a:t>lumineuses</a:t>
            </a:r>
            <a:r>
              <a:rPr lang="en-US" sz="1100" dirty="0">
                <a:solidFill>
                  <a:srgbClr val="3D4E6B"/>
                </a:solidFill>
              </a:rPr>
              <a:t> : robustesse éclairage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YOLO11S V5 — MODÈLE DE DÉTECTION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Évolution des 5 versions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275838"/>
              </p:ext>
            </p:extLst>
          </p:nvPr>
        </p:nvGraphicFramePr>
        <p:xfrm>
          <a:off x="502920" y="1541418"/>
          <a:ext cx="8138159" cy="3017520"/>
        </p:xfrm>
        <a:graphic>
          <a:graphicData uri="http://schemas.openxmlformats.org/drawingml/2006/table">
            <a:tbl>
              <a:tblPr/>
              <a:tblGrid>
                <a:gridCol w="87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5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7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7216">
                  <a:extLst>
                    <a:ext uri="{9D8B030D-6E8A-4147-A177-3AD203B41FA5}">
                      <a16:colId xmlns:a16="http://schemas.microsoft.com/office/drawing/2014/main" val="416882657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Changement clé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mAP@0.5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Précision</a:t>
                      </a: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V1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Baseline avec pipeline initial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yolo11s  640px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0.703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0.69</a:t>
                      </a: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V2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Correction fliplr + yolo11m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yolo11m  832px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0.762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0.725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0.72</a:t>
                      </a: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V3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SGD + </a:t>
                      </a:r>
                      <a:r>
                        <a:rPr lang="en-US" sz="1200" dirty="0" err="1">
                          <a:solidFill>
                            <a:srgbClr val="1E2761"/>
                          </a:solidFill>
                        </a:rPr>
                        <a:t>imgsz</a:t>
                      </a: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 832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yolo11s  832px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0.704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0.71</a:t>
                      </a: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V4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Optimisation </a:t>
                      </a:r>
                      <a:r>
                        <a:rPr lang="en-US" sz="1200" dirty="0" err="1">
                          <a:solidFill>
                            <a:srgbClr val="1E2761"/>
                          </a:solidFill>
                        </a:rPr>
                        <a:t>précision</a:t>
                      </a: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 SGD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yolo11s  832px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0.748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0.730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0.75</a:t>
                      </a: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V5 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Hyperparamètres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AdamW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yolo11s  640px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0.769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0.749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/>
                        <a:t>0.78</a:t>
                      </a: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YOLO11S V5 — MODÈLE DE DÉTECTION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Courbes d'entraînement — V5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943600" cy="3474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234440"/>
            <a:ext cx="242316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6629400" y="12344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Convergence stable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1581912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Train/val loss </a:t>
            </a:r>
            <a:r>
              <a:rPr lang="en-US" sz="1100" dirty="0" err="1">
                <a:solidFill>
                  <a:srgbClr val="3D4E6B"/>
                </a:solidFill>
              </a:rPr>
              <a:t>parallèles</a:t>
            </a:r>
            <a:r>
              <a:rPr lang="en-US" sz="1100" dirty="0">
                <a:solidFill>
                  <a:srgbClr val="3D4E6B"/>
                </a:solidFill>
              </a:rPr>
              <a:t> : pas de sur-apprentissage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423160"/>
            <a:ext cx="242316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Shape 11"/>
          <p:cNvSpPr/>
          <p:nvPr/>
        </p:nvSpPr>
        <p:spPr>
          <a:xfrm>
            <a:off x="6492240" y="2423160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6629400" y="24231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Effet close_mosaic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770632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Légère inflexion visible à l'epoch 90 : comportement normal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611880"/>
            <a:ext cx="242316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6492240" y="3611880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6629400" y="3611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Précision finale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959352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mAP50 monte régulièrement jusqu'à 0.769 sur 100 epochs</a:t>
            </a:r>
            <a:endParaRPr lang="en-US" sz="11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4A02A4F-2407-4822-5A66-41A8863A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969118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YOLO11S V5 — MODÈLE DE DÉTECTION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Métriques sur le test set (155 images)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19202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48640" y="1289304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0.769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8973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mAP@0.5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243584"/>
            <a:ext cx="1920240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2606040" y="1289304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0.780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8973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Précision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43584"/>
            <a:ext cx="192024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4663440" y="1289304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0.722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8973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Rappel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243584"/>
            <a:ext cx="1920240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6720840" y="1289304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0.749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0840" y="18973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F1 global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Top 3 — Meilleures 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Top 3 — Classes difficiles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4023360" cy="33832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502920" y="3374136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porte_gauche_sain</a:t>
            </a:r>
            <a:r>
              <a:rPr lang="en-US" sz="1100" dirty="0">
                <a:solidFill>
                  <a:srgbClr val="3D4E6B"/>
                </a:solidFill>
              </a:rPr>
              <a:t>  mAP50 = 0.916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93680"/>
            <a:ext cx="4023360" cy="33832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502920" y="2993680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voiture</a:t>
            </a:r>
            <a:r>
              <a:rPr lang="en-US" sz="1100" dirty="0">
                <a:solidFill>
                  <a:srgbClr val="3D4E6B"/>
                </a:solidFill>
              </a:rPr>
              <a:t>  mAP50 = 0.925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4023360" cy="33832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502920" y="3767328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</a:t>
            </a:r>
            <a:r>
              <a:rPr lang="en-US" sz="1100" b="1" dirty="0" err="1">
                <a:solidFill>
                  <a:srgbClr val="27AE60"/>
                </a:solidFill>
              </a:rPr>
              <a:t>parechoc_sain</a:t>
            </a:r>
            <a:r>
              <a:rPr lang="en-US" sz="1100" dirty="0">
                <a:solidFill>
                  <a:srgbClr val="3D4E6B"/>
                </a:solidFill>
              </a:rPr>
              <a:t>  mAP50 = 0.908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99232"/>
            <a:ext cx="4114800" cy="338328"/>
          </a:xfrm>
          <a:prstGeom prst="rect">
            <a:avLst/>
          </a:prstGeom>
          <a:solidFill>
            <a:srgbClr val="FEECEC"/>
          </a:solidFill>
          <a:ln w="12700">
            <a:solidFill>
              <a:srgbClr val="FA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/>
          <p:nvPr/>
        </p:nvSpPr>
        <p:spPr>
          <a:xfrm>
            <a:off x="4800600" y="2999232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✗  phare_endommage</a:t>
            </a:r>
            <a:r>
              <a:rPr lang="en-US" sz="1100" dirty="0">
                <a:solidFill>
                  <a:srgbClr val="3D4E6B"/>
                </a:solidFill>
              </a:rPr>
              <a:t>  mAP50 = 0.448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383280"/>
            <a:ext cx="4114800" cy="338328"/>
          </a:xfrm>
          <a:prstGeom prst="rect">
            <a:avLst/>
          </a:prstGeom>
          <a:solidFill>
            <a:srgbClr val="FEECEC"/>
          </a:solidFill>
          <a:ln w="12700">
            <a:solidFill>
              <a:srgbClr val="FA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Text 27"/>
          <p:cNvSpPr/>
          <p:nvPr/>
        </p:nvSpPr>
        <p:spPr>
          <a:xfrm>
            <a:off x="4800600" y="3383280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✗  capot_endommage</a:t>
            </a:r>
            <a:r>
              <a:rPr lang="en-US" sz="1100" dirty="0">
                <a:solidFill>
                  <a:srgbClr val="3D4E6B"/>
                </a:solidFill>
              </a:rPr>
              <a:t>  mAP50 = 0.597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767328"/>
            <a:ext cx="4114800" cy="338328"/>
          </a:xfrm>
          <a:prstGeom prst="rect">
            <a:avLst/>
          </a:prstGeom>
          <a:solidFill>
            <a:srgbClr val="FEECEC"/>
          </a:solidFill>
          <a:ln w="12700">
            <a:solidFill>
              <a:srgbClr val="FA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4800600" y="376732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✗  porte_gauche_end.</a:t>
            </a:r>
            <a:r>
              <a:rPr lang="en-US" sz="1100" dirty="0">
                <a:solidFill>
                  <a:srgbClr val="3D4E6B"/>
                </a:solidFill>
              </a:rPr>
              <a:t>  mAP50 = 0.656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7606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5"/>
                </a:solidFill>
              </a:rPr>
              <a:t>Seuil optimal conf = 0.353 identifié via courbe F1-Confidence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YOLO11S V5 — MODÈLE DE DÉTECTION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Matrice de confusion — test 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486400" cy="3474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88036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6172200" y="12344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Classes saines &gt; endommagées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581912"/>
            <a:ext cx="2697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Les pièces saines performent systématiquement </a:t>
            </a:r>
            <a:r>
              <a:rPr lang="en-US" sz="1100" dirty="0" err="1">
                <a:solidFill>
                  <a:srgbClr val="3D4E6B"/>
                </a:solidFill>
              </a:rPr>
              <a:t>mieux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ce</a:t>
            </a:r>
            <a:r>
              <a:rPr lang="en-US" sz="1100" dirty="0">
                <a:solidFill>
                  <a:srgbClr val="3D4E6B"/>
                </a:solidFill>
              </a:rPr>
              <a:t> qui </a:t>
            </a:r>
            <a:r>
              <a:rPr lang="en-US" sz="1100" dirty="0" err="1">
                <a:solidFill>
                  <a:srgbClr val="3D4E6B"/>
                </a:solidFill>
              </a:rPr>
              <a:t>est</a:t>
            </a:r>
            <a:r>
              <a:rPr lang="en-US" sz="1100" dirty="0">
                <a:solidFill>
                  <a:srgbClr val="3D4E6B"/>
                </a:solidFill>
              </a:rPr>
              <a:t> un </a:t>
            </a:r>
            <a:r>
              <a:rPr lang="en-US" sz="1100" dirty="0" err="1">
                <a:solidFill>
                  <a:srgbClr val="3D4E6B"/>
                </a:solidFill>
              </a:rPr>
              <a:t>comportement</a:t>
            </a:r>
            <a:r>
              <a:rPr lang="en-US" sz="1100" dirty="0">
                <a:solidFill>
                  <a:srgbClr val="3D4E6B"/>
                </a:solidFill>
              </a:rPr>
              <a:t> cohérent et attendu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423160"/>
            <a:ext cx="288036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6172200" y="24231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Confusion latérale quasi éliminée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770632"/>
            <a:ext cx="2697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Passage de +-30% (V1) à &lt; 5% de confusion gauche/droite grâce à fliplr=0.0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611880"/>
            <a:ext cx="288036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6035040" y="3611880"/>
            <a:ext cx="6400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6172200" y="36118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Aucune confusion aberrante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959352"/>
            <a:ext cx="2697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Toutes les erreurs respectent une </a:t>
            </a:r>
            <a:r>
              <a:rPr lang="en-US" sz="1100" dirty="0" err="1">
                <a:solidFill>
                  <a:srgbClr val="3D4E6B"/>
                </a:solidFill>
              </a:rPr>
              <a:t>logique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géographique</a:t>
            </a:r>
            <a:r>
              <a:rPr lang="en-US" sz="1100" dirty="0">
                <a:solidFill>
                  <a:srgbClr val="3D4E6B"/>
                </a:solidFill>
              </a:rPr>
              <a:t>, pas de prédiction incohérente</a:t>
            </a:r>
            <a:endParaRPr lang="en-US" sz="11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5AF323A-46BA-8669-CCE0-3BBB039D8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48640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YOLO11S V5 — MODÈLE DE DÉTECTION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Classes difficiles — analyse diagnostique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6908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phare_endommage  </a:t>
            </a:r>
            <a:r>
              <a:rPr lang="en-US" sz="1000" dirty="0">
                <a:solidFill>
                  <a:srgbClr val="FFFFFF"/>
                </a:solidFill>
              </a:rPr>
              <a:t>mAP50=0.448  rappel=0.419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Variabilité extrême selon le type </a:t>
            </a:r>
            <a:r>
              <a:rPr lang="en-US" sz="1050" dirty="0" err="1">
                <a:solidFill>
                  <a:srgbClr val="3D4E6B"/>
                </a:solidFill>
              </a:rPr>
              <a:t>d’impact</a:t>
            </a:r>
            <a:r>
              <a:rPr lang="en-US" sz="1050" dirty="0">
                <a:solidFill>
                  <a:srgbClr val="3D4E6B"/>
                </a:solidFill>
              </a:rPr>
              <a:t> (fissuré, arraché, écrasé). Occlusion fréquente par les débris. Petite surface à 640px. Confusion avec phare intact sur image dégradée.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6908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6908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capot_endommage  </a:t>
            </a:r>
            <a:r>
              <a:rPr lang="en-US" sz="1000" dirty="0">
                <a:solidFill>
                  <a:srgbClr val="FFFFFF"/>
                </a:solidFill>
              </a:rPr>
              <a:t>mAP50=0.597  rappel=0.519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Déformation </a:t>
            </a:r>
            <a:r>
              <a:rPr lang="en-US" sz="1050" dirty="0" err="1">
                <a:solidFill>
                  <a:srgbClr val="3D4E6B"/>
                </a:solidFill>
              </a:rPr>
              <a:t>extrême</a:t>
            </a:r>
            <a:r>
              <a:rPr lang="en-US" sz="1050" dirty="0">
                <a:solidFill>
                  <a:srgbClr val="3D4E6B"/>
                </a:solidFill>
              </a:rPr>
              <a:t> : le capot ne ressemble plus à un capot. Angle de vue atypique (capot dressé vertical). Confusion avec coffre en vue latérale. Peu </a:t>
            </a:r>
            <a:r>
              <a:rPr lang="en-US" sz="1050" dirty="0" err="1">
                <a:solidFill>
                  <a:srgbClr val="3D4E6B"/>
                </a:solidFill>
              </a:rPr>
              <a:t>d’instances</a:t>
            </a:r>
            <a:r>
              <a:rPr lang="en-US" sz="1050" dirty="0">
                <a:solidFill>
                  <a:srgbClr val="3D4E6B"/>
                </a:solidFill>
              </a:rPr>
              <a:t>. 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06908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0690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porte_gauche_end.  </a:t>
            </a:r>
            <a:r>
              <a:rPr lang="en-US" sz="1000" dirty="0">
                <a:solidFill>
                  <a:srgbClr val="FFFFFF"/>
                </a:solidFill>
              </a:rPr>
              <a:t>mAP50=0.656  rappel=0.621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Confusion latérale résiduelle sur angles de 3/4. Design variable selon marque/modèle. </a:t>
            </a:r>
            <a:r>
              <a:rPr lang="en-US" sz="1050" dirty="0" err="1">
                <a:solidFill>
                  <a:srgbClr val="3D4E6B"/>
                </a:solidFill>
              </a:rPr>
              <a:t>Faible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nombre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d’instances</a:t>
            </a:r>
            <a:r>
              <a:rPr lang="en-US" sz="1050" dirty="0">
                <a:solidFill>
                  <a:srgbClr val="3D4E6B"/>
                </a:solidFill>
              </a:rPr>
              <a:t>. Poignées atypiques (</a:t>
            </a:r>
            <a:r>
              <a:rPr lang="en-US" sz="1050" dirty="0" err="1">
                <a:solidFill>
                  <a:srgbClr val="3D4E6B"/>
                </a:solidFill>
              </a:rPr>
              <a:t>exemple</a:t>
            </a:r>
            <a:r>
              <a:rPr lang="en-US" sz="1050" dirty="0">
                <a:solidFill>
                  <a:srgbClr val="3D4E6B"/>
                </a:solidFill>
              </a:rPr>
              <a:t> : monospaces européens) confondent le modèle.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069080" cy="173736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069080" cy="457200"/>
          </a:xfrm>
          <a:prstGeom prst="rect">
            <a:avLst/>
          </a:prstGeom>
          <a:solidFill>
            <a:srgbClr val="00206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retroviseur_end.  </a:t>
            </a:r>
            <a:r>
              <a:rPr lang="en-US" sz="1000" dirty="0">
                <a:solidFill>
                  <a:srgbClr val="FFFFFF"/>
                </a:solidFill>
              </a:rPr>
              <a:t>mAP50=0.698  rappel=0.500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61188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Pièce la plus petite avec peu de pixels à 640px. Arraché = invisible (</a:t>
            </a:r>
            <a:r>
              <a:rPr lang="en-US" sz="1050" dirty="0" err="1">
                <a:solidFill>
                  <a:srgbClr val="3D4E6B"/>
                </a:solidFill>
              </a:rPr>
              <a:t>ou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seulement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câbles</a:t>
            </a:r>
            <a:r>
              <a:rPr lang="en-US" sz="1050" dirty="0">
                <a:solidFill>
                  <a:srgbClr val="3D4E6B"/>
                </a:solidFill>
              </a:rPr>
              <a:t>). Occlusion par aile/porte déformées. Rappel = 0.50 </a:t>
            </a:r>
            <a:r>
              <a:rPr lang="en-US" sz="1050" dirty="0" err="1">
                <a:solidFill>
                  <a:srgbClr val="3D4E6B"/>
                </a:solidFill>
              </a:rPr>
              <a:t>donc</a:t>
            </a:r>
            <a:r>
              <a:rPr lang="en-US" sz="1050" dirty="0">
                <a:solidFill>
                  <a:srgbClr val="3D4E6B"/>
                </a:solidFill>
              </a:rPr>
              <a:t> rate 1 cas sur 2.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CLASSIFICATION DE LA ZONE D’IMPACT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Système de vote pondéré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029200" cy="146304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Indicateurs PRIMAIRES  —  Poids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⬥  capot = AVANT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⬥  </a:t>
            </a:r>
            <a:r>
              <a:rPr lang="en-US" sz="1100" dirty="0" err="1">
                <a:solidFill>
                  <a:srgbClr val="3D4E6B"/>
                </a:solidFill>
              </a:rPr>
              <a:t>coffre</a:t>
            </a:r>
            <a:r>
              <a:rPr lang="en-US" sz="1100" dirty="0">
                <a:solidFill>
                  <a:srgbClr val="3D4E6B"/>
                </a:solidFill>
              </a:rPr>
              <a:t> = ARRIÈRE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⬥  </a:t>
            </a:r>
            <a:r>
              <a:rPr lang="en-US" sz="1100" dirty="0" err="1">
                <a:solidFill>
                  <a:srgbClr val="3D4E6B"/>
                </a:solidFill>
              </a:rPr>
              <a:t>porte_droite</a:t>
            </a:r>
            <a:r>
              <a:rPr lang="en-US" sz="1100" dirty="0">
                <a:solidFill>
                  <a:srgbClr val="3D4E6B"/>
                </a:solidFill>
              </a:rPr>
              <a:t> = DROITE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⬥  </a:t>
            </a:r>
            <a:r>
              <a:rPr lang="en-US" sz="1100" dirty="0" err="1">
                <a:solidFill>
                  <a:srgbClr val="3D4E6B"/>
                </a:solidFill>
              </a:rPr>
              <a:t>porte_gauche</a:t>
            </a:r>
            <a:r>
              <a:rPr lang="en-US" sz="1100" dirty="0">
                <a:solidFill>
                  <a:srgbClr val="3D4E6B"/>
                </a:solidFill>
              </a:rPr>
              <a:t> = GAUCHE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5029200" cy="114300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502920" y="28163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5"/>
                </a:solidFill>
              </a:rPr>
              <a:t>Indicateurs SECONDAIRES  —  Poids 1  (vote double zone)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1363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⬦  parechoc + phare = AVANT ou ARRIÈRE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⬦  aile + </a:t>
            </a:r>
            <a:r>
              <a:rPr lang="en-US" sz="1100" dirty="0" err="1">
                <a:solidFill>
                  <a:srgbClr val="3D4E6B"/>
                </a:solidFill>
              </a:rPr>
              <a:t>rétroviseur</a:t>
            </a:r>
            <a:r>
              <a:rPr lang="en-US" sz="1100" dirty="0">
                <a:solidFill>
                  <a:srgbClr val="3D4E6B"/>
                </a:solidFill>
              </a:rPr>
              <a:t> = GAUCHE ou DROITE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99194"/>
            <a:ext cx="5029200" cy="961426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18" name="Text 16"/>
          <p:cNvSpPr/>
          <p:nvPr/>
        </p:nvSpPr>
        <p:spPr>
          <a:xfrm>
            <a:off x="502920" y="4068427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56404"/>
                </a:solidFill>
              </a:rPr>
              <a:t>Aucune</a:t>
            </a:r>
            <a:r>
              <a:rPr lang="en-US" sz="1100" dirty="0">
                <a:solidFill>
                  <a:srgbClr val="856404"/>
                </a:solidFill>
              </a:rPr>
              <a:t> pièce primaire </a:t>
            </a:r>
            <a:r>
              <a:rPr lang="en-US" sz="1100" dirty="0" err="1">
                <a:solidFill>
                  <a:srgbClr val="856404"/>
                </a:solidFill>
              </a:rPr>
              <a:t>détectée</a:t>
            </a:r>
            <a:r>
              <a:rPr lang="en-US" sz="1100" dirty="0">
                <a:solidFill>
                  <a:srgbClr val="856404"/>
                </a:solidFill>
              </a:rPr>
              <a:t> = indéterminé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36299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56404"/>
                </a:solidFill>
              </a:rPr>
              <a:t>Photos de 3/4 = signaux mixtes ambigus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6405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761"/>
                </a:solidFill>
              </a:rPr>
              <a:t>   Ces limites ont motivé le développement du classificateur de zone complémentaire</a:t>
            </a:r>
            <a:endParaRPr lang="en-US" sz="1100" dirty="0"/>
          </a:p>
        </p:txBody>
      </p:sp>
      <p:pic>
        <p:nvPicPr>
          <p:cNvPr id="1026" name="Picture 2" descr="illustrations, cliparts, dessins animés et icônes de assemblage de voiture électrique. vecteur - voiture plan">
            <a:extLst>
              <a:ext uri="{FF2B5EF4-FFF2-40B4-BE49-F238E27FC236}">
                <a16:creationId xmlns:a16="http://schemas.microsoft.com/office/drawing/2014/main" id="{5803E545-177D-C45F-597A-B3DAD4721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328203" y="1736899"/>
            <a:ext cx="3965230" cy="279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CLASSIFICATION DE LA ZONE D’IMPACT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Classificateur de zone — architecture en cascade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554480" cy="914400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d'entrée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61131" y="1582239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89404" y="1280160"/>
            <a:ext cx="1554480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2050542" y="12573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YOLO11s v5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Détection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582239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71900" y="1266771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3762756" y="1262199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Vote pondéré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Règles expertes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58837" y="2443407"/>
            <a:ext cx="155448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3771900" y="2400627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déterminée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 rot="5400000">
            <a:off x="4428308" y="2130879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50541" y="2463981"/>
            <a:ext cx="1554480" cy="898725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18" name="Text 16"/>
          <p:cNvSpPr/>
          <p:nvPr/>
        </p:nvSpPr>
        <p:spPr>
          <a:xfrm>
            <a:off x="1960734" y="2486841"/>
            <a:ext cx="1554480" cy="898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Résultat direct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76937" y="2916608"/>
            <a:ext cx="16459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3476352" y="2260527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</a:rPr>
              <a:t>OUI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13317" y="2914976"/>
            <a:ext cx="1828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5189220" y="2207949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NON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00116" y="2443407"/>
            <a:ext cx="155448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2"/>
          <p:cNvSpPr/>
          <p:nvPr/>
        </p:nvSpPr>
        <p:spPr>
          <a:xfrm>
            <a:off x="5500116" y="2443407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visuel v3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91756" y="2443407"/>
            <a:ext cx="1737360" cy="91440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7191756" y="2443407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conf ≥ 60%
</a:t>
            </a:r>
            <a:r>
              <a:rPr lang="en-US" sz="1000" dirty="0">
                <a:solidFill>
                  <a:srgbClr val="3D4E6B"/>
                </a:solidFill>
              </a:rPr>
              <a:t>= Zone visuelle
</a:t>
            </a:r>
            <a:r>
              <a:rPr lang="en-US" sz="1000" b="1" dirty="0">
                <a:solidFill>
                  <a:srgbClr val="C0392B"/>
                </a:solidFill>
              </a:rPr>
              <a:t>conf &lt; 60%
</a:t>
            </a:r>
            <a:r>
              <a:rPr lang="en-US" sz="1000" dirty="0">
                <a:solidFill>
                  <a:srgbClr val="3D4E6B"/>
                </a:solidFill>
              </a:rPr>
              <a:t>= Indéterminé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63156" y="2790879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6368" y="443712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5"/>
                </a:solidFill>
              </a:rPr>
              <a:t>Données </a:t>
            </a:r>
            <a:r>
              <a:rPr lang="en-US" sz="1100" i="1" dirty="0" err="1">
                <a:solidFill>
                  <a:srgbClr val="8A9BB5"/>
                </a:solidFill>
              </a:rPr>
              <a:t>générées</a:t>
            </a:r>
            <a:r>
              <a:rPr lang="en-US" sz="1100" i="1" dirty="0">
                <a:solidFill>
                  <a:srgbClr val="8A9BB5"/>
                </a:solidFill>
              </a:rPr>
              <a:t> </a:t>
            </a:r>
            <a:r>
              <a:rPr lang="en-US" sz="1100" i="1" dirty="0" err="1">
                <a:solidFill>
                  <a:srgbClr val="8A9BB5"/>
                </a:solidFill>
              </a:rPr>
              <a:t>automatiquement</a:t>
            </a:r>
            <a:r>
              <a:rPr lang="en-US" sz="1100" i="1" dirty="0">
                <a:solidFill>
                  <a:srgbClr val="8A9BB5"/>
                </a:solidFill>
              </a:rPr>
              <a:t> , 690 images —  </a:t>
            </a:r>
            <a:r>
              <a:rPr lang="en-US" sz="1100" i="1" dirty="0" err="1">
                <a:solidFill>
                  <a:srgbClr val="8A9BB5"/>
                </a:solidFill>
              </a:rPr>
              <a:t>Aucune</a:t>
            </a:r>
            <a:r>
              <a:rPr lang="en-US" sz="1100" i="1" dirty="0">
                <a:solidFill>
                  <a:srgbClr val="8A9BB5"/>
                </a:solidFill>
              </a:rPr>
              <a:t> annotation manuelle supplémentaire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CLASSIFICATION DE LA ZONE D’IMPACT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Performances du classificateur de zone v3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20240" cy="129518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920240" cy="7123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85.3%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88235"/>
            <a:ext cx="1920240" cy="518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top1_acc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234440"/>
            <a:ext cx="1920240" cy="129518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2423160" y="1280160"/>
            <a:ext cx="1920240" cy="7123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82.8%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888235"/>
            <a:ext cx="1920240" cy="518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accuracy test 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1280160"/>
            <a:ext cx="19202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0.6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0" y="1248156"/>
            <a:ext cx="2011680" cy="589461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4572000" y="1248156"/>
            <a:ext cx="2011680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572000" y="1248156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DROITE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1425810"/>
            <a:ext cx="2011680" cy="23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F1 = 0.93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1671066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✓ Excellent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248156"/>
            <a:ext cx="2011680" cy="589461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Shape 22"/>
          <p:cNvSpPr/>
          <p:nvPr/>
        </p:nvSpPr>
        <p:spPr>
          <a:xfrm>
            <a:off x="6720840" y="1248156"/>
            <a:ext cx="2011680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6720840" y="1248156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GAUCHE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1413401"/>
            <a:ext cx="2011680" cy="23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F1 = 0.84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01246" y="1655064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✓ Très bon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940161"/>
            <a:ext cx="2011680" cy="589461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Shape 27"/>
          <p:cNvSpPr/>
          <p:nvPr/>
        </p:nvSpPr>
        <p:spPr>
          <a:xfrm>
            <a:off x="4572000" y="1940161"/>
            <a:ext cx="2011680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8"/>
          <p:cNvSpPr/>
          <p:nvPr/>
        </p:nvSpPr>
        <p:spPr>
          <a:xfrm>
            <a:off x="4572000" y="1940161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ARRIERE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2151779"/>
            <a:ext cx="2011680" cy="23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F1 = 0.78</a:t>
            </a:r>
            <a:endParaRPr lang="en-US" sz="1400" dirty="0">
              <a:solidFill>
                <a:srgbClr val="27AE6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0" y="2367153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3D4E6B"/>
                </a:solidFill>
              </a:rPr>
              <a:t>✓ Bon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1940161"/>
            <a:ext cx="2011680" cy="589461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4" name="Shape 32"/>
          <p:cNvSpPr/>
          <p:nvPr/>
        </p:nvSpPr>
        <p:spPr>
          <a:xfrm>
            <a:off x="6720840" y="1940161"/>
            <a:ext cx="2011680" cy="1737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3"/>
          <p:cNvSpPr/>
          <p:nvPr/>
        </p:nvSpPr>
        <p:spPr>
          <a:xfrm>
            <a:off x="6720840" y="1940161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AVANT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151778"/>
            <a:ext cx="2011680" cy="23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F1 = 0.60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20840" y="2374827"/>
            <a:ext cx="2011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⚠ </a:t>
            </a:r>
            <a:r>
              <a:rPr lang="en-US" sz="1000" dirty="0" err="1">
                <a:solidFill>
                  <a:srgbClr val="3D4E6B"/>
                </a:solidFill>
              </a:rPr>
              <a:t>Limité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2637520"/>
            <a:ext cx="8412480" cy="321836"/>
          </a:xfrm>
          <a:prstGeom prst="rect">
            <a:avLst/>
          </a:prstGeom>
          <a:solidFill>
            <a:srgbClr val="F4F7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7"/>
          <p:cNvSpPr/>
          <p:nvPr/>
        </p:nvSpPr>
        <p:spPr>
          <a:xfrm>
            <a:off x="502920" y="2630335"/>
            <a:ext cx="8138160" cy="321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Confusion principale : avant → gauche (0.33)  —  Photos de 3/4 avant-gauche où capot ET porte gauche sont visibles simultanément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041128"/>
            <a:ext cx="8412480" cy="2053950"/>
          </a:xfrm>
          <a:prstGeom prst="rect">
            <a:avLst/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12F60232-D5DA-EC93-B656-64572E71B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50" y="3041128"/>
            <a:ext cx="3410501" cy="1985340"/>
          </a:xfrm>
          <a:prstGeom prst="rect">
            <a:avLst/>
          </a:prstGeom>
        </p:spPr>
      </p:pic>
      <p:pic>
        <p:nvPicPr>
          <p:cNvPr id="45" name="Image 44" descr="Une image contenant texte, capture d’écran, nombre, diagramme&#10;&#10;Le contenu généré par l’IA peut être incorrect.">
            <a:extLst>
              <a:ext uri="{FF2B5EF4-FFF2-40B4-BE49-F238E27FC236}">
                <a16:creationId xmlns:a16="http://schemas.microsoft.com/office/drawing/2014/main" id="{56D7B277-BBA5-C876-237E-D4C0DF796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142" y="3082637"/>
            <a:ext cx="3700208" cy="20228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CLASSIFICATION DE LA ZONE D’IMPACT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Exemples — zone </a:t>
            </a:r>
            <a:r>
              <a:rPr lang="en-US" sz="2400" b="1" dirty="0" err="1">
                <a:solidFill>
                  <a:srgbClr val="1E2761"/>
                </a:solidFill>
              </a:rPr>
              <a:t>d’impact</a:t>
            </a:r>
            <a:r>
              <a:rPr lang="en-US" sz="2400" b="1" dirty="0">
                <a:solidFill>
                  <a:srgbClr val="1E2761"/>
                </a:solidFill>
              </a:rPr>
              <a:t> sur images réelles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256"/>
            <a:ext cx="4160520" cy="952466"/>
          </a:xfrm>
          <a:prstGeom prst="rect">
            <a:avLst/>
          </a:prstGeom>
          <a:solidFill>
            <a:srgbClr val="F4F7FC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34256"/>
            <a:ext cx="4160520" cy="22224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457200" y="1234256"/>
            <a:ext cx="3977640" cy="22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Tesla Model S — ARRIÈRE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35870"/>
            <a:ext cx="3977640" cy="677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Source : </a:t>
            </a:r>
            <a:r>
              <a:rPr lang="en-US" sz="1050" dirty="0">
                <a:solidFill>
                  <a:srgbClr val="3D4E6B"/>
                </a:solidFill>
              </a:rPr>
              <a:t>Vote pondéré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coffre_endommage (poids 3) = zone arrière claire. Classificateur non sollicité.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256"/>
            <a:ext cx="4160520" cy="952466"/>
          </a:xfrm>
          <a:prstGeom prst="rect">
            <a:avLst/>
          </a:prstGeom>
          <a:solidFill>
            <a:srgbClr val="F4F7FC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4617720" y="1234256"/>
            <a:ext cx="4160520" cy="22224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16" name="Text 14"/>
          <p:cNvSpPr/>
          <p:nvPr/>
        </p:nvSpPr>
        <p:spPr>
          <a:xfrm>
            <a:off x="4709160" y="1234256"/>
            <a:ext cx="3977640" cy="222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Renault </a:t>
            </a:r>
            <a:r>
              <a:rPr lang="en-US" sz="1100" b="1" dirty="0" err="1">
                <a:solidFill>
                  <a:srgbClr val="FFFFFF"/>
                </a:solidFill>
              </a:rPr>
              <a:t>Koleos</a:t>
            </a:r>
            <a:r>
              <a:rPr lang="en-US" sz="1100" b="1" dirty="0">
                <a:solidFill>
                  <a:srgbClr val="FFFFFF"/>
                </a:solidFill>
              </a:rPr>
              <a:t> — GAUCHE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535869"/>
            <a:ext cx="3977640" cy="677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Source : </a:t>
            </a:r>
            <a:r>
              <a:rPr lang="en-US" sz="1050" dirty="0" err="1">
                <a:solidFill>
                  <a:srgbClr val="3D4E6B"/>
                </a:solidFill>
              </a:rPr>
              <a:t>Classificateur</a:t>
            </a:r>
            <a:r>
              <a:rPr lang="en-US" sz="1050" dirty="0">
                <a:solidFill>
                  <a:srgbClr val="3D4E6B"/>
                </a:solidFill>
              </a:rPr>
              <a:t> avec 99% </a:t>
            </a:r>
            <a:r>
              <a:rPr lang="en-US" sz="1050" dirty="0" err="1">
                <a:solidFill>
                  <a:srgbClr val="3D4E6B"/>
                </a:solidFill>
              </a:rPr>
              <a:t>confiance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Double défaillance : vote </a:t>
            </a:r>
            <a:r>
              <a:rPr lang="en-US" sz="1050" dirty="0" err="1">
                <a:solidFill>
                  <a:srgbClr val="3D4E6B"/>
                </a:solidFill>
              </a:rPr>
              <a:t>pondéré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retourne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indéterminé</a:t>
            </a:r>
            <a:r>
              <a:rPr lang="en-US" sz="1050" dirty="0">
                <a:solidFill>
                  <a:srgbClr val="3D4E6B"/>
                </a:solidFill>
              </a:rPr>
              <a:t> + </a:t>
            </a:r>
            <a:r>
              <a:rPr lang="en-US" sz="1050" dirty="0" err="1">
                <a:solidFill>
                  <a:srgbClr val="3D4E6B"/>
                </a:solidFill>
              </a:rPr>
              <a:t>porte_droite_sain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incorrectement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identifié</a:t>
            </a:r>
            <a:r>
              <a:rPr lang="en-US" sz="1050" dirty="0">
                <a:solidFill>
                  <a:srgbClr val="3D4E6B"/>
                </a:solidFill>
              </a:rPr>
              <a:t>. Classificateur corrige.</a:t>
            </a:r>
            <a:endParaRPr lang="en-US" sz="1050" dirty="0"/>
          </a:p>
        </p:txBody>
      </p:sp>
      <p:pic>
        <p:nvPicPr>
          <p:cNvPr id="22" name="Image 21" descr="Une image contenant véhicule, pneu, roue, Véhicule terrestre&#10;&#10;Le contenu généré par l’IA peut être incorrect.">
            <a:extLst>
              <a:ext uri="{FF2B5EF4-FFF2-40B4-BE49-F238E27FC236}">
                <a16:creationId xmlns:a16="http://schemas.microsoft.com/office/drawing/2014/main" id="{17CE68C7-E285-8DFA-E64A-CB59AFDF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3179"/>
            <a:ext cx="4526280" cy="2930321"/>
          </a:xfrm>
          <a:prstGeom prst="rect">
            <a:avLst/>
          </a:prstGeom>
        </p:spPr>
      </p:pic>
      <p:pic>
        <p:nvPicPr>
          <p:cNvPr id="23" name="Image 22" descr="Une image contenant pneu, véhicule, Véhicule terrestre, Pièce auto&#10;&#10;Le contenu généré par l’IA peut être incorrect.">
            <a:extLst>
              <a:ext uri="{FF2B5EF4-FFF2-40B4-BE49-F238E27FC236}">
                <a16:creationId xmlns:a16="http://schemas.microsoft.com/office/drawing/2014/main" id="{9909B9DE-6FB4-1A2A-C35B-A051ECF79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213179"/>
            <a:ext cx="4526280" cy="29303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ESTIMATION DE LA SÉVÉRITÉ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761"/>
                </a:solidFill>
              </a:rPr>
              <a:t>Pointage</a:t>
            </a:r>
            <a:r>
              <a:rPr lang="en-US" sz="2400" b="1" dirty="0">
                <a:solidFill>
                  <a:srgbClr val="1E2761"/>
                </a:solidFill>
              </a:rPr>
              <a:t> par composite — 5 composantes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572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Poids des pièces  </a:t>
            </a:r>
            <a:r>
              <a:rPr lang="en-US" sz="1200" b="1" dirty="0">
                <a:solidFill>
                  <a:srgbClr val="8A9BB5"/>
                </a:solidFill>
              </a:rPr>
              <a:t>(35%)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2344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Capot/coffre/portes = 3.0  ·  Parechoc = 2.5  ·  Aile = 2.0  ·  Phare = 1.5  ·  Rétroviseur = 1.0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457200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365760" y="185623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185623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Surface endommagée  </a:t>
            </a:r>
            <a:r>
              <a:rPr lang="en-US" sz="1200" b="1" dirty="0">
                <a:solidFill>
                  <a:srgbClr val="8A9BB5"/>
                </a:solidFill>
              </a:rPr>
              <a:t>(35%)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185623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Ratio surface bbox pièces / bbox voiture. Garde-fous : plafond 35% par pièce + </a:t>
            </a:r>
            <a:r>
              <a:rPr lang="en-US" sz="1050" dirty="0" err="1">
                <a:solidFill>
                  <a:srgbClr val="3D4E6B"/>
                </a:solidFill>
              </a:rPr>
              <a:t>mécanisme</a:t>
            </a:r>
            <a:r>
              <a:rPr lang="en-US" sz="1050" dirty="0">
                <a:solidFill>
                  <a:srgbClr val="3D4E6B"/>
                </a:solidFill>
              </a:rPr>
              <a:t> de </a:t>
            </a:r>
            <a:r>
              <a:rPr lang="en-US" sz="1050" dirty="0" err="1">
                <a:solidFill>
                  <a:srgbClr val="3D4E6B"/>
                </a:solidFill>
              </a:rPr>
              <a:t>repli</a:t>
            </a:r>
            <a:r>
              <a:rPr lang="en-US" sz="1050" dirty="0">
                <a:solidFill>
                  <a:srgbClr val="3D4E6B"/>
                </a:solidFill>
              </a:rPr>
              <a:t> si voiture non détectée.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841248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365760" y="2478024"/>
            <a:ext cx="45720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365760" y="24780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4780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Ratio de pièces  </a:t>
            </a:r>
            <a:r>
              <a:rPr lang="en-US" sz="1200" b="1" dirty="0">
                <a:solidFill>
                  <a:srgbClr val="8A9BB5"/>
                </a:solidFill>
              </a:rPr>
              <a:t>(30%)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247802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nb_endommagées / max(nb_total, 6). Exclut la classe voiture. Dénominateur min=6. </a:t>
            </a:r>
            <a:r>
              <a:rPr lang="en-US" sz="1050" dirty="0" err="1">
                <a:solidFill>
                  <a:srgbClr val="3D4E6B"/>
                </a:solidFill>
              </a:rPr>
              <a:t>Mesure</a:t>
            </a:r>
            <a:r>
              <a:rPr lang="en-US" sz="1050" dirty="0">
                <a:solidFill>
                  <a:srgbClr val="3D4E6B"/>
                </a:solidFill>
              </a:rPr>
              <a:t> anti-zoom.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09981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Shape 20"/>
          <p:cNvSpPr/>
          <p:nvPr/>
        </p:nvSpPr>
        <p:spPr>
          <a:xfrm>
            <a:off x="365760" y="3099816"/>
            <a:ext cx="457200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365760" y="30998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0998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Bonus combinaisons  </a:t>
            </a:r>
            <a:r>
              <a:rPr lang="en-US" sz="1200" b="1" dirty="0">
                <a:solidFill>
                  <a:srgbClr val="8A9BB5"/>
                </a:solidFill>
              </a:rPr>
              <a:t>(±pts)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09981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Combos </a:t>
            </a:r>
            <a:r>
              <a:rPr lang="en-US" sz="1050" dirty="0" err="1">
                <a:solidFill>
                  <a:srgbClr val="3D4E6B"/>
                </a:solidFill>
              </a:rPr>
              <a:t>structurels</a:t>
            </a:r>
            <a:r>
              <a:rPr lang="en-US" sz="1050" dirty="0">
                <a:solidFill>
                  <a:srgbClr val="3D4E6B"/>
                </a:solidFill>
              </a:rPr>
              <a:t> (par </a:t>
            </a:r>
            <a:r>
              <a:rPr lang="en-US" sz="1050" dirty="0" err="1">
                <a:solidFill>
                  <a:srgbClr val="3D4E6B"/>
                </a:solidFill>
              </a:rPr>
              <a:t>exemple</a:t>
            </a:r>
            <a:r>
              <a:rPr lang="en-US" sz="1050" dirty="0">
                <a:solidFill>
                  <a:srgbClr val="3D4E6B"/>
                </a:solidFill>
              </a:rPr>
              <a:t> : </a:t>
            </a:r>
            <a:r>
              <a:rPr lang="en-US" sz="1050" dirty="0" err="1">
                <a:solidFill>
                  <a:srgbClr val="3D4E6B"/>
                </a:solidFill>
              </a:rPr>
              <a:t>capot+parechoc+aile</a:t>
            </a:r>
            <a:r>
              <a:rPr lang="en-US" sz="1050" dirty="0">
                <a:solidFill>
                  <a:srgbClr val="3D4E6B"/>
                </a:solidFill>
              </a:rPr>
              <a:t> = +5 pts). Multi-impact ≥6 pièces = +50 pts. Un seul bonus </a:t>
            </a:r>
            <a:r>
              <a:rPr lang="en-US" sz="1050" dirty="0" err="1">
                <a:solidFill>
                  <a:srgbClr val="3D4E6B"/>
                </a:solidFill>
              </a:rPr>
              <a:t>retenu</a:t>
            </a:r>
            <a:r>
              <a:rPr lang="en-US" sz="1050" dirty="0">
                <a:solidFill>
                  <a:srgbClr val="3D4E6B"/>
                </a:solidFill>
              </a:rPr>
              <a:t> (le plus </a:t>
            </a:r>
            <a:r>
              <a:rPr lang="en-US" sz="1050" dirty="0" err="1">
                <a:solidFill>
                  <a:srgbClr val="3D4E6B"/>
                </a:solidFill>
              </a:rPr>
              <a:t>élevé</a:t>
            </a:r>
            <a:r>
              <a:rPr lang="en-US" sz="1050" dirty="0">
                <a:solidFill>
                  <a:srgbClr val="3D4E6B"/>
                </a:solidFill>
              </a:rPr>
              <a:t>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721608"/>
            <a:ext cx="8412480" cy="56692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Shape 25"/>
          <p:cNvSpPr/>
          <p:nvPr/>
        </p:nvSpPr>
        <p:spPr>
          <a:xfrm>
            <a:off x="365760" y="3721608"/>
            <a:ext cx="457200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365760" y="372160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7216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Multiplicateur zone  </a:t>
            </a:r>
            <a:r>
              <a:rPr lang="en-US" sz="1200" b="1" dirty="0">
                <a:solidFill>
                  <a:srgbClr val="8A9BB5"/>
                </a:solidFill>
              </a:rPr>
              <a:t>(×)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372160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Avant=1.35  ·  Arrière=1.2  ·  </a:t>
            </a:r>
            <a:r>
              <a:rPr lang="en-US" sz="1050" dirty="0" err="1">
                <a:solidFill>
                  <a:srgbClr val="3D4E6B"/>
                </a:solidFill>
              </a:rPr>
              <a:t>Latérale</a:t>
            </a:r>
            <a:r>
              <a:rPr lang="en-US" sz="1050" dirty="0">
                <a:solidFill>
                  <a:srgbClr val="3D4E6B"/>
                </a:solidFill>
              </a:rPr>
              <a:t>=1.1  ·  Coins=1.4-1.6  ·  Saine=0.0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30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Catégories : &lt; 35 = Léger  ·  35–70 = Modéré  ·  ≥ 70 = Sévère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ESTIMATION DE LA SÉVÉRITÉ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Modèle SEV — entraînement et métriques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6404"/>
                </a:solidFill>
              </a:rPr>
              <a:t>Pourquoi un </a:t>
            </a:r>
            <a:r>
              <a:rPr lang="en-US" sz="1100" dirty="0" err="1">
                <a:solidFill>
                  <a:srgbClr val="856404"/>
                </a:solidFill>
              </a:rPr>
              <a:t>modèle</a:t>
            </a:r>
            <a:r>
              <a:rPr lang="en-US" sz="1100" dirty="0">
                <a:solidFill>
                  <a:srgbClr val="856404"/>
                </a:solidFill>
              </a:rPr>
              <a:t> de </a:t>
            </a:r>
            <a:r>
              <a:rPr lang="en-US" sz="1100" dirty="0" err="1">
                <a:solidFill>
                  <a:srgbClr val="856404"/>
                </a:solidFill>
              </a:rPr>
              <a:t>détection</a:t>
            </a:r>
            <a:r>
              <a:rPr lang="en-US" sz="1100" dirty="0">
                <a:solidFill>
                  <a:srgbClr val="856404"/>
                </a:solidFill>
              </a:rPr>
              <a:t> </a:t>
            </a:r>
            <a:r>
              <a:rPr lang="en-US" sz="1100" dirty="0" err="1">
                <a:solidFill>
                  <a:srgbClr val="856404"/>
                </a:solidFill>
              </a:rPr>
              <a:t>dédié</a:t>
            </a:r>
            <a:r>
              <a:rPr lang="en-US" sz="1100" dirty="0">
                <a:solidFill>
                  <a:srgbClr val="856404"/>
                </a:solidFill>
              </a:rPr>
              <a:t> ? Le </a:t>
            </a:r>
            <a:r>
              <a:rPr lang="en-US" sz="1100" dirty="0" err="1">
                <a:solidFill>
                  <a:srgbClr val="856404"/>
                </a:solidFill>
              </a:rPr>
              <a:t>pointage</a:t>
            </a:r>
            <a:r>
              <a:rPr lang="en-US" sz="1100" dirty="0">
                <a:solidFill>
                  <a:srgbClr val="856404"/>
                </a:solidFill>
              </a:rPr>
              <a:t> par composite raisonne sur des boîtes </a:t>
            </a:r>
            <a:r>
              <a:rPr lang="en-US" sz="1100" dirty="0" err="1">
                <a:solidFill>
                  <a:srgbClr val="856404"/>
                </a:solidFill>
              </a:rPr>
              <a:t>englobantes</a:t>
            </a:r>
            <a:r>
              <a:rPr lang="en-US" sz="1100" dirty="0">
                <a:solidFill>
                  <a:srgbClr val="856404"/>
                </a:solidFill>
              </a:rPr>
              <a:t> : il ne voit jamais la texture réelle des </a:t>
            </a:r>
            <a:r>
              <a:rPr lang="en-US" sz="1100" dirty="0" err="1">
                <a:solidFill>
                  <a:srgbClr val="856404"/>
                </a:solidFill>
              </a:rPr>
              <a:t>dommages</a:t>
            </a:r>
            <a:r>
              <a:rPr lang="en-US" sz="1100" dirty="0">
                <a:solidFill>
                  <a:srgbClr val="856404"/>
                </a:solidFill>
              </a:rPr>
              <a:t> et ne peut distinguer une éraflure légère d'une déformation profonde sur la même pièce. Il </a:t>
            </a:r>
            <a:r>
              <a:rPr lang="en-US" sz="1100" dirty="0" err="1">
                <a:solidFill>
                  <a:srgbClr val="856404"/>
                </a:solidFill>
              </a:rPr>
              <a:t>va</a:t>
            </a:r>
            <a:r>
              <a:rPr lang="en-US" sz="1100" dirty="0">
                <a:solidFill>
                  <a:srgbClr val="856404"/>
                </a:solidFill>
              </a:rPr>
              <a:t> </a:t>
            </a:r>
            <a:r>
              <a:rPr lang="en-US" sz="1100" dirty="0" err="1">
                <a:solidFill>
                  <a:srgbClr val="856404"/>
                </a:solidFill>
              </a:rPr>
              <a:t>attribuer</a:t>
            </a:r>
            <a:r>
              <a:rPr lang="en-US" sz="1100" dirty="0">
                <a:solidFill>
                  <a:srgbClr val="856404"/>
                </a:solidFill>
              </a:rPr>
              <a:t> le </a:t>
            </a:r>
            <a:r>
              <a:rPr lang="en-US" sz="1100" dirty="0" err="1">
                <a:solidFill>
                  <a:srgbClr val="856404"/>
                </a:solidFill>
              </a:rPr>
              <a:t>même</a:t>
            </a:r>
            <a:r>
              <a:rPr lang="en-US" sz="1100" dirty="0">
                <a:solidFill>
                  <a:srgbClr val="856404"/>
                </a:solidFill>
              </a:rPr>
              <a:t> </a:t>
            </a:r>
            <a:r>
              <a:rPr lang="en-US" sz="1100" dirty="0" err="1">
                <a:solidFill>
                  <a:srgbClr val="856404"/>
                </a:solidFill>
              </a:rPr>
              <a:t>pointage</a:t>
            </a:r>
            <a:r>
              <a:rPr lang="en-US" sz="1100" dirty="0">
                <a:solidFill>
                  <a:srgbClr val="856404"/>
                </a:solidFill>
              </a:rPr>
              <a:t>.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920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0.806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61518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Global</a:t>
            </a:r>
            <a:r>
              <a:rPr lang="en-US" sz="1100" dirty="0">
                <a:solidFill>
                  <a:srgbClr val="FFFFFF"/>
                </a:solidFill>
              </a:rPr>
              <a:t> mAP@0.5 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</a:rPr>
              <a:t>R = 0.868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011680"/>
            <a:ext cx="1920240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2423160" y="205740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0.994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261518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Sain</a:t>
            </a:r>
            <a:r>
              <a:rPr lang="en-US" sz="1100" dirty="0">
                <a:solidFill>
                  <a:srgbClr val="FFFFFF"/>
                </a:solidFill>
              </a:rPr>
              <a:t> mAP@0.5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 = 0.99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1872" y="3273552"/>
            <a:ext cx="1920240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2461872" y="331927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0.814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61872" y="387705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Sévère</a:t>
            </a:r>
            <a:r>
              <a:rPr lang="en-US" sz="1100" dirty="0">
                <a:solidFill>
                  <a:srgbClr val="FFFFFF"/>
                </a:solidFill>
              </a:rPr>
              <a:t> mAP@0.5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 = 0.885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1920240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4480560" y="205740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0.623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80560" y="261518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Modéré</a:t>
            </a:r>
            <a:r>
              <a:rPr lang="en-US" sz="1100" dirty="0">
                <a:solidFill>
                  <a:srgbClr val="FFFFFF"/>
                </a:solidFill>
              </a:rPr>
              <a:t> mAP@0.5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 = 0.832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10192" y="1897380"/>
            <a:ext cx="2733808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4E6B"/>
                </a:solidFill>
              </a:rPr>
              <a:t>Classe Modéré la plus difficile car </a:t>
            </a:r>
            <a:r>
              <a:rPr lang="en-US" sz="1100" i="1" dirty="0" err="1">
                <a:solidFill>
                  <a:srgbClr val="3D4E6B"/>
                </a:solidFill>
              </a:rPr>
              <a:t>frontière</a:t>
            </a:r>
            <a:r>
              <a:rPr lang="en-US" sz="1100" i="1" dirty="0">
                <a:solidFill>
                  <a:srgbClr val="3D4E6B"/>
                </a:solidFill>
              </a:rPr>
              <a:t> floue avec Léger et Sévère, confirmation de la valeur du fallback composite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3161538"/>
            <a:ext cx="4663440" cy="1981962"/>
          </a:xfrm>
          <a:prstGeom prst="rect">
            <a:avLst/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B4A40B94-A7FD-E3ED-F663-8F9D5D585CD3}"/>
              </a:ext>
            </a:extLst>
          </p:cNvPr>
          <p:cNvSpPr/>
          <p:nvPr/>
        </p:nvSpPr>
        <p:spPr>
          <a:xfrm>
            <a:off x="365760" y="3273552"/>
            <a:ext cx="1920240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949F6F4-57E4-B8D3-30BD-EC99A87A328F}"/>
              </a:ext>
            </a:extLst>
          </p:cNvPr>
          <p:cNvSpPr/>
          <p:nvPr/>
        </p:nvSpPr>
        <p:spPr>
          <a:xfrm>
            <a:off x="365760" y="3246120"/>
            <a:ext cx="1920240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53015503-F710-7E6B-85CB-056152ABB04E}"/>
              </a:ext>
            </a:extLst>
          </p:cNvPr>
          <p:cNvSpPr/>
          <p:nvPr/>
        </p:nvSpPr>
        <p:spPr>
          <a:xfrm>
            <a:off x="365760" y="329184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0.791</a:t>
            </a:r>
            <a:endParaRPr lang="en-US" sz="28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11CBD4C-8CE3-2D37-1001-98EB5AC22CFD}"/>
              </a:ext>
            </a:extLst>
          </p:cNvPr>
          <p:cNvSpPr/>
          <p:nvPr/>
        </p:nvSpPr>
        <p:spPr>
          <a:xfrm>
            <a:off x="365760" y="384962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Léger</a:t>
            </a:r>
            <a:r>
              <a:rPr lang="en-US" sz="1100" dirty="0">
                <a:solidFill>
                  <a:srgbClr val="FFFFFF"/>
                </a:solidFill>
              </a:rPr>
              <a:t> mAP@0.5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 = 0.757</a:t>
            </a:r>
            <a:endParaRPr lang="en-US" sz="11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E25828D1-2A69-7FC9-F88D-5D22EDAC24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3" t="3664" r="3133" b="4290"/>
          <a:stretch>
            <a:fillRect/>
          </a:stretch>
        </p:blipFill>
        <p:spPr>
          <a:xfrm>
            <a:off x="4480560" y="3158926"/>
            <a:ext cx="4663440" cy="19819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ESTIMATION DE LA SÉVÉRITÉ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Fusion SEV + Scoring composite — logique de décision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200400" y="1261872"/>
            <a:ext cx="27432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200400" y="12618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SEV conf ≥ 70% 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2220686" y="1920240"/>
            <a:ext cx="2351314" cy="43434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2743200" y="195453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OUI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374904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SEV décide — catégorie prioritaire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>
            <a:off x="1672046" y="2944368"/>
            <a:ext cx="248194" cy="32004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Shape 11"/>
          <p:cNvSpPr/>
          <p:nvPr/>
        </p:nvSpPr>
        <p:spPr>
          <a:xfrm>
            <a:off x="2743200" y="2944368"/>
            <a:ext cx="457200" cy="32004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201168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274320" y="326440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Accord
</a:t>
            </a:r>
            <a:r>
              <a:rPr lang="en-US" sz="1000" dirty="0">
                <a:solidFill>
                  <a:srgbClr val="3D4E6B"/>
                </a:solidFill>
              </a:rPr>
              <a:t>Catégorie SEV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+ score composite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affiché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264408"/>
            <a:ext cx="2011680" cy="868680"/>
          </a:xfrm>
          <a:prstGeom prst="rect">
            <a:avLst/>
          </a:prstGeom>
          <a:solidFill>
            <a:srgbClr val="FEEC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2468880" y="326440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C0392B"/>
                </a:solidFill>
              </a:rPr>
              <a:t>Désaccord</a:t>
            </a:r>
            <a:r>
              <a:rPr lang="en-US" sz="1000" b="1" dirty="0">
                <a:solidFill>
                  <a:srgbClr val="C0392B"/>
                </a:solidFill>
              </a:rPr>
              <a:t>
</a:t>
            </a:r>
            <a:r>
              <a:rPr lang="en-US" sz="1000" dirty="0">
                <a:solidFill>
                  <a:srgbClr val="3D4E6B"/>
                </a:solidFill>
              </a:rPr>
              <a:t>Catégorie SEV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uniquement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(score masqué)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2286000" cy="45720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6021978" y="1933303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NON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377440"/>
            <a:ext cx="3749040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5029200" y="23774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Fallback — Scoring composite décide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264408"/>
            <a:ext cx="3749040" cy="86868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5029200" y="32644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6404"/>
                </a:solidFill>
              </a:rPr>
              <a:t>Score numérique 0–100
+ catégorie composite
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</a:rPr>
              <a:t>Traçabilité complète : chaque rapport indique quelle méthode a pris la décision finale</a:t>
            </a:r>
            <a:endParaRPr lang="en-US" sz="11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D2259F8B-EA2F-8AA3-D81D-7925ACF7A226}"/>
              </a:ext>
            </a:extLst>
          </p:cNvPr>
          <p:cNvSpPr/>
          <p:nvPr/>
        </p:nvSpPr>
        <p:spPr>
          <a:xfrm>
            <a:off x="6969034" y="2936747"/>
            <a:ext cx="0" cy="327661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ESTIMATION DE LA SÉVÉRITÉ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Résultats sévérité — images réelles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100126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1148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 err="1">
                <a:solidFill>
                  <a:srgbClr val="FFFFFF"/>
                </a:solidFill>
              </a:rPr>
              <a:t>Imact</a:t>
            </a:r>
            <a:r>
              <a:rPr lang="en-US" sz="1200" b="1" dirty="0">
                <a:solidFill>
                  <a:srgbClr val="FFFFFF"/>
                </a:solidFill>
              </a:rPr>
              <a:t> gauche </a:t>
            </a:r>
            <a:r>
              <a:rPr lang="en-US" sz="1200" b="1" dirty="0" err="1">
                <a:solidFill>
                  <a:srgbClr val="FFFFFF"/>
                </a:solidFill>
              </a:rPr>
              <a:t>léger</a:t>
            </a:r>
            <a:r>
              <a:rPr lang="en-US" sz="1200" b="1" dirty="0">
                <a:solidFill>
                  <a:srgbClr val="FFFFFF"/>
                </a:solidFill>
              </a:rPr>
              <a:t> — 2 </a:t>
            </a:r>
            <a:r>
              <a:rPr lang="en-US" sz="1200" b="1" dirty="0" err="1">
                <a:solidFill>
                  <a:srgbClr val="FFFFFF"/>
                </a:solidFill>
              </a:rPr>
              <a:t>pièces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6B"/>
                </a:solidFill>
              </a:rPr>
              <a:t>Zone : GAUCHE
</a:t>
            </a:r>
            <a:r>
              <a:rPr lang="en-US" sz="1200" dirty="0">
                <a:solidFill>
                  <a:srgbClr val="3D4E6B"/>
                </a:solidFill>
              </a:rPr>
              <a:t>Sévérité : LÉGER  (31.2/100)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114800" cy="1001268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Impact gauche </a:t>
            </a:r>
            <a:r>
              <a:rPr lang="en-US" sz="1200" b="1" dirty="0" err="1">
                <a:solidFill>
                  <a:srgbClr val="FFFFFF"/>
                </a:solidFill>
              </a:rPr>
              <a:t>sévère</a:t>
            </a:r>
            <a:r>
              <a:rPr lang="en-US" sz="1200" b="1" dirty="0">
                <a:solidFill>
                  <a:srgbClr val="FFFFFF"/>
                </a:solidFill>
              </a:rPr>
              <a:t> — 7 </a:t>
            </a:r>
            <a:r>
              <a:rPr lang="en-US" sz="1200" b="1" dirty="0" err="1">
                <a:solidFill>
                  <a:srgbClr val="FFFFFF"/>
                </a:solidFill>
              </a:rPr>
              <a:t>pièces</a:t>
            </a:r>
            <a:r>
              <a:rPr lang="en-US" sz="1200" b="1" dirty="0">
                <a:solidFill>
                  <a:srgbClr val="FFFFFF"/>
                </a:solidFill>
              </a:rPr>
              <a:t>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6B"/>
                </a:solidFill>
              </a:rPr>
              <a:t>Zone : GAUCHE
</a:t>
            </a:r>
            <a:r>
              <a:rPr lang="en-US" sz="1200" dirty="0">
                <a:solidFill>
                  <a:srgbClr val="3D4E6B"/>
                </a:solidFill>
              </a:rPr>
              <a:t>Sévérité : SÉVÈRE (100/100)</a:t>
            </a:r>
            <a:endParaRPr lang="en-US" sz="1200" dirty="0"/>
          </a:p>
        </p:txBody>
      </p:sp>
      <p:pic>
        <p:nvPicPr>
          <p:cNvPr id="26" name="Image 25" descr="Une image contenant plein air, véhicule, texte, Véhicule terrestre&#10;&#10;Le contenu généré par l’IA peut être incorrect.">
            <a:extLst>
              <a:ext uri="{FF2B5EF4-FFF2-40B4-BE49-F238E27FC236}">
                <a16:creationId xmlns:a16="http://schemas.microsoft.com/office/drawing/2014/main" id="{3B0619E5-D973-CB21-1CA6-207EE300A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426" y="2263140"/>
            <a:ext cx="4475574" cy="2857500"/>
          </a:xfrm>
          <a:prstGeom prst="rect">
            <a:avLst/>
          </a:prstGeom>
        </p:spPr>
      </p:pic>
      <p:pic>
        <p:nvPicPr>
          <p:cNvPr id="27" name="Image 26" descr="Une image contenant véhicule, Véhicule terrestre, roue, pneu&#10;&#10;Le contenu généré par l’IA peut être incorrect.">
            <a:extLst>
              <a:ext uri="{FF2B5EF4-FFF2-40B4-BE49-F238E27FC236}">
                <a16:creationId xmlns:a16="http://schemas.microsoft.com/office/drawing/2014/main" id="{925AB2B3-5754-CE64-7516-1343FCAB6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028" y="2344783"/>
            <a:ext cx="4682453" cy="27995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GESTION MULTI-VÉHICULES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Filtre spatial multi-véhicules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548640"/>
          </a:xfrm>
          <a:prstGeom prst="rect">
            <a:avLst/>
          </a:prstGeom>
          <a:solidFill>
            <a:srgbClr val="FEEC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Problème : YOLO11s v5 détecte les pièces de tous les </a:t>
            </a:r>
            <a:r>
              <a:rPr lang="en-US" sz="1100" dirty="0" err="1">
                <a:solidFill>
                  <a:srgbClr val="C0392B"/>
                </a:solidFill>
              </a:rPr>
              <a:t>véhicules</a:t>
            </a:r>
            <a:r>
              <a:rPr lang="en-US" sz="1100" dirty="0">
                <a:solidFill>
                  <a:srgbClr val="C0392B"/>
                </a:solidFill>
              </a:rPr>
              <a:t> </a:t>
            </a:r>
            <a:r>
              <a:rPr lang="en-US" sz="1100" dirty="0" err="1">
                <a:solidFill>
                  <a:srgbClr val="C0392B"/>
                </a:solidFill>
              </a:rPr>
              <a:t>présents</a:t>
            </a:r>
            <a:r>
              <a:rPr lang="en-US" sz="1100" dirty="0">
                <a:solidFill>
                  <a:srgbClr val="C0392B"/>
                </a:solidFill>
              </a:rPr>
              <a:t> dans </a:t>
            </a:r>
            <a:r>
              <a:rPr lang="en-US" sz="1100" dirty="0" err="1">
                <a:solidFill>
                  <a:srgbClr val="C0392B"/>
                </a:solidFill>
              </a:rPr>
              <a:t>l’image</a:t>
            </a:r>
            <a:r>
              <a:rPr lang="en-US" sz="1100" dirty="0">
                <a:solidFill>
                  <a:srgbClr val="C0392B"/>
                </a:solidFill>
              </a:rPr>
              <a:t> — </a:t>
            </a:r>
            <a:r>
              <a:rPr lang="en-US" sz="1100" dirty="0" err="1">
                <a:solidFill>
                  <a:srgbClr val="C0392B"/>
                </a:solidFill>
              </a:rPr>
              <a:t>cela</a:t>
            </a:r>
            <a:r>
              <a:rPr lang="en-US" sz="1100" dirty="0">
                <a:solidFill>
                  <a:srgbClr val="C0392B"/>
                </a:solidFill>
              </a:rPr>
              <a:t> </a:t>
            </a:r>
            <a:r>
              <a:rPr lang="en-US" sz="1100" dirty="0" err="1">
                <a:solidFill>
                  <a:srgbClr val="C0392B"/>
                </a:solidFill>
              </a:rPr>
              <a:t>vient</a:t>
            </a:r>
            <a:r>
              <a:rPr lang="en-US" sz="1100" dirty="0">
                <a:solidFill>
                  <a:srgbClr val="C0392B"/>
                </a:solidFill>
              </a:rPr>
              <a:t> </a:t>
            </a:r>
            <a:r>
              <a:rPr lang="en-US" sz="1100" dirty="0" err="1">
                <a:solidFill>
                  <a:srgbClr val="C0392B"/>
                </a:solidFill>
              </a:rPr>
              <a:t>donc</a:t>
            </a:r>
            <a:r>
              <a:rPr lang="en-US" sz="1100" dirty="0">
                <a:solidFill>
                  <a:srgbClr val="C0392B"/>
                </a:solidFill>
              </a:rPr>
              <a:t> </a:t>
            </a:r>
            <a:r>
              <a:rPr lang="en-US" sz="1100" dirty="0" err="1">
                <a:solidFill>
                  <a:srgbClr val="C0392B"/>
                </a:solidFill>
              </a:rPr>
              <a:t>biaiser</a:t>
            </a:r>
            <a:r>
              <a:rPr lang="en-US" sz="1100" dirty="0">
                <a:solidFill>
                  <a:srgbClr val="C0392B"/>
                </a:solidFill>
              </a:rPr>
              <a:t> </a:t>
            </a:r>
            <a:r>
              <a:rPr lang="en-US" sz="1100" dirty="0" err="1">
                <a:solidFill>
                  <a:srgbClr val="C0392B"/>
                </a:solidFill>
              </a:rPr>
              <a:t>l’analyse</a:t>
            </a:r>
            <a:r>
              <a:rPr lang="en-US" sz="1100" dirty="0">
                <a:solidFill>
                  <a:srgbClr val="C0392B"/>
                </a:solidFill>
              </a:rPr>
              <a:t>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1"/>
            <a:ext cx="2011680" cy="290779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365760" y="1993391"/>
            <a:ext cx="2011680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Niveau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2011680" cy="1038497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438912" y="2377440"/>
            <a:ext cx="1874520" cy="103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1 voiture détectée
</a:t>
            </a:r>
            <a:r>
              <a:rPr lang="en-US" sz="1050" dirty="0">
                <a:solidFill>
                  <a:srgbClr val="3D4E6B"/>
                </a:solidFill>
              </a:rPr>
              <a:t>Ancrage direct sur la bbox voiture (conf ≥ 50%). Centre de chaque pièce doit se trouver dans la zone d'intérêt.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1993391"/>
            <a:ext cx="2011680" cy="290779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2514600" y="1993391"/>
            <a:ext cx="2011680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Niveau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377440"/>
            <a:ext cx="2011680" cy="1038497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2587752" y="2377440"/>
            <a:ext cx="1874520" cy="103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N voitures détectées
</a:t>
            </a:r>
            <a:r>
              <a:rPr lang="en-US" sz="1050" dirty="0">
                <a:solidFill>
                  <a:srgbClr val="3D4E6B"/>
                </a:solidFill>
              </a:rPr>
              <a:t>Clustering des pièces → centroïde → voiture la plus proche sélectionnée → ancrage sur sa bbox. Les deux méthodes se complètent.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993391"/>
            <a:ext cx="2011680" cy="290779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4663440" y="1993391"/>
            <a:ext cx="2011680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Niveau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2011680" cy="1038497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4736592" y="2377440"/>
            <a:ext cx="1874520" cy="103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Aucune voiture
</a:t>
            </a:r>
            <a:r>
              <a:rPr lang="en-US" sz="1050" dirty="0">
                <a:solidFill>
                  <a:srgbClr val="3D4E6B"/>
                </a:solidFill>
              </a:rPr>
              <a:t>Clustering spatial sur les pièces seules. Seuil 45% de la diagonale de l'image pour filtrer les détections éloignées.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1993391"/>
            <a:ext cx="2011680" cy="290779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6812280" y="1993391"/>
            <a:ext cx="2011680" cy="290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Niveau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2377440"/>
            <a:ext cx="2011680" cy="1038497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6885432" y="2377440"/>
            <a:ext cx="1874520" cy="103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8A9BB5"/>
                </a:solidFill>
              </a:rPr>
              <a:t>Mécanisme</a:t>
            </a:r>
            <a:r>
              <a:rPr lang="en-US" sz="1050" b="1" dirty="0">
                <a:solidFill>
                  <a:srgbClr val="8A9BB5"/>
                </a:solidFill>
              </a:rPr>
              <a:t> de </a:t>
            </a:r>
            <a:r>
              <a:rPr lang="en-US" sz="1050" b="1" dirty="0" err="1">
                <a:solidFill>
                  <a:srgbClr val="8A9BB5"/>
                </a:solidFill>
              </a:rPr>
              <a:t>repli</a:t>
            </a:r>
            <a:r>
              <a:rPr lang="en-US" sz="1050" b="1" dirty="0">
                <a:solidFill>
                  <a:srgbClr val="8A9BB5"/>
                </a:solidFill>
              </a:rPr>
              <a:t>
</a:t>
            </a:r>
            <a:r>
              <a:rPr lang="en-US" sz="1050" dirty="0">
                <a:solidFill>
                  <a:srgbClr val="3D4E6B"/>
                </a:solidFill>
              </a:rPr>
              <a:t>Toutes les détections conservées. Comportement original. Activé si moins de 3 pièces détectées sans voiture.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526971"/>
            <a:ext cx="8412480" cy="1547949"/>
          </a:xfrm>
          <a:prstGeom prst="rect">
            <a:avLst/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5" name="Image 24" descr="Une image contenant véhicule, roue, Véhicule terrestre, texte&#10;&#10;Le contenu généré par l’IA peut être incorrect.">
            <a:extLst>
              <a:ext uri="{FF2B5EF4-FFF2-40B4-BE49-F238E27FC236}">
                <a16:creationId xmlns:a16="http://schemas.microsoft.com/office/drawing/2014/main" id="{A1C98789-FFE9-7859-95F7-F25BBAD48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5" t="40147" r="20110" b="1040"/>
          <a:stretch>
            <a:fillRect/>
          </a:stretch>
        </p:blipFill>
        <p:spPr>
          <a:xfrm>
            <a:off x="7837" y="3509207"/>
            <a:ext cx="4454435" cy="1634293"/>
          </a:xfrm>
          <a:prstGeom prst="rect">
            <a:avLst/>
          </a:prstGeom>
        </p:spPr>
      </p:pic>
      <p:pic>
        <p:nvPicPr>
          <p:cNvPr id="26" name="Image 25" descr="Une image contenant véhicule, Véhicule terrestre, roue, ciel&#10;&#10;Le contenu généré par l’IA peut être incorrect.">
            <a:extLst>
              <a:ext uri="{FF2B5EF4-FFF2-40B4-BE49-F238E27FC236}">
                <a16:creationId xmlns:a16="http://schemas.microsoft.com/office/drawing/2014/main" id="{488831CF-C7E9-8383-949A-0522B79397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35" t="42628" r="23627" b="-2063"/>
          <a:stretch>
            <a:fillRect/>
          </a:stretch>
        </p:blipFill>
        <p:spPr>
          <a:xfrm>
            <a:off x="4663440" y="3526971"/>
            <a:ext cx="4472723" cy="16832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ANALYSE SUR IMAGES RÉELLES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Forces démontrées sur </a:t>
            </a:r>
            <a:r>
              <a:rPr lang="en-US" sz="2400" b="1" dirty="0" err="1">
                <a:solidFill>
                  <a:srgbClr val="1E2761"/>
                </a:solidFill>
              </a:rPr>
              <a:t>plusieurs</a:t>
            </a:r>
            <a:r>
              <a:rPr lang="en-US" sz="2400" b="1" dirty="0">
                <a:solidFill>
                  <a:srgbClr val="1E2761"/>
                </a:solidFill>
              </a:rPr>
              <a:t> images </a:t>
            </a:r>
            <a:r>
              <a:rPr lang="en-US" sz="2400" b="1" dirty="0" err="1">
                <a:solidFill>
                  <a:srgbClr val="1E2761"/>
                </a:solidFill>
              </a:rPr>
              <a:t>réelles</a:t>
            </a:r>
            <a:r>
              <a:rPr lang="en-US" sz="2400" b="1" dirty="0">
                <a:solidFill>
                  <a:srgbClr val="1E2761"/>
                </a:solidFill>
              </a:rPr>
              <a:t> </a:t>
            </a:r>
            <a:r>
              <a:rPr lang="en-US" sz="2400" b="1" dirty="0" err="1">
                <a:solidFill>
                  <a:srgbClr val="1E2761"/>
                </a:solidFill>
              </a:rPr>
              <a:t>aléatoires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Dommages sévères détectés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Structures totalement déformées identifiées correctement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4846320" y="12618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Véhicule sain reconnu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Le pipeline </a:t>
            </a:r>
            <a:r>
              <a:rPr lang="en-US" sz="1050" dirty="0" err="1">
                <a:solidFill>
                  <a:srgbClr val="3D4E6B"/>
                </a:solidFill>
              </a:rPr>
              <a:t>est</a:t>
            </a:r>
            <a:r>
              <a:rPr lang="en-US" sz="1050" dirty="0">
                <a:solidFill>
                  <a:srgbClr val="3D4E6B"/>
                </a:solidFill>
              </a:rPr>
              <a:t> excellent pour identifier les </a:t>
            </a:r>
            <a:r>
              <a:rPr lang="en-US" sz="1050" dirty="0" err="1">
                <a:solidFill>
                  <a:srgbClr val="3D4E6B"/>
                </a:solidFill>
              </a:rPr>
              <a:t>véhicules</a:t>
            </a:r>
            <a:r>
              <a:rPr lang="en-US" sz="1050" dirty="0">
                <a:solidFill>
                  <a:srgbClr val="3D4E6B"/>
                </a:solidFill>
              </a:rPr>
              <a:t> et les pieces saines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365760" y="2450592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502920" y="24505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Filtre véhicules parasites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1635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Camion de </a:t>
            </a:r>
            <a:r>
              <a:rPr lang="en-US" sz="1050" dirty="0" err="1">
                <a:solidFill>
                  <a:srgbClr val="3D4E6B"/>
                </a:solidFill>
              </a:rPr>
              <a:t>dépannage</a:t>
            </a:r>
            <a:r>
              <a:rPr lang="en-US" sz="1050" dirty="0">
                <a:solidFill>
                  <a:srgbClr val="3D4E6B"/>
                </a:solidFill>
              </a:rPr>
              <a:t>, services urgences, </a:t>
            </a:r>
            <a:r>
              <a:rPr lang="en-US" sz="1050" dirty="0" err="1">
                <a:solidFill>
                  <a:srgbClr val="3D4E6B"/>
                </a:solidFill>
              </a:rPr>
              <a:t>humains</a:t>
            </a:r>
            <a:r>
              <a:rPr lang="en-US" sz="1050" dirty="0">
                <a:solidFill>
                  <a:srgbClr val="3D4E6B"/>
                </a:solidFill>
              </a:rPr>
              <a:t>, </a:t>
            </a:r>
            <a:r>
              <a:rPr lang="en-US" sz="1050" dirty="0" err="1">
                <a:solidFill>
                  <a:srgbClr val="3D4E6B"/>
                </a:solidFill>
              </a:rPr>
              <a:t>autres</a:t>
            </a:r>
            <a:r>
              <a:rPr lang="en-US" sz="1050" dirty="0">
                <a:solidFill>
                  <a:srgbClr val="3D4E6B"/>
                </a:solidFill>
              </a:rPr>
              <a:t> voitures et </a:t>
            </a:r>
            <a:r>
              <a:rPr lang="en-US" sz="1050" dirty="0" err="1">
                <a:solidFill>
                  <a:srgbClr val="3D4E6B"/>
                </a:solidFill>
              </a:rPr>
              <a:t>pièces</a:t>
            </a:r>
            <a:r>
              <a:rPr lang="en-US" sz="1050" dirty="0">
                <a:solidFill>
                  <a:srgbClr val="3D4E6B"/>
                </a:solidFill>
              </a:rPr>
              <a:t> entièrement ignorés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50592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4709160" y="2450592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846320" y="24505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Image dégradée / pixelisée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 err="1">
                <a:solidFill>
                  <a:srgbClr val="3D4E6B"/>
                </a:solidFill>
              </a:rPr>
              <a:t>Niveau</a:t>
            </a:r>
            <a:r>
              <a:rPr lang="en-US" sz="1050" dirty="0">
                <a:solidFill>
                  <a:srgbClr val="3D4E6B"/>
                </a:solidFill>
              </a:rPr>
              <a:t> de </a:t>
            </a:r>
            <a:r>
              <a:rPr lang="en-US" sz="1050" dirty="0" err="1">
                <a:solidFill>
                  <a:srgbClr val="3D4E6B"/>
                </a:solidFill>
              </a:rPr>
              <a:t>confiance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élevé</a:t>
            </a:r>
            <a:r>
              <a:rPr lang="en-US" sz="1050" dirty="0">
                <a:solidFill>
                  <a:srgbClr val="3D4E6B"/>
                </a:solidFill>
              </a:rPr>
              <a:t> malgré la </a:t>
            </a:r>
            <a:r>
              <a:rPr lang="en-US" sz="1050" dirty="0" err="1">
                <a:solidFill>
                  <a:srgbClr val="3D4E6B"/>
                </a:solidFill>
              </a:rPr>
              <a:t>basse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résolution</a:t>
            </a:r>
            <a:r>
              <a:rPr lang="en-US" sz="1050" dirty="0">
                <a:solidFill>
                  <a:srgbClr val="3D4E6B"/>
                </a:solidFill>
              </a:rPr>
              <a:t> de </a:t>
            </a:r>
            <a:r>
              <a:rPr lang="en-US" sz="1050" dirty="0" err="1">
                <a:solidFill>
                  <a:srgbClr val="3D4E6B"/>
                </a:solidFill>
              </a:rPr>
              <a:t>certaines</a:t>
            </a:r>
            <a:r>
              <a:rPr lang="en-US" sz="1050" dirty="0">
                <a:solidFill>
                  <a:srgbClr val="3D4E6B"/>
                </a:solidFill>
              </a:rPr>
              <a:t> images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2"/>
          <p:cNvSpPr/>
          <p:nvPr/>
        </p:nvSpPr>
        <p:spPr>
          <a:xfrm>
            <a:off x="502920" y="36393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Vote </a:t>
            </a:r>
            <a:r>
              <a:rPr lang="en-US" sz="1200" b="1" dirty="0" err="1">
                <a:solidFill>
                  <a:srgbClr val="27AE60"/>
                </a:solidFill>
              </a:rPr>
              <a:t>pondéré</a:t>
            </a:r>
            <a:r>
              <a:rPr lang="en-US" sz="1200" b="1" dirty="0">
                <a:solidFill>
                  <a:srgbClr val="27AE60"/>
                </a:solidFill>
              </a:rPr>
              <a:t> + </a:t>
            </a:r>
            <a:r>
              <a:rPr lang="en-US" sz="1200" b="1" dirty="0" err="1">
                <a:solidFill>
                  <a:srgbClr val="27AE60"/>
                </a:solidFill>
              </a:rPr>
              <a:t>classificateur</a:t>
            </a:r>
            <a:r>
              <a:rPr lang="en-US" sz="1200" b="1" dirty="0">
                <a:solidFill>
                  <a:srgbClr val="27AE60"/>
                </a:solidFill>
              </a:rPr>
              <a:t> visual zone impact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05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Le vote </a:t>
            </a:r>
            <a:r>
              <a:rPr lang="en-US" sz="1050" dirty="0" err="1">
                <a:solidFill>
                  <a:srgbClr val="3D4E6B"/>
                </a:solidFill>
              </a:rPr>
              <a:t>pondéré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est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généralement</a:t>
            </a:r>
            <a:r>
              <a:rPr lang="en-US" sz="1050" dirty="0">
                <a:solidFill>
                  <a:srgbClr val="3D4E6B"/>
                </a:solidFill>
              </a:rPr>
              <a:t> précis et le </a:t>
            </a:r>
            <a:r>
              <a:rPr lang="en-US" sz="1050" dirty="0" err="1">
                <a:solidFill>
                  <a:srgbClr val="3D4E6B"/>
                </a:solidFill>
              </a:rPr>
              <a:t>classificateur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visuel</a:t>
            </a:r>
            <a:r>
              <a:rPr lang="en-US" sz="1050" dirty="0">
                <a:solidFill>
                  <a:srgbClr val="3D4E6B"/>
                </a:solidFill>
              </a:rPr>
              <a:t> ne se trompe </a:t>
            </a:r>
            <a:r>
              <a:rPr lang="en-US" sz="1050" dirty="0" err="1">
                <a:solidFill>
                  <a:srgbClr val="3D4E6B"/>
                </a:solidFill>
              </a:rPr>
              <a:t>presque</a:t>
            </a:r>
            <a:r>
              <a:rPr lang="en-US" sz="1050" dirty="0">
                <a:solidFill>
                  <a:srgbClr val="3D4E6B"/>
                </a:solidFill>
              </a:rPr>
              <a:t> jamais 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639312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Shape 25"/>
          <p:cNvSpPr/>
          <p:nvPr/>
        </p:nvSpPr>
        <p:spPr>
          <a:xfrm>
            <a:off x="4709160" y="3639312"/>
            <a:ext cx="6400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4846320" y="36393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Cascade SEV + composite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005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E6B"/>
                </a:solidFill>
              </a:rPr>
              <a:t>Le </a:t>
            </a:r>
            <a:r>
              <a:rPr lang="en-US" sz="1050" dirty="0" err="1">
                <a:solidFill>
                  <a:srgbClr val="3D4E6B"/>
                </a:solidFill>
              </a:rPr>
              <a:t>modèle</a:t>
            </a:r>
            <a:r>
              <a:rPr lang="en-US" sz="1050" dirty="0">
                <a:solidFill>
                  <a:srgbClr val="3D4E6B"/>
                </a:solidFill>
              </a:rPr>
              <a:t> SEV </a:t>
            </a:r>
            <a:r>
              <a:rPr lang="en-US" sz="1050" dirty="0" err="1">
                <a:solidFill>
                  <a:srgbClr val="3D4E6B"/>
                </a:solidFill>
              </a:rPr>
              <a:t>fonctionne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généralement</a:t>
            </a:r>
            <a:r>
              <a:rPr lang="en-US" sz="1050" dirty="0">
                <a:solidFill>
                  <a:srgbClr val="3D4E6B"/>
                </a:solidFill>
              </a:rPr>
              <a:t> bien et le </a:t>
            </a:r>
            <a:r>
              <a:rPr lang="en-US" sz="1050" dirty="0" err="1">
                <a:solidFill>
                  <a:srgbClr val="3D4E6B"/>
                </a:solidFill>
              </a:rPr>
              <a:t>mécanisme</a:t>
            </a:r>
            <a:r>
              <a:rPr lang="en-US" sz="1050" dirty="0">
                <a:solidFill>
                  <a:srgbClr val="3D4E6B"/>
                </a:solidFill>
              </a:rPr>
              <a:t> de </a:t>
            </a:r>
            <a:r>
              <a:rPr lang="en-US" sz="1050" dirty="0" err="1">
                <a:solidFill>
                  <a:srgbClr val="3D4E6B"/>
                </a:solidFill>
              </a:rPr>
              <a:t>pointage</a:t>
            </a:r>
            <a:r>
              <a:rPr lang="en-US" sz="1050" dirty="0">
                <a:solidFill>
                  <a:srgbClr val="3D4E6B"/>
                </a:solidFill>
              </a:rPr>
              <a:t> par composite </a:t>
            </a:r>
            <a:r>
              <a:rPr lang="en-US" sz="1050" dirty="0" err="1">
                <a:solidFill>
                  <a:srgbClr val="3D4E6B"/>
                </a:solidFill>
              </a:rPr>
              <a:t>joue</a:t>
            </a:r>
            <a:r>
              <a:rPr lang="en-US" sz="1050" dirty="0">
                <a:solidFill>
                  <a:srgbClr val="3D4E6B"/>
                </a:solidFill>
              </a:rPr>
              <a:t> son role </a:t>
            </a:r>
            <a:r>
              <a:rPr lang="en-US" sz="1050" dirty="0" err="1">
                <a:solidFill>
                  <a:srgbClr val="3D4E6B"/>
                </a:solidFill>
              </a:rPr>
              <a:t>comme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attendu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ANALYSE SUR IMAGES RÉELLES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E2761"/>
                </a:solidFill>
              </a:rPr>
              <a:t>Limites</a:t>
            </a:r>
            <a:r>
              <a:rPr lang="en-US" sz="2400" b="1" dirty="0">
                <a:solidFill>
                  <a:srgbClr val="1E2761"/>
                </a:solidFill>
              </a:rPr>
              <a:t> </a:t>
            </a:r>
            <a:r>
              <a:rPr lang="en-US" sz="2400" b="1" dirty="0" err="1">
                <a:solidFill>
                  <a:srgbClr val="1E2761"/>
                </a:solidFill>
              </a:rPr>
              <a:t>démontrées</a:t>
            </a:r>
            <a:r>
              <a:rPr lang="en-US" sz="2400" b="1" dirty="0">
                <a:solidFill>
                  <a:srgbClr val="1E2761"/>
                </a:solidFill>
              </a:rPr>
              <a:t> sur </a:t>
            </a:r>
            <a:r>
              <a:rPr lang="en-US" sz="2400" b="1" dirty="0" err="1">
                <a:solidFill>
                  <a:srgbClr val="1E2761"/>
                </a:solidFill>
              </a:rPr>
              <a:t>plusieurs</a:t>
            </a:r>
            <a:r>
              <a:rPr lang="en-US" sz="2400" b="1" dirty="0">
                <a:solidFill>
                  <a:srgbClr val="1E2761"/>
                </a:solidFill>
              </a:rPr>
              <a:t> images </a:t>
            </a:r>
            <a:r>
              <a:rPr lang="en-US" sz="2400" b="1" dirty="0" err="1">
                <a:solidFill>
                  <a:srgbClr val="1E2761"/>
                </a:solidFill>
              </a:rPr>
              <a:t>réelles</a:t>
            </a:r>
            <a:r>
              <a:rPr lang="en-US" sz="2400" b="1" dirty="0">
                <a:solidFill>
                  <a:srgbClr val="1E2761"/>
                </a:solidFill>
              </a:rPr>
              <a:t> </a:t>
            </a:r>
            <a:r>
              <a:rPr lang="en-US" sz="2400" b="1" dirty="0" err="1">
                <a:solidFill>
                  <a:srgbClr val="1E2761"/>
                </a:solidFill>
              </a:rPr>
              <a:t>aléatoires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64008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phare_endommage — rappel 0.419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Rate 58% des phares endommagés. Variabilité visuelle extrême + occlusion fréquente + petite taille à 640px. Seul </a:t>
            </a:r>
            <a:r>
              <a:rPr lang="en-US" sz="1100" dirty="0" err="1">
                <a:solidFill>
                  <a:srgbClr val="3D4E6B"/>
                </a:solidFill>
              </a:rPr>
              <a:t>l’ajout</a:t>
            </a:r>
            <a:r>
              <a:rPr lang="en-US" sz="1100" dirty="0">
                <a:solidFill>
                  <a:srgbClr val="3D4E6B"/>
                </a:solidFill>
              </a:rPr>
              <a:t> de données corrigerait cette limite.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64008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484632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Domain shift — véhicules atypiques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9344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3D4E6B"/>
                </a:solidFill>
              </a:rPr>
              <a:t>Hypercar</a:t>
            </a:r>
            <a:r>
              <a:rPr lang="en-US" sz="1100" dirty="0">
                <a:solidFill>
                  <a:srgbClr val="3D4E6B"/>
                </a:solidFill>
              </a:rPr>
              <a:t> (</a:t>
            </a:r>
            <a:r>
              <a:rPr lang="en-US" sz="1100" dirty="0" err="1">
                <a:solidFill>
                  <a:srgbClr val="3D4E6B"/>
                </a:solidFill>
              </a:rPr>
              <a:t>comme</a:t>
            </a:r>
            <a:r>
              <a:rPr lang="en-US" sz="1100" dirty="0">
                <a:solidFill>
                  <a:srgbClr val="3D4E6B"/>
                </a:solidFill>
              </a:rPr>
              <a:t> Ferrari) : Très large </a:t>
            </a:r>
            <a:r>
              <a:rPr lang="en-US" sz="1100" dirty="0" err="1">
                <a:solidFill>
                  <a:srgbClr val="3D4E6B"/>
                </a:solidFill>
              </a:rPr>
              <a:t>aile</a:t>
            </a:r>
            <a:r>
              <a:rPr lang="en-US" sz="1100" dirty="0">
                <a:solidFill>
                  <a:srgbClr val="3D4E6B"/>
                </a:solidFill>
              </a:rPr>
              <a:t> arrière confondue avec </a:t>
            </a:r>
            <a:r>
              <a:rPr lang="en-US" sz="1100" dirty="0" err="1">
                <a:solidFill>
                  <a:srgbClr val="3D4E6B"/>
                </a:solidFill>
              </a:rPr>
              <a:t>porte</a:t>
            </a:r>
            <a:r>
              <a:rPr lang="en-US" sz="1100" dirty="0">
                <a:solidFill>
                  <a:srgbClr val="3D4E6B"/>
                </a:solidFill>
              </a:rPr>
              <a:t>, par </a:t>
            </a:r>
            <a:r>
              <a:rPr lang="en-US" sz="1100" dirty="0" err="1">
                <a:solidFill>
                  <a:srgbClr val="3D4E6B"/>
                </a:solidFill>
              </a:rPr>
              <a:t>exemple</a:t>
            </a:r>
            <a:r>
              <a:rPr lang="en-US" sz="1100" dirty="0">
                <a:solidFill>
                  <a:srgbClr val="3D4E6B"/>
                </a:solidFill>
              </a:rPr>
              <a:t>. Design hors distribution du jeu de données. Performances dégradées sur hypercars, véhicules de collection, prototypes.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64008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502920" y="30449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</a:rPr>
              <a:t>Retroviseur_endommage</a:t>
            </a:r>
            <a:r>
              <a:rPr lang="en-US" sz="1300" b="1" dirty="0">
                <a:solidFill>
                  <a:srgbClr val="1E2761"/>
                </a:solidFill>
              </a:rPr>
              <a:t>— rappel 0.500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392424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D4E6B"/>
                </a:solidFill>
              </a:rPr>
              <a:t>Rate 50% des </a:t>
            </a:r>
            <a:r>
              <a:rPr lang="en-US" sz="1100" dirty="0" err="1">
                <a:solidFill>
                  <a:srgbClr val="3D4E6B"/>
                </a:solidFill>
              </a:rPr>
              <a:t>rétroviseurs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endommagés</a:t>
            </a:r>
            <a:r>
              <a:rPr lang="en-US" sz="1100" dirty="0">
                <a:solidFill>
                  <a:srgbClr val="3D4E6B"/>
                </a:solidFill>
              </a:rPr>
              <a:t>. </a:t>
            </a:r>
            <a:r>
              <a:rPr lang="en-US" sz="1100" dirty="0" err="1">
                <a:solidFill>
                  <a:srgbClr val="3D4E6B"/>
                </a:solidFill>
              </a:rPr>
              <a:t>Variabilité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visuelle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extrême</a:t>
            </a:r>
            <a:r>
              <a:rPr lang="en-US" sz="1100" dirty="0">
                <a:solidFill>
                  <a:srgbClr val="3D4E6B"/>
                </a:solidFill>
              </a:rPr>
              <a:t> + occlusion </a:t>
            </a:r>
            <a:r>
              <a:rPr lang="en-US" sz="1100" dirty="0" err="1">
                <a:solidFill>
                  <a:srgbClr val="3D4E6B"/>
                </a:solidFill>
              </a:rPr>
              <a:t>fréquente</a:t>
            </a:r>
            <a:r>
              <a:rPr lang="en-US" sz="1100" dirty="0">
                <a:solidFill>
                  <a:srgbClr val="3D4E6B"/>
                </a:solidFill>
              </a:rPr>
              <a:t> + petite taille à 640px + </a:t>
            </a:r>
            <a:r>
              <a:rPr lang="en-US" sz="1100" dirty="0" err="1">
                <a:solidFill>
                  <a:srgbClr val="3D4E6B"/>
                </a:solidFill>
              </a:rPr>
              <a:t>parfois</a:t>
            </a:r>
            <a:r>
              <a:rPr lang="en-US" sz="1100" dirty="0">
                <a:solidFill>
                  <a:srgbClr val="3D4E6B"/>
                </a:solidFill>
              </a:rPr>
              <a:t> absent (</a:t>
            </a:r>
            <a:r>
              <a:rPr lang="en-US" sz="1100" dirty="0" err="1">
                <a:solidFill>
                  <a:srgbClr val="3D4E6B"/>
                </a:solidFill>
              </a:rPr>
              <a:t>arraché</a:t>
            </a:r>
            <a:r>
              <a:rPr lang="en-US" sz="1100" dirty="0">
                <a:solidFill>
                  <a:srgbClr val="3D4E6B"/>
                </a:solidFill>
              </a:rPr>
              <a:t>). Seul </a:t>
            </a:r>
            <a:r>
              <a:rPr lang="en-US" sz="1100" dirty="0" err="1">
                <a:solidFill>
                  <a:srgbClr val="3D4E6B"/>
                </a:solidFill>
              </a:rPr>
              <a:t>l’ajout</a:t>
            </a:r>
            <a:r>
              <a:rPr lang="en-US" sz="1100" dirty="0">
                <a:solidFill>
                  <a:srgbClr val="3D4E6B"/>
                </a:solidFill>
              </a:rPr>
              <a:t> de données </a:t>
            </a:r>
            <a:r>
              <a:rPr lang="en-US" sz="1100" dirty="0" err="1">
                <a:solidFill>
                  <a:srgbClr val="3D4E6B"/>
                </a:solidFill>
              </a:rPr>
              <a:t>corrigerait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cette</a:t>
            </a:r>
            <a:r>
              <a:rPr lang="en-US" sz="1100" dirty="0">
                <a:solidFill>
                  <a:srgbClr val="3D4E6B"/>
                </a:solidFill>
              </a:rPr>
              <a:t> </a:t>
            </a:r>
            <a:r>
              <a:rPr lang="en-US" sz="1100" dirty="0" err="1">
                <a:solidFill>
                  <a:srgbClr val="3D4E6B"/>
                </a:solidFill>
              </a:rPr>
              <a:t>limite</a:t>
            </a:r>
            <a:r>
              <a:rPr lang="en-US" sz="1100" dirty="0">
                <a:solidFill>
                  <a:srgbClr val="3D4E6B"/>
                </a:solidFill>
              </a:rPr>
              <a:t>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4495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4709160" y="3044952"/>
            <a:ext cx="64008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846320" y="30449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Double détection (NMS)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392424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E6B"/>
                </a:solidFill>
              </a:rPr>
              <a:t>Pièces longues (portières) ou en bordure de bbox : deux boîtes pour une même pièce. Seuil iou=0.50 ne supprime pas toujours les doublons légitimes.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Résultats globaux — objectifs atteints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2286000"/>
          </a:xfrm>
          <a:prstGeom prst="rect">
            <a:avLst/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YOLO11s v5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</a:rPr>
              <a:t>Détection de pièces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0.769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</a:rPr>
              <a:t>mAP@0.5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13/17 classes F1 &gt; 0.70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261872"/>
            <a:ext cx="2651760" cy="2286000"/>
          </a:xfrm>
          <a:prstGeom prst="rect">
            <a:avLst/>
          </a:prstGeom>
          <a:solidFill>
            <a:srgbClr val="F4F7FC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4" name="Shape 12"/>
          <p:cNvSpPr/>
          <p:nvPr/>
        </p:nvSpPr>
        <p:spPr>
          <a:xfrm>
            <a:off x="3200400" y="1261872"/>
            <a:ext cx="26517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329184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Classificateur zone v3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810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0D9"/>
                </a:solidFill>
              </a:rPr>
              <a:t>Zone d'impact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1762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82.8%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9184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</a:rPr>
              <a:t>Accuracy 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droite F1=0.93 · avant F1=0.60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261872"/>
            <a:ext cx="2651760" cy="2286000"/>
          </a:xfrm>
          <a:prstGeom prst="rect">
            <a:avLst/>
          </a:prstGeom>
          <a:solidFill>
            <a:srgbClr val="F4F7FC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9"/>
          <p:cNvSpPr/>
          <p:nvPr/>
        </p:nvSpPr>
        <p:spPr>
          <a:xfrm>
            <a:off x="6035040" y="1261872"/>
            <a:ext cx="26517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612648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 SEV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810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7AE60"/>
                </a:solidFill>
              </a:rPr>
              <a:t>Sévérité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1762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0.806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2648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</a:rPr>
              <a:t>mAP@0.5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E6B"/>
                </a:solidFill>
              </a:rPr>
              <a:t>Sain=0.994 · Modéré=0.623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Pipeline opérationnel · </a:t>
            </a:r>
            <a:r>
              <a:rPr lang="en-US" sz="1200" b="1" dirty="0" err="1">
                <a:solidFill>
                  <a:srgbClr val="FFFFFF"/>
                </a:solidFill>
              </a:rPr>
              <a:t>Évalué</a:t>
            </a:r>
            <a:r>
              <a:rPr lang="en-US" sz="1200" b="1" dirty="0">
                <a:solidFill>
                  <a:srgbClr val="FFFFFF"/>
                </a:solidFill>
              </a:rPr>
              <a:t> · Documenté · Traçable · Déployable en 1 session Colab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Travaux futurs et recommandations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572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Plus de données ciblées
</a:t>
            </a:r>
            <a:r>
              <a:rPr lang="en-US" sz="900" dirty="0">
                <a:solidFill>
                  <a:srgbClr val="8A9BB5"/>
                </a:solidFill>
              </a:rPr>
              <a:t>Priorité haute
</a:t>
            </a:r>
            <a:r>
              <a:rPr lang="en-US" sz="1050" dirty="0">
                <a:solidFill>
                  <a:srgbClr val="3D4E6B"/>
                </a:solidFill>
              </a:rPr>
              <a:t>150-200 images par classe faible (phare, capot, rétroviseur). </a:t>
            </a:r>
            <a:r>
              <a:rPr lang="en-US" sz="1050" dirty="0" err="1">
                <a:solidFill>
                  <a:srgbClr val="3D4E6B"/>
                </a:solidFill>
              </a:rPr>
              <a:t>Prioriser</a:t>
            </a:r>
            <a:r>
              <a:rPr lang="en-US" sz="1050" dirty="0">
                <a:solidFill>
                  <a:srgbClr val="3D4E6B"/>
                </a:solidFill>
              </a:rPr>
              <a:t> la </a:t>
            </a:r>
            <a:r>
              <a:rPr lang="en-US" sz="1050" dirty="0" err="1">
                <a:solidFill>
                  <a:srgbClr val="3D4E6B"/>
                </a:solidFill>
              </a:rPr>
              <a:t>diversité</a:t>
            </a:r>
            <a:r>
              <a:rPr lang="en-US" sz="1050" dirty="0">
                <a:solidFill>
                  <a:srgbClr val="3D4E6B"/>
                </a:solidFill>
              </a:rPr>
              <a:t> des types de dommages plutôt que volume brut. Impact attendu : +8-15 pts mAP sur les classes concernées.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57200" cy="1645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4709160" y="1261872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135331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YOLO11s-seg (segmentation)
</a:t>
            </a:r>
            <a:r>
              <a:rPr lang="en-US" sz="900" dirty="0">
                <a:solidFill>
                  <a:srgbClr val="8A9BB5"/>
                </a:solidFill>
              </a:rPr>
              <a:t>Priorité moyenne
</a:t>
            </a:r>
            <a:r>
              <a:rPr lang="en-US" sz="1050" dirty="0">
                <a:solidFill>
                  <a:srgbClr val="3D4E6B"/>
                </a:solidFill>
              </a:rPr>
              <a:t>Remplacer les boîtes englobantes par des masks de pixels. Filtrage spatial plus précis, scoring de sévérité basé sur surface réelle, visualisation plus riche.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457200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365760" y="3044952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31363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Régression sur embeddings
</a:t>
            </a:r>
            <a:r>
              <a:rPr lang="en-US" sz="900" dirty="0">
                <a:solidFill>
                  <a:srgbClr val="8A9BB5"/>
                </a:solidFill>
              </a:rPr>
              <a:t>Priorité moyenne
</a:t>
            </a:r>
            <a:r>
              <a:rPr lang="en-US" sz="1050" dirty="0">
                <a:solidFill>
                  <a:srgbClr val="3D4E6B"/>
                </a:solidFill>
              </a:rPr>
              <a:t>Extraire les </a:t>
            </a:r>
            <a:r>
              <a:rPr lang="en-US" sz="1050" dirty="0" err="1">
                <a:solidFill>
                  <a:srgbClr val="3D4E6B"/>
                </a:solidFill>
              </a:rPr>
              <a:t>composantes</a:t>
            </a:r>
            <a:r>
              <a:rPr lang="en-US" sz="1050" dirty="0">
                <a:solidFill>
                  <a:srgbClr val="3D4E6B"/>
                </a:solidFill>
              </a:rPr>
              <a:t> de la couche C2PSA (512 dims) + Random Forest entraîné sur 100-150 images annotées en sévérité → capture la texture des dommages.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044952"/>
            <a:ext cx="4114800" cy="1645920"/>
          </a:xfrm>
          <a:prstGeom prst="rect">
            <a:avLst/>
          </a:prstGeom>
          <a:solidFill>
            <a:srgbClr val="F4F7FC"/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4709160" y="3044952"/>
            <a:ext cx="457200" cy="1645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709160" y="3044952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57800" y="31363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Seuil de tolérance vote pondéré
</a:t>
            </a:r>
            <a:r>
              <a:rPr lang="en-US" sz="900" dirty="0">
                <a:solidFill>
                  <a:srgbClr val="8A9BB5"/>
                </a:solidFill>
              </a:rPr>
              <a:t>Correctif rapide
</a:t>
            </a:r>
            <a:r>
              <a:rPr lang="en-US" sz="1050" dirty="0">
                <a:solidFill>
                  <a:srgbClr val="3D4E6B"/>
                </a:solidFill>
              </a:rPr>
              <a:t>Si écart ≤ 1 point ET combinaison géographiquement compatible : produire une zone combine </a:t>
            </a:r>
            <a:r>
              <a:rPr lang="en-US" sz="1050" dirty="0" err="1">
                <a:solidFill>
                  <a:srgbClr val="3D4E6B"/>
                </a:solidFill>
              </a:rPr>
              <a:t>quand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même</a:t>
            </a:r>
            <a:r>
              <a:rPr lang="en-US" sz="1050" dirty="0">
                <a:solidFill>
                  <a:srgbClr val="3D4E6B"/>
                </a:solidFill>
              </a:rPr>
              <a:t>. </a:t>
            </a:r>
            <a:r>
              <a:rPr lang="en-US" sz="1050" dirty="0" err="1">
                <a:solidFill>
                  <a:srgbClr val="3D4E6B"/>
                </a:solidFill>
              </a:rPr>
              <a:t>Donc</a:t>
            </a:r>
            <a:r>
              <a:rPr lang="en-US" sz="1050" dirty="0">
                <a:solidFill>
                  <a:srgbClr val="3D4E6B"/>
                </a:solidFill>
              </a:rPr>
              <a:t> </a:t>
            </a:r>
            <a:r>
              <a:rPr lang="en-US" sz="1050" dirty="0" err="1">
                <a:solidFill>
                  <a:srgbClr val="3D4E6B"/>
                </a:solidFill>
              </a:rPr>
              <a:t>si</a:t>
            </a:r>
            <a:r>
              <a:rPr lang="en-US" sz="1050" dirty="0">
                <a:solidFill>
                  <a:srgbClr val="3D4E6B"/>
                </a:solidFill>
              </a:rPr>
              <a:t> le vote </a:t>
            </a:r>
            <a:r>
              <a:rPr lang="en-US" sz="1050" dirty="0" err="1">
                <a:solidFill>
                  <a:srgbClr val="3D4E6B"/>
                </a:solidFill>
              </a:rPr>
              <a:t>produit</a:t>
            </a:r>
            <a:r>
              <a:rPr lang="en-US" sz="1050" dirty="0">
                <a:solidFill>
                  <a:srgbClr val="3D4E6B"/>
                </a:solidFill>
              </a:rPr>
              <a:t> “arrière=5 vs gauche=4”, la zone </a:t>
            </a:r>
            <a:r>
              <a:rPr lang="en-US" sz="1050" dirty="0" err="1">
                <a:solidFill>
                  <a:srgbClr val="3D4E6B"/>
                </a:solidFill>
              </a:rPr>
              <a:t>est</a:t>
            </a:r>
            <a:r>
              <a:rPr lang="en-US" sz="1050" dirty="0">
                <a:solidFill>
                  <a:srgbClr val="3D4E6B"/>
                </a:solidFill>
              </a:rPr>
              <a:t> “ARRIERE-GAUCHE”.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5D4B1-8A85-F74A-3921-87519532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E42D18-FF07-C10F-767D-BA732341DE9B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AB836B-CDB4-176E-CCA0-4F417C29E90B}"/>
              </a:ext>
            </a:extLst>
          </p:cNvPr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E4F7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C25B67-2CAC-03AD-9108-4305D003C7B7}"/>
              </a:ext>
            </a:extLst>
          </p:cNvPr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761"/>
                </a:solidFill>
              </a:rPr>
              <a:t>Exemple</a:t>
            </a:r>
            <a:r>
              <a:rPr lang="en-US" sz="2400" b="1" dirty="0">
                <a:solidFill>
                  <a:srgbClr val="1E2761"/>
                </a:solidFill>
              </a:rPr>
              <a:t> </a:t>
            </a:r>
            <a:r>
              <a:rPr lang="en-US" sz="2400" b="1" dirty="0" err="1">
                <a:solidFill>
                  <a:srgbClr val="1E2761"/>
                </a:solidFill>
              </a:rPr>
              <a:t>complet</a:t>
            </a:r>
            <a:r>
              <a:rPr lang="en-US" sz="2400" b="1" dirty="0">
                <a:solidFill>
                  <a:srgbClr val="1E2761"/>
                </a:solidFill>
              </a:rPr>
              <a:t> avec rapport 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20F59C-20A0-5A02-872B-77EB6E0E7DBE}"/>
              </a:ext>
            </a:extLst>
          </p:cNvPr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1BFB88A4-5882-C228-D893-70CE5183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8720"/>
            <a:ext cx="6564086" cy="395478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F81A1655-041B-A8AC-1BB4-EC8D4A4EB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978" y="1188720"/>
            <a:ext cx="2533021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76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3200400" y="1645920"/>
            <a:ext cx="27432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Démonstration live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6E4F7"/>
                </a:solidFill>
              </a:rPr>
              <a:t>Pipeline exécuté en temps réel dans Google Colab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651760"/>
            <a:ext cx="5486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1920240" y="2651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</a:rPr>
              <a:t>Chargement des 3 modèles (YOLO11s v5 · Zone v3 · SEV)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192024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</a:rPr>
              <a:t>Upload </a:t>
            </a:r>
            <a:r>
              <a:rPr lang="en-US" sz="1300" dirty="0" err="1">
                <a:solidFill>
                  <a:srgbClr val="D6E4F7"/>
                </a:solidFill>
              </a:rPr>
              <a:t>d’une</a:t>
            </a:r>
            <a:r>
              <a:rPr lang="en-US" sz="1300" dirty="0">
                <a:solidFill>
                  <a:srgbClr val="D6E4F7"/>
                </a:solidFill>
              </a:rPr>
              <a:t> image 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192024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</a:rPr>
              <a:t>Inférence + affichage annoté + rapport automatique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09728" cy="2560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Merci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D6E4F7"/>
                </a:solidFill>
              </a:rPr>
              <a:t>Questions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6517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YOLO11s v5
</a:t>
            </a:r>
            <a:r>
              <a:rPr lang="en-US" sz="1400" b="1" dirty="0">
                <a:solidFill>
                  <a:srgbClr val="FFFFFF"/>
                </a:solidFill>
              </a:rPr>
              <a:t>mAP@0.5 = 0.769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200400"/>
            <a:ext cx="26517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3383280" y="3200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Classificateur zone v3
</a:t>
            </a:r>
            <a:r>
              <a:rPr lang="en-US" sz="1400" b="1" dirty="0">
                <a:solidFill>
                  <a:srgbClr val="FFFFFF"/>
                </a:solidFill>
              </a:rPr>
              <a:t>Accuracy = 82.8%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3200400"/>
            <a:ext cx="26517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6217920" y="3200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</a:rPr>
              <a:t>Modèle SEV
</a:t>
            </a:r>
            <a:r>
              <a:rPr lang="en-US" sz="1400" b="1" dirty="0">
                <a:solidFill>
                  <a:srgbClr val="FFFFFF"/>
                </a:solidFill>
              </a:rPr>
              <a:t>mAP@0.5 = 0.806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5"/>
                </a:solidFill>
              </a:rPr>
              <a:t>INF1022 — </a:t>
            </a:r>
            <a:r>
              <a:rPr lang="en-US" sz="1100" i="1" dirty="0" err="1">
                <a:solidFill>
                  <a:srgbClr val="8A9BB5"/>
                </a:solidFill>
              </a:rPr>
              <a:t>Projet</a:t>
            </a:r>
            <a:r>
              <a:rPr lang="en-US" sz="1100" i="1" dirty="0">
                <a:solidFill>
                  <a:srgbClr val="8A9BB5"/>
                </a:solidFill>
              </a:rPr>
              <a:t> de </a:t>
            </a:r>
            <a:r>
              <a:rPr lang="en-US" sz="1100" i="1" dirty="0" err="1">
                <a:solidFill>
                  <a:srgbClr val="8A9BB5"/>
                </a:solidFill>
              </a:rPr>
              <a:t>synthèse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2349</Words>
  <Application>Microsoft Office PowerPoint</Application>
  <PresentationFormat>Affichage à l'écran (16:9)</PresentationFormat>
  <Paragraphs>379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automatisée de dommages automobiles</dc:title>
  <dc:subject>PptxGenJS Presentation</dc:subject>
  <dc:creator>INF1022</dc:creator>
  <cp:lastModifiedBy>Poirier, Yannick</cp:lastModifiedBy>
  <cp:revision>7</cp:revision>
  <dcterms:created xsi:type="dcterms:W3CDTF">2026-04-03T18:17:54Z</dcterms:created>
  <dcterms:modified xsi:type="dcterms:W3CDTF">2026-04-29T07:39:40Z</dcterms:modified>
</cp:coreProperties>
</file>