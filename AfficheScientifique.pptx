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7" r:id="rId2"/>
  </p:sldIdLst>
  <p:sldSz cx="39600188" cy="32399288"/>
  <p:notesSz cx="32399288" cy="3960018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392B"/>
    <a:srgbClr val="2E86C1"/>
    <a:srgbClr val="1A2B5E"/>
    <a:srgbClr val="D45D0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966" autoAdjust="0"/>
    <p:restoredTop sz="94610"/>
  </p:normalViewPr>
  <p:slideViewPr>
    <p:cSldViewPr snapToGrid="0" snapToObjects="1">
      <p:cViewPr>
        <p:scale>
          <a:sx n="33" d="100"/>
          <a:sy n="33" d="100"/>
        </p:scale>
        <p:origin x="90" y="19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19766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2E20ED2-FC17-9C78-5D03-71921D138C54}"/>
              </a:ext>
            </a:extLst>
          </p:cNvPr>
          <p:cNvSpPr/>
          <p:nvPr/>
        </p:nvSpPr>
        <p:spPr>
          <a:xfrm>
            <a:off x="-1" y="0"/>
            <a:ext cx="39599921" cy="4389120"/>
          </a:xfrm>
          <a:prstGeom prst="rect">
            <a:avLst/>
          </a:prstGeom>
          <a:solidFill>
            <a:srgbClr val="1A2B5E"/>
          </a:solidFill>
          <a:ln w="12700">
            <a:solidFill>
              <a:srgbClr val="1A2B5E"/>
            </a:solidFill>
            <a:prstDash val="solid"/>
          </a:ln>
        </p:spPr>
        <p:txBody>
          <a:bodyPr/>
          <a:lstStyle/>
          <a:p>
            <a:endParaRPr lang="fr-CA"/>
          </a:p>
        </p:txBody>
      </p:sp>
      <p:sp>
        <p:nvSpPr>
          <p:cNvPr id="3" name="Shape 1">
            <a:extLst>
              <a:ext uri="{FF2B5EF4-FFF2-40B4-BE49-F238E27FC236}">
                <a16:creationId xmlns:a16="http://schemas.microsoft.com/office/drawing/2014/main" id="{CE862096-82CC-2479-9726-CE4642235F3B}"/>
              </a:ext>
            </a:extLst>
          </p:cNvPr>
          <p:cNvSpPr/>
          <p:nvPr/>
        </p:nvSpPr>
        <p:spPr>
          <a:xfrm>
            <a:off x="0" y="4069080"/>
            <a:ext cx="39599921" cy="320040"/>
          </a:xfrm>
          <a:prstGeom prst="rect">
            <a:avLst/>
          </a:prstGeom>
          <a:solidFill>
            <a:srgbClr val="2E86C1"/>
          </a:solidFill>
          <a:ln w="12700">
            <a:solidFill>
              <a:srgbClr val="2E86C1"/>
            </a:solidFill>
            <a:prstDash val="solid"/>
          </a:ln>
        </p:spPr>
        <p:txBody>
          <a:bodyPr/>
          <a:lstStyle/>
          <a:p>
            <a:endParaRPr lang="fr-CA"/>
          </a:p>
        </p:txBody>
      </p:sp>
      <p:sp>
        <p:nvSpPr>
          <p:cNvPr id="4" name="Text 2">
            <a:extLst>
              <a:ext uri="{FF2B5EF4-FFF2-40B4-BE49-F238E27FC236}">
                <a16:creationId xmlns:a16="http://schemas.microsoft.com/office/drawing/2014/main" id="{249391CF-667C-57D2-7C00-DD8F5622C57A}"/>
              </a:ext>
            </a:extLst>
          </p:cNvPr>
          <p:cNvSpPr/>
          <p:nvPr/>
        </p:nvSpPr>
        <p:spPr>
          <a:xfrm>
            <a:off x="-316839" y="348916"/>
            <a:ext cx="31983955" cy="2560320"/>
          </a:xfrm>
          <a:prstGeom prst="rect">
            <a:avLst/>
          </a:prstGeom>
          <a:noFill/>
          <a:ln/>
        </p:spPr>
        <p:txBody>
          <a:bodyPr wrap="square" rtlCol="0" anchor="ctr"/>
          <a:lstStyle/>
          <a:p>
            <a:pPr marL="0" indent="0" algn="ctr">
              <a:buNone/>
            </a:pPr>
            <a:r>
              <a:rPr lang="en-US" sz="6600" b="1" dirty="0">
                <a:solidFill>
                  <a:srgbClr val="FFFFFF"/>
                </a:solidFill>
                <a:latin typeface="Calibri" pitchFamily="34" charset="0"/>
                <a:ea typeface="Calibri" pitchFamily="34" charset="-122"/>
                <a:cs typeface="Calibri" pitchFamily="34" charset="-120"/>
              </a:rPr>
              <a:t>Détection automatisée de </a:t>
            </a:r>
            <a:r>
              <a:rPr lang="en-US" sz="6600" b="1" dirty="0" err="1">
                <a:solidFill>
                  <a:srgbClr val="FFFFFF"/>
                </a:solidFill>
                <a:latin typeface="Calibri" pitchFamily="34" charset="0"/>
                <a:ea typeface="Calibri" pitchFamily="34" charset="-122"/>
                <a:cs typeface="Calibri" pitchFamily="34" charset="-120"/>
              </a:rPr>
              <a:t>dégâts</a:t>
            </a:r>
            <a:r>
              <a:rPr lang="en-US" sz="6600" b="1" dirty="0">
                <a:solidFill>
                  <a:srgbClr val="FFFFFF"/>
                </a:solidFill>
                <a:latin typeface="Calibri" pitchFamily="34" charset="0"/>
                <a:ea typeface="Calibri" pitchFamily="34" charset="-122"/>
                <a:cs typeface="Calibri" pitchFamily="34" charset="-120"/>
              </a:rPr>
              <a:t> automobiles</a:t>
            </a:r>
            <a:r>
              <a:rPr lang="en-US" sz="6600" dirty="0"/>
              <a:t> </a:t>
            </a:r>
            <a:r>
              <a:rPr lang="en-US" sz="6600" b="1" dirty="0">
                <a:solidFill>
                  <a:srgbClr val="FFFFFF"/>
                </a:solidFill>
                <a:latin typeface="Calibri" pitchFamily="34" charset="0"/>
                <a:ea typeface="Calibri" pitchFamily="34" charset="-122"/>
                <a:cs typeface="Calibri" pitchFamily="34" charset="-120"/>
              </a:rPr>
              <a:t>par apprentissage profond</a:t>
            </a:r>
            <a:endParaRPr lang="en-US" sz="6600" dirty="0"/>
          </a:p>
        </p:txBody>
      </p:sp>
      <p:sp>
        <p:nvSpPr>
          <p:cNvPr id="5" name="Text 3">
            <a:extLst>
              <a:ext uri="{FF2B5EF4-FFF2-40B4-BE49-F238E27FC236}">
                <a16:creationId xmlns:a16="http://schemas.microsoft.com/office/drawing/2014/main" id="{CB1C2E78-9838-D749-2CE8-0F473AB397E3}"/>
              </a:ext>
            </a:extLst>
          </p:cNvPr>
          <p:cNvSpPr/>
          <p:nvPr/>
        </p:nvSpPr>
        <p:spPr>
          <a:xfrm>
            <a:off x="5047236" y="2442411"/>
            <a:ext cx="33375600" cy="1097280"/>
          </a:xfrm>
          <a:prstGeom prst="rect">
            <a:avLst/>
          </a:prstGeom>
          <a:noFill/>
          <a:ln/>
        </p:spPr>
        <p:txBody>
          <a:bodyPr wrap="square" rtlCol="0" anchor="ctr"/>
          <a:lstStyle/>
          <a:p>
            <a:r>
              <a:rPr lang="en-US" sz="3600" b="1" dirty="0">
                <a:solidFill>
                  <a:srgbClr val="D9E8F8"/>
                </a:solidFill>
                <a:latin typeface="Calibri" pitchFamily="34" charset="0"/>
                <a:ea typeface="Calibri" pitchFamily="34" charset="-122"/>
                <a:cs typeface="Calibri" pitchFamily="34" charset="-120"/>
              </a:rPr>
              <a:t>Yannick Poirier </a:t>
            </a:r>
            <a:r>
              <a:rPr lang="en-US" sz="3600" dirty="0">
                <a:solidFill>
                  <a:srgbClr val="D9E8F8"/>
                </a:solidFill>
                <a:latin typeface="Calibri" pitchFamily="34" charset="0"/>
                <a:ea typeface="Calibri" pitchFamily="34" charset="-122"/>
                <a:cs typeface="Calibri" pitchFamily="34" charset="-120"/>
              </a:rPr>
              <a:t>·  INF1022 — </a:t>
            </a:r>
            <a:r>
              <a:rPr lang="en-US" sz="3600" dirty="0" err="1">
                <a:solidFill>
                  <a:srgbClr val="D9E8F8"/>
                </a:solidFill>
                <a:latin typeface="Calibri" pitchFamily="34" charset="0"/>
                <a:ea typeface="Calibri" pitchFamily="34" charset="-122"/>
                <a:cs typeface="Calibri" pitchFamily="34" charset="-120"/>
              </a:rPr>
              <a:t>Projet</a:t>
            </a:r>
            <a:r>
              <a:rPr lang="en-US" sz="3600" dirty="0">
                <a:solidFill>
                  <a:srgbClr val="D9E8F8"/>
                </a:solidFill>
                <a:latin typeface="Calibri" pitchFamily="34" charset="0"/>
                <a:ea typeface="Calibri" pitchFamily="34" charset="-122"/>
                <a:cs typeface="Calibri" pitchFamily="34" charset="-120"/>
              </a:rPr>
              <a:t> de </a:t>
            </a:r>
            <a:r>
              <a:rPr lang="en-US" sz="3600" dirty="0" err="1">
                <a:solidFill>
                  <a:srgbClr val="D9E8F8"/>
                </a:solidFill>
                <a:latin typeface="Calibri" pitchFamily="34" charset="0"/>
                <a:ea typeface="Calibri" pitchFamily="34" charset="-122"/>
                <a:cs typeface="Calibri" pitchFamily="34" charset="-120"/>
              </a:rPr>
              <a:t>synthèse</a:t>
            </a:r>
            <a:r>
              <a:rPr lang="en-US" sz="3600" dirty="0">
                <a:solidFill>
                  <a:srgbClr val="D9E8F8"/>
                </a:solidFill>
                <a:latin typeface="Calibri" pitchFamily="34" charset="0"/>
                <a:ea typeface="Calibri" pitchFamily="34" charset="-122"/>
                <a:cs typeface="Calibri" pitchFamily="34" charset="-120"/>
              </a:rPr>
              <a:t> · Département Math-Info · </a:t>
            </a:r>
            <a:r>
              <a:rPr lang="en-US" sz="3600" i="1" dirty="0">
                <a:solidFill>
                  <a:srgbClr val="D9E8F8"/>
                </a:solidFill>
                <a:latin typeface="Calibri" pitchFamily="34" charset="0"/>
                <a:ea typeface="Calibri" pitchFamily="34" charset="-122"/>
                <a:cs typeface="Calibri" pitchFamily="34" charset="-120"/>
              </a:rPr>
              <a:t>Université du Québec à Trois-Rivières </a:t>
            </a:r>
            <a:endParaRPr lang="en-US" sz="3600" dirty="0"/>
          </a:p>
        </p:txBody>
      </p:sp>
      <p:sp>
        <p:nvSpPr>
          <p:cNvPr id="6" name="Shape 4">
            <a:extLst>
              <a:ext uri="{FF2B5EF4-FFF2-40B4-BE49-F238E27FC236}">
                <a16:creationId xmlns:a16="http://schemas.microsoft.com/office/drawing/2014/main" id="{BD82D472-1200-27A3-23F7-C5E9F63D5868}"/>
              </a:ext>
            </a:extLst>
          </p:cNvPr>
          <p:cNvSpPr/>
          <p:nvPr/>
        </p:nvSpPr>
        <p:spPr>
          <a:xfrm>
            <a:off x="32741921" y="502920"/>
            <a:ext cx="6217920" cy="3108960"/>
          </a:xfrm>
          <a:prstGeom prst="rect">
            <a:avLst/>
          </a:prstGeom>
          <a:solidFill>
            <a:srgbClr val="2E86C1"/>
          </a:solidFill>
          <a:ln w="12700">
            <a:solidFill>
              <a:schemeClr val="accent5">
                <a:lumMod val="75000"/>
              </a:schemeClr>
            </a:solidFill>
            <a:prstDash val="solid"/>
          </a:ln>
        </p:spPr>
        <p:txBody>
          <a:bodyPr/>
          <a:lstStyle/>
          <a:p>
            <a:endParaRPr lang="fr-CA"/>
          </a:p>
        </p:txBody>
      </p:sp>
      <p:sp>
        <p:nvSpPr>
          <p:cNvPr id="7" name="Text 5">
            <a:extLst>
              <a:ext uri="{FF2B5EF4-FFF2-40B4-BE49-F238E27FC236}">
                <a16:creationId xmlns:a16="http://schemas.microsoft.com/office/drawing/2014/main" id="{FDF08522-2A94-7747-9F29-BD37BAFB55FA}"/>
              </a:ext>
            </a:extLst>
          </p:cNvPr>
          <p:cNvSpPr/>
          <p:nvPr/>
        </p:nvSpPr>
        <p:spPr>
          <a:xfrm>
            <a:off x="48455164" y="-13735251"/>
            <a:ext cx="6217920" cy="3688862"/>
          </a:xfrm>
          <a:prstGeom prst="rect">
            <a:avLst/>
          </a:prstGeom>
          <a:noFill/>
          <a:ln/>
        </p:spPr>
        <p:txBody>
          <a:bodyPr wrap="square" rtlCol="0" anchor="ctr"/>
          <a:lstStyle/>
          <a:p>
            <a:pPr marL="0" indent="0" algn="ctr">
              <a:buNone/>
            </a:pPr>
            <a:endParaRPr lang="en-US" sz="3600" dirty="0"/>
          </a:p>
        </p:txBody>
      </p:sp>
      <p:pic>
        <p:nvPicPr>
          <p:cNvPr id="1026" name="Picture 2">
            <a:extLst>
              <a:ext uri="{FF2B5EF4-FFF2-40B4-BE49-F238E27FC236}">
                <a16:creationId xmlns:a16="http://schemas.microsoft.com/office/drawing/2014/main" id="{462E1C43-76AF-FF9B-EE2F-EC31CB9CE9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31293" y="1036754"/>
            <a:ext cx="5650830" cy="2192522"/>
          </a:xfrm>
          <a:prstGeom prst="rect">
            <a:avLst/>
          </a:prstGeom>
          <a:solidFill>
            <a:srgbClr val="2E86C1"/>
          </a:solidFill>
        </p:spPr>
      </p:pic>
      <p:sp>
        <p:nvSpPr>
          <p:cNvPr id="8" name="Shape 6">
            <a:extLst>
              <a:ext uri="{FF2B5EF4-FFF2-40B4-BE49-F238E27FC236}">
                <a16:creationId xmlns:a16="http://schemas.microsoft.com/office/drawing/2014/main" id="{E13DB5C6-2664-4CD8-7771-3CC0CD477BA5}"/>
              </a:ext>
            </a:extLst>
          </p:cNvPr>
          <p:cNvSpPr/>
          <p:nvPr/>
        </p:nvSpPr>
        <p:spPr>
          <a:xfrm>
            <a:off x="475488" y="4654296"/>
            <a:ext cx="12070080" cy="9899904"/>
          </a:xfrm>
          <a:prstGeom prst="rect">
            <a:avLst/>
          </a:prstGeom>
          <a:solidFill>
            <a:srgbClr val="FFFFFF"/>
          </a:solidFill>
          <a:ln w="12700">
            <a:solidFill>
              <a:srgbClr val="C5D3E8"/>
            </a:solidFill>
            <a:prstDash val="solid"/>
          </a:ln>
          <a:effectLst>
            <a:outerShdw blurRad="63500" dist="25400" dir="8100000" algn="bl" rotWithShape="0">
              <a:srgbClr val="000000">
                <a:alpha val="10000"/>
              </a:srgbClr>
            </a:outerShdw>
          </a:effectLst>
        </p:spPr>
        <p:txBody>
          <a:bodyPr/>
          <a:lstStyle/>
          <a:p>
            <a:endParaRPr lang="fr-CA"/>
          </a:p>
        </p:txBody>
      </p:sp>
      <p:sp>
        <p:nvSpPr>
          <p:cNvPr id="9" name="Shape 7">
            <a:extLst>
              <a:ext uri="{FF2B5EF4-FFF2-40B4-BE49-F238E27FC236}">
                <a16:creationId xmlns:a16="http://schemas.microsoft.com/office/drawing/2014/main" id="{737E9D91-5C1A-E293-7447-C6A8213A1DC0}"/>
              </a:ext>
            </a:extLst>
          </p:cNvPr>
          <p:cNvSpPr/>
          <p:nvPr/>
        </p:nvSpPr>
        <p:spPr>
          <a:xfrm>
            <a:off x="475488" y="4654296"/>
            <a:ext cx="12070080" cy="1234440"/>
          </a:xfrm>
          <a:prstGeom prst="rect">
            <a:avLst/>
          </a:prstGeom>
          <a:solidFill>
            <a:srgbClr val="1A2B5E"/>
          </a:solidFill>
          <a:ln w="12700">
            <a:solidFill>
              <a:srgbClr val="1A2B5E"/>
            </a:solidFill>
            <a:prstDash val="solid"/>
          </a:ln>
        </p:spPr>
        <p:txBody>
          <a:bodyPr/>
          <a:lstStyle/>
          <a:p>
            <a:endParaRPr lang="fr-CA"/>
          </a:p>
        </p:txBody>
      </p:sp>
      <p:sp>
        <p:nvSpPr>
          <p:cNvPr id="10" name="Text 8">
            <a:extLst>
              <a:ext uri="{FF2B5EF4-FFF2-40B4-BE49-F238E27FC236}">
                <a16:creationId xmlns:a16="http://schemas.microsoft.com/office/drawing/2014/main" id="{3C9F34C8-F3EF-5E6B-1564-E58D359FA669}"/>
              </a:ext>
            </a:extLst>
          </p:cNvPr>
          <p:cNvSpPr/>
          <p:nvPr/>
        </p:nvSpPr>
        <p:spPr>
          <a:xfrm>
            <a:off x="731520" y="4699535"/>
            <a:ext cx="11612880" cy="1234440"/>
          </a:xfrm>
          <a:prstGeom prst="rect">
            <a:avLst/>
          </a:prstGeom>
          <a:noFill/>
          <a:ln/>
        </p:spPr>
        <p:txBody>
          <a:bodyPr wrap="square"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Introduction</a:t>
            </a:r>
            <a:endParaRPr lang="en-US" sz="3200" dirty="0"/>
          </a:p>
        </p:txBody>
      </p:sp>
      <p:sp>
        <p:nvSpPr>
          <p:cNvPr id="11" name="Text 9">
            <a:extLst>
              <a:ext uri="{FF2B5EF4-FFF2-40B4-BE49-F238E27FC236}">
                <a16:creationId xmlns:a16="http://schemas.microsoft.com/office/drawing/2014/main" id="{CBB89B4A-D1DF-78BC-90E0-D1F36C5BB5A1}"/>
              </a:ext>
            </a:extLst>
          </p:cNvPr>
          <p:cNvSpPr/>
          <p:nvPr/>
        </p:nvSpPr>
        <p:spPr>
          <a:xfrm>
            <a:off x="731520" y="6217920"/>
            <a:ext cx="11612880" cy="1924812"/>
          </a:xfrm>
          <a:prstGeom prst="rect">
            <a:avLst/>
          </a:prstGeom>
          <a:noFill/>
          <a:ln/>
        </p:spPr>
        <p:txBody>
          <a:bodyPr wrap="square" rtlCol="0" anchor="t"/>
          <a:lstStyle/>
          <a:p>
            <a:pPr marL="0" indent="0" algn="just">
              <a:buNone/>
            </a:pPr>
            <a:r>
              <a:rPr lang="en-US" sz="2400" b="1" dirty="0">
                <a:solidFill>
                  <a:srgbClr val="1A2B5E"/>
                </a:solidFill>
                <a:latin typeface="Calibri" pitchFamily="34" charset="0"/>
                <a:ea typeface="Calibri" pitchFamily="34" charset="-122"/>
                <a:cs typeface="Calibri" pitchFamily="34" charset="-120"/>
              </a:rPr>
              <a:t>Contexte applicatif</a:t>
            </a:r>
            <a:r>
              <a:rPr lang="en-US" sz="1900" b="1" dirty="0">
                <a:solidFill>
                  <a:srgbClr val="1A2B5E"/>
                </a:solidFill>
                <a:latin typeface="Calibri" pitchFamily="34" charset="0"/>
                <a:ea typeface="Calibri" pitchFamily="34" charset="-122"/>
                <a:cs typeface="Calibri" pitchFamily="34" charset="-120"/>
              </a:rPr>
              <a:t>
</a:t>
            </a:r>
            <a:r>
              <a:rPr lang="en-US" sz="2200" dirty="0">
                <a:solidFill>
                  <a:srgbClr val="1C2833"/>
                </a:solidFill>
                <a:latin typeface="Calibri" pitchFamily="34" charset="0"/>
                <a:ea typeface="Calibri" pitchFamily="34" charset="-122"/>
                <a:cs typeface="Calibri" pitchFamily="34" charset="-120"/>
              </a:rPr>
              <a:t>L'inspection manuelle des véhicules accidentés est coûteuse, subjective et chronophage. L'apprentissage profond offre une voie vers l'automatisation partielle de cette tâche dans les domaines de l'assurance automobile, de la gestion des sinistres et de l'achat-vente de véhicules d'occasion.</a:t>
            </a:r>
            <a:endParaRPr lang="en-US" sz="2200" dirty="0"/>
          </a:p>
        </p:txBody>
      </p:sp>
      <p:sp>
        <p:nvSpPr>
          <p:cNvPr id="12" name="Shape 10">
            <a:extLst>
              <a:ext uri="{FF2B5EF4-FFF2-40B4-BE49-F238E27FC236}">
                <a16:creationId xmlns:a16="http://schemas.microsoft.com/office/drawing/2014/main" id="{5DFDE931-1F98-3002-5FA9-195BA5ABDCA6}"/>
              </a:ext>
            </a:extLst>
          </p:cNvPr>
          <p:cNvSpPr/>
          <p:nvPr/>
        </p:nvSpPr>
        <p:spPr>
          <a:xfrm>
            <a:off x="731520" y="8142732"/>
            <a:ext cx="11612880" cy="73152"/>
          </a:xfrm>
          <a:prstGeom prst="rect">
            <a:avLst/>
          </a:prstGeom>
          <a:solidFill>
            <a:srgbClr val="B8D0F0"/>
          </a:solidFill>
          <a:ln w="12700">
            <a:solidFill>
              <a:srgbClr val="B8D0F0"/>
            </a:solidFill>
            <a:prstDash val="solid"/>
          </a:ln>
        </p:spPr>
        <p:txBody>
          <a:bodyPr/>
          <a:lstStyle/>
          <a:p>
            <a:endParaRPr lang="fr-CA"/>
          </a:p>
        </p:txBody>
      </p:sp>
      <p:sp>
        <p:nvSpPr>
          <p:cNvPr id="13" name="Text 11">
            <a:extLst>
              <a:ext uri="{FF2B5EF4-FFF2-40B4-BE49-F238E27FC236}">
                <a16:creationId xmlns:a16="http://schemas.microsoft.com/office/drawing/2014/main" id="{FB2451AB-F0C0-FDB4-9B32-58953BE84A49}"/>
              </a:ext>
            </a:extLst>
          </p:cNvPr>
          <p:cNvSpPr/>
          <p:nvPr/>
        </p:nvSpPr>
        <p:spPr>
          <a:xfrm>
            <a:off x="731520" y="8407908"/>
            <a:ext cx="11612880" cy="1250442"/>
          </a:xfrm>
          <a:prstGeom prst="rect">
            <a:avLst/>
          </a:prstGeom>
          <a:noFill/>
          <a:ln/>
        </p:spPr>
        <p:txBody>
          <a:bodyPr wrap="square" rtlCol="0" anchor="t"/>
          <a:lstStyle/>
          <a:p>
            <a:pPr marL="0" indent="0" algn="just">
              <a:buNone/>
            </a:pPr>
            <a:r>
              <a:rPr lang="en-US" sz="2400" b="1" dirty="0">
                <a:solidFill>
                  <a:srgbClr val="1A2B5E"/>
                </a:solidFill>
                <a:latin typeface="Calibri" pitchFamily="34" charset="0"/>
                <a:ea typeface="Calibri" pitchFamily="34" charset="-122"/>
                <a:cs typeface="Calibri" pitchFamily="34" charset="-120"/>
              </a:rPr>
              <a:t>Question de recherche</a:t>
            </a:r>
            <a:r>
              <a:rPr lang="en-US" sz="1900" b="1" dirty="0">
                <a:solidFill>
                  <a:srgbClr val="1A2B5E"/>
                </a:solidFill>
                <a:latin typeface="Calibri" pitchFamily="34" charset="0"/>
                <a:ea typeface="Calibri" pitchFamily="34" charset="-122"/>
                <a:cs typeface="Calibri" pitchFamily="34" charset="-120"/>
              </a:rPr>
              <a:t>
</a:t>
            </a:r>
            <a:r>
              <a:rPr lang="en-US" sz="2200" i="1" dirty="0">
                <a:solidFill>
                  <a:srgbClr val="1C2833"/>
                </a:solidFill>
                <a:latin typeface="Calibri" pitchFamily="34" charset="0"/>
                <a:ea typeface="Calibri" pitchFamily="34" charset="-122"/>
                <a:cs typeface="Calibri" pitchFamily="34" charset="-120"/>
              </a:rPr>
              <a:t>Comment identifier automatiquement les pièces endommagées, localiser la zone d'impact et estimer la sévérité des dommages depuis une simple photographie d'un véhicule ?</a:t>
            </a:r>
            <a:endParaRPr lang="en-US" sz="2200" dirty="0"/>
          </a:p>
        </p:txBody>
      </p:sp>
      <p:sp>
        <p:nvSpPr>
          <p:cNvPr id="18" name="Shape 10">
            <a:extLst>
              <a:ext uri="{FF2B5EF4-FFF2-40B4-BE49-F238E27FC236}">
                <a16:creationId xmlns:a16="http://schemas.microsoft.com/office/drawing/2014/main" id="{BE03C258-EF43-687F-2232-D5BA2135CB1A}"/>
              </a:ext>
            </a:extLst>
          </p:cNvPr>
          <p:cNvSpPr/>
          <p:nvPr/>
        </p:nvSpPr>
        <p:spPr>
          <a:xfrm>
            <a:off x="731520" y="9749790"/>
            <a:ext cx="11612880" cy="73152"/>
          </a:xfrm>
          <a:prstGeom prst="rect">
            <a:avLst/>
          </a:prstGeom>
          <a:solidFill>
            <a:srgbClr val="B8D0F0"/>
          </a:solidFill>
          <a:ln w="12700">
            <a:solidFill>
              <a:srgbClr val="B8D0F0"/>
            </a:solidFill>
            <a:prstDash val="solid"/>
          </a:ln>
        </p:spPr>
        <p:txBody>
          <a:bodyPr/>
          <a:lstStyle/>
          <a:p>
            <a:endParaRPr lang="fr-CA"/>
          </a:p>
        </p:txBody>
      </p:sp>
      <p:sp>
        <p:nvSpPr>
          <p:cNvPr id="19" name="Text 12">
            <a:extLst>
              <a:ext uri="{FF2B5EF4-FFF2-40B4-BE49-F238E27FC236}">
                <a16:creationId xmlns:a16="http://schemas.microsoft.com/office/drawing/2014/main" id="{D43902AE-A1CF-95F0-6CAC-7D5800A44766}"/>
              </a:ext>
            </a:extLst>
          </p:cNvPr>
          <p:cNvSpPr/>
          <p:nvPr/>
        </p:nvSpPr>
        <p:spPr>
          <a:xfrm>
            <a:off x="731520" y="9973548"/>
            <a:ext cx="11612880" cy="548640"/>
          </a:xfrm>
          <a:prstGeom prst="rect">
            <a:avLst/>
          </a:prstGeom>
          <a:noFill/>
          <a:ln/>
        </p:spPr>
        <p:txBody>
          <a:bodyPr wrap="square" rtlCol="0" anchor="ctr"/>
          <a:lstStyle/>
          <a:p>
            <a:pPr marL="0" indent="0">
              <a:buNone/>
            </a:pPr>
            <a:r>
              <a:rPr lang="en-US" sz="2400" b="1" dirty="0">
                <a:solidFill>
                  <a:srgbClr val="1A2B5E"/>
                </a:solidFill>
                <a:latin typeface="Calibri" pitchFamily="34" charset="0"/>
                <a:ea typeface="Calibri" pitchFamily="34" charset="-122"/>
                <a:cs typeface="Calibri" pitchFamily="34" charset="-120"/>
              </a:rPr>
              <a:t>Cas </a:t>
            </a:r>
            <a:r>
              <a:rPr lang="en-US" sz="2400" b="1" dirty="0" err="1">
                <a:solidFill>
                  <a:srgbClr val="1A2B5E"/>
                </a:solidFill>
                <a:latin typeface="Calibri" pitchFamily="34" charset="0"/>
                <a:ea typeface="Calibri" pitchFamily="34" charset="-122"/>
                <a:cs typeface="Calibri" pitchFamily="34" charset="-120"/>
              </a:rPr>
              <a:t>d’usage</a:t>
            </a:r>
            <a:endParaRPr lang="en-US" sz="2400" dirty="0"/>
          </a:p>
        </p:txBody>
      </p:sp>
      <p:sp>
        <p:nvSpPr>
          <p:cNvPr id="20" name="Shape 13">
            <a:extLst>
              <a:ext uri="{FF2B5EF4-FFF2-40B4-BE49-F238E27FC236}">
                <a16:creationId xmlns:a16="http://schemas.microsoft.com/office/drawing/2014/main" id="{003589DF-0AA0-B216-E9FF-ACD98DD4A91C}"/>
              </a:ext>
            </a:extLst>
          </p:cNvPr>
          <p:cNvSpPr/>
          <p:nvPr/>
        </p:nvSpPr>
        <p:spPr>
          <a:xfrm>
            <a:off x="731520" y="10740714"/>
            <a:ext cx="11612880" cy="62802"/>
          </a:xfrm>
          <a:prstGeom prst="rect">
            <a:avLst/>
          </a:prstGeom>
          <a:solidFill>
            <a:srgbClr val="FFFFFF"/>
          </a:solidFill>
          <a:ln w="12700">
            <a:solidFill>
              <a:srgbClr val="FFFFFF"/>
            </a:solidFill>
            <a:prstDash val="solid"/>
          </a:ln>
        </p:spPr>
        <p:txBody>
          <a:bodyPr/>
          <a:lstStyle/>
          <a:p>
            <a:endParaRPr lang="fr-CA" sz="2200">
              <a:latin typeface="Calibri" panose="020F0502020204030204" pitchFamily="34" charset="0"/>
              <a:ea typeface="Calibri" panose="020F0502020204030204" pitchFamily="34" charset="0"/>
              <a:cs typeface="Calibri" panose="020F0502020204030204" pitchFamily="34" charset="0"/>
            </a:endParaRPr>
          </a:p>
        </p:txBody>
      </p:sp>
      <p:sp>
        <p:nvSpPr>
          <p:cNvPr id="21" name="Shape 14">
            <a:extLst>
              <a:ext uri="{FF2B5EF4-FFF2-40B4-BE49-F238E27FC236}">
                <a16:creationId xmlns:a16="http://schemas.microsoft.com/office/drawing/2014/main" id="{8A8E1D44-DF46-A530-D009-01BDE8ACA5B6}"/>
              </a:ext>
            </a:extLst>
          </p:cNvPr>
          <p:cNvSpPr/>
          <p:nvPr/>
        </p:nvSpPr>
        <p:spPr>
          <a:xfrm>
            <a:off x="731520" y="10740714"/>
            <a:ext cx="11612880" cy="62802"/>
          </a:xfrm>
          <a:prstGeom prst="rect">
            <a:avLst/>
          </a:prstGeom>
          <a:solidFill>
            <a:srgbClr val="FFFFFF"/>
          </a:solidFill>
          <a:ln w="12700">
            <a:solidFill>
              <a:srgbClr val="FFFFFF"/>
            </a:solidFill>
            <a:prstDash val="solid"/>
          </a:ln>
        </p:spPr>
        <p:txBody>
          <a:bodyPr/>
          <a:lstStyle/>
          <a:p>
            <a:endParaRPr lang="fr-CA" sz="2200">
              <a:latin typeface="Calibri" panose="020F0502020204030204" pitchFamily="34" charset="0"/>
              <a:ea typeface="Calibri" panose="020F0502020204030204" pitchFamily="34" charset="0"/>
              <a:cs typeface="Calibri" panose="020F0502020204030204" pitchFamily="34" charset="0"/>
            </a:endParaRPr>
          </a:p>
        </p:txBody>
      </p:sp>
      <p:sp>
        <p:nvSpPr>
          <p:cNvPr id="22" name="Shape 15">
            <a:extLst>
              <a:ext uri="{FF2B5EF4-FFF2-40B4-BE49-F238E27FC236}">
                <a16:creationId xmlns:a16="http://schemas.microsoft.com/office/drawing/2014/main" id="{A315A944-9892-5040-D612-570E4673D1C5}"/>
              </a:ext>
            </a:extLst>
          </p:cNvPr>
          <p:cNvSpPr/>
          <p:nvPr/>
        </p:nvSpPr>
        <p:spPr>
          <a:xfrm>
            <a:off x="731520" y="10740714"/>
            <a:ext cx="11612880" cy="62802"/>
          </a:xfrm>
          <a:prstGeom prst="rect">
            <a:avLst/>
          </a:prstGeom>
          <a:solidFill>
            <a:srgbClr val="FFFFFF"/>
          </a:solidFill>
          <a:ln w="12700">
            <a:solidFill>
              <a:srgbClr val="FFFFFF"/>
            </a:solidFill>
            <a:prstDash val="solid"/>
          </a:ln>
        </p:spPr>
        <p:txBody>
          <a:bodyPr/>
          <a:lstStyle/>
          <a:p>
            <a:endParaRPr lang="fr-CA" sz="2200">
              <a:latin typeface="Calibri" panose="020F0502020204030204" pitchFamily="34" charset="0"/>
              <a:ea typeface="Calibri" panose="020F0502020204030204" pitchFamily="34" charset="0"/>
              <a:cs typeface="Calibri" panose="020F0502020204030204" pitchFamily="34" charset="0"/>
            </a:endParaRPr>
          </a:p>
        </p:txBody>
      </p:sp>
      <p:sp>
        <p:nvSpPr>
          <p:cNvPr id="23" name="Shape 16">
            <a:extLst>
              <a:ext uri="{FF2B5EF4-FFF2-40B4-BE49-F238E27FC236}">
                <a16:creationId xmlns:a16="http://schemas.microsoft.com/office/drawing/2014/main" id="{F55086D8-49BF-AA7E-40E4-9FB0C2E19213}"/>
              </a:ext>
            </a:extLst>
          </p:cNvPr>
          <p:cNvSpPr/>
          <p:nvPr/>
        </p:nvSpPr>
        <p:spPr>
          <a:xfrm>
            <a:off x="731520" y="10740715"/>
            <a:ext cx="11612880" cy="1119378"/>
          </a:xfrm>
          <a:prstGeom prst="rect">
            <a:avLst/>
          </a:prstGeom>
          <a:solidFill>
            <a:srgbClr val="F4F7FC"/>
          </a:solidFill>
          <a:ln w="12700">
            <a:solidFill>
              <a:srgbClr val="C5D3E8"/>
            </a:solidFill>
            <a:prstDash val="solid"/>
          </a:ln>
          <a:effectLst>
            <a:outerShdw blurRad="63500" dist="25400" dir="8100000" algn="bl" rotWithShape="0">
              <a:srgbClr val="000000">
                <a:alpha val="10000"/>
              </a:srgbClr>
            </a:outerShdw>
          </a:effectLst>
        </p:spPr>
        <p:txBody>
          <a:bodyPr/>
          <a:lstStyle/>
          <a:p>
            <a:endParaRPr lang="fr-CA" sz="2200">
              <a:latin typeface="Calibri" panose="020F0502020204030204" pitchFamily="34" charset="0"/>
              <a:ea typeface="Calibri" panose="020F0502020204030204" pitchFamily="34" charset="0"/>
              <a:cs typeface="Calibri" panose="020F0502020204030204" pitchFamily="34" charset="0"/>
            </a:endParaRPr>
          </a:p>
        </p:txBody>
      </p:sp>
      <p:sp>
        <p:nvSpPr>
          <p:cNvPr id="24" name="Shape 17">
            <a:extLst>
              <a:ext uri="{FF2B5EF4-FFF2-40B4-BE49-F238E27FC236}">
                <a16:creationId xmlns:a16="http://schemas.microsoft.com/office/drawing/2014/main" id="{B10C6175-DF17-3B2C-BD6D-FA78EA9D9EFD}"/>
              </a:ext>
            </a:extLst>
          </p:cNvPr>
          <p:cNvSpPr/>
          <p:nvPr/>
        </p:nvSpPr>
        <p:spPr>
          <a:xfrm>
            <a:off x="731520" y="10740715"/>
            <a:ext cx="182880" cy="1119378"/>
          </a:xfrm>
          <a:prstGeom prst="rect">
            <a:avLst/>
          </a:prstGeom>
          <a:solidFill>
            <a:srgbClr val="1A2B5E"/>
          </a:solidFill>
          <a:ln w="12700">
            <a:solidFill>
              <a:srgbClr val="1A2B5E"/>
            </a:solidFill>
            <a:prstDash val="solid"/>
          </a:ln>
        </p:spPr>
        <p:txBody>
          <a:bodyPr/>
          <a:lstStyle/>
          <a:p>
            <a:endParaRPr lang="fr-CA" sz="2200">
              <a:latin typeface="Calibri" panose="020F0502020204030204" pitchFamily="34" charset="0"/>
              <a:ea typeface="Calibri" panose="020F0502020204030204" pitchFamily="34" charset="0"/>
              <a:cs typeface="Calibri" panose="020F0502020204030204" pitchFamily="34" charset="0"/>
            </a:endParaRPr>
          </a:p>
        </p:txBody>
      </p:sp>
      <p:sp>
        <p:nvSpPr>
          <p:cNvPr id="25" name="Text 18">
            <a:extLst>
              <a:ext uri="{FF2B5EF4-FFF2-40B4-BE49-F238E27FC236}">
                <a16:creationId xmlns:a16="http://schemas.microsoft.com/office/drawing/2014/main" id="{E20A372B-1647-02AF-B125-F1C541075F92}"/>
              </a:ext>
            </a:extLst>
          </p:cNvPr>
          <p:cNvSpPr/>
          <p:nvPr/>
        </p:nvSpPr>
        <p:spPr>
          <a:xfrm>
            <a:off x="1005840" y="10804723"/>
            <a:ext cx="11247120" cy="777346"/>
          </a:xfrm>
          <a:prstGeom prst="rect">
            <a:avLst/>
          </a:prstGeom>
          <a:noFill/>
          <a:ln/>
        </p:spPr>
        <p:txBody>
          <a:bodyPr wrap="square" rtlCol="0" anchor="ctr"/>
          <a:lstStyle/>
          <a:p>
            <a:pPr marL="0" indent="0">
              <a:buNone/>
            </a:pPr>
            <a:r>
              <a:rPr lang="en-US" sz="2200" b="1" dirty="0">
                <a:solidFill>
                  <a:srgbClr val="1A2B5E"/>
                </a:solidFill>
                <a:latin typeface="Calibri" panose="020F0502020204030204" pitchFamily="34" charset="0"/>
                <a:ea typeface="Calibri" panose="020F0502020204030204" pitchFamily="34" charset="0"/>
                <a:cs typeface="Calibri" panose="020F0502020204030204" pitchFamily="34" charset="0"/>
              </a:rPr>
              <a:t>Assurance</a:t>
            </a:r>
            <a:endParaRPr lang="en-US" sz="2200" dirty="0">
              <a:solidFill>
                <a:srgbClr val="1A2B5E"/>
              </a:solidFill>
              <a:latin typeface="Calibri" panose="020F0502020204030204" pitchFamily="34" charset="0"/>
              <a:ea typeface="Calibri" panose="020F0502020204030204" pitchFamily="34" charset="0"/>
              <a:cs typeface="Calibri" panose="020F0502020204030204" pitchFamily="34" charset="0"/>
            </a:endParaRPr>
          </a:p>
        </p:txBody>
      </p:sp>
      <p:sp>
        <p:nvSpPr>
          <p:cNvPr id="26" name="Text 19">
            <a:extLst>
              <a:ext uri="{FF2B5EF4-FFF2-40B4-BE49-F238E27FC236}">
                <a16:creationId xmlns:a16="http://schemas.microsoft.com/office/drawing/2014/main" id="{E18039F0-4B40-DB8D-FDC5-C65873C74479}"/>
              </a:ext>
            </a:extLst>
          </p:cNvPr>
          <p:cNvSpPr/>
          <p:nvPr/>
        </p:nvSpPr>
        <p:spPr>
          <a:xfrm>
            <a:off x="1005840" y="11261923"/>
            <a:ext cx="11247120" cy="384154"/>
          </a:xfrm>
          <a:prstGeom prst="rect">
            <a:avLst/>
          </a:prstGeom>
          <a:noFill/>
          <a:ln/>
        </p:spPr>
        <p:txBody>
          <a:bodyPr wrap="square" rtlCol="0" anchor="t"/>
          <a:lstStyle/>
          <a:p>
            <a:r>
              <a:rPr lang="en-US" sz="2400" dirty="0" err="1">
                <a:solidFill>
                  <a:srgbClr val="3D4E6B"/>
                </a:solidFill>
                <a:latin typeface="Calibri" panose="020F0502020204030204" pitchFamily="34" charset="0"/>
                <a:ea typeface="Calibri" panose="020F0502020204030204" pitchFamily="34" charset="0"/>
                <a:cs typeface="Calibri" panose="020F0502020204030204" pitchFamily="34" charset="0"/>
              </a:rPr>
              <a:t>Automatiser</a:t>
            </a:r>
            <a:r>
              <a:rPr lang="en-US" sz="2400" dirty="0">
                <a:solidFill>
                  <a:srgbClr val="3D4E6B"/>
                </a:solidFill>
                <a:latin typeface="Calibri" panose="020F0502020204030204" pitchFamily="34" charset="0"/>
                <a:ea typeface="Calibri" panose="020F0502020204030204" pitchFamily="34" charset="0"/>
                <a:cs typeface="Calibri" panose="020F0502020204030204" pitchFamily="34" charset="0"/>
              </a:rPr>
              <a:t> </a:t>
            </a:r>
            <a:r>
              <a:rPr lang="en-US" sz="2400" dirty="0" err="1">
                <a:solidFill>
                  <a:srgbClr val="3D4E6B"/>
                </a:solidFill>
                <a:latin typeface="Calibri" panose="020F0502020204030204" pitchFamily="34" charset="0"/>
                <a:ea typeface="Calibri" panose="020F0502020204030204" pitchFamily="34" charset="0"/>
                <a:cs typeface="Calibri" panose="020F0502020204030204" pitchFamily="34" charset="0"/>
              </a:rPr>
              <a:t>l’expertise</a:t>
            </a:r>
            <a:r>
              <a:rPr lang="en-US" sz="2400" dirty="0">
                <a:solidFill>
                  <a:srgbClr val="3D4E6B"/>
                </a:solidFill>
                <a:latin typeface="Calibri" panose="020F0502020204030204" pitchFamily="34" charset="0"/>
                <a:ea typeface="Calibri" panose="020F0502020204030204" pitchFamily="34" charset="0"/>
                <a:cs typeface="Calibri" panose="020F0502020204030204" pitchFamily="34" charset="0"/>
              </a:rPr>
              <a:t> des </a:t>
            </a:r>
            <a:r>
              <a:rPr lang="en-US" sz="2400" dirty="0" err="1">
                <a:solidFill>
                  <a:srgbClr val="3D4E6B"/>
                </a:solidFill>
                <a:latin typeface="Calibri" panose="020F0502020204030204" pitchFamily="34" charset="0"/>
                <a:ea typeface="Calibri" panose="020F0502020204030204" pitchFamily="34" charset="0"/>
                <a:cs typeface="Calibri" panose="020F0502020204030204" pitchFamily="34" charset="0"/>
              </a:rPr>
              <a:t>sinistres</a:t>
            </a:r>
            <a:r>
              <a:rPr lang="en-US" sz="2400" dirty="0">
                <a:solidFill>
                  <a:srgbClr val="3D4E6B"/>
                </a:solidFill>
                <a:latin typeface="Calibri" panose="020F0502020204030204" pitchFamily="34" charset="0"/>
                <a:ea typeface="Calibri" panose="020F0502020204030204" pitchFamily="34" charset="0"/>
                <a:cs typeface="Calibri" panose="020F0502020204030204" pitchFamily="34" charset="0"/>
              </a:rPr>
              <a:t> </a:t>
            </a:r>
            <a:r>
              <a:rPr lang="en-US" sz="2400" dirty="0" err="1">
                <a:solidFill>
                  <a:srgbClr val="3D4E6B"/>
                </a:solidFill>
                <a:latin typeface="Calibri" panose="020F0502020204030204" pitchFamily="34" charset="0"/>
                <a:ea typeface="Calibri" panose="020F0502020204030204" pitchFamily="34" charset="0"/>
                <a:cs typeface="Calibri" panose="020F0502020204030204" pitchFamily="34" charset="0"/>
              </a:rPr>
              <a:t>permet</a:t>
            </a:r>
            <a:r>
              <a:rPr lang="en-US" sz="2400" dirty="0">
                <a:solidFill>
                  <a:srgbClr val="3D4E6B"/>
                </a:solidFill>
                <a:latin typeface="Calibri" panose="020F0502020204030204" pitchFamily="34" charset="0"/>
                <a:ea typeface="Calibri" panose="020F0502020204030204" pitchFamily="34" charset="0"/>
                <a:cs typeface="Calibri" panose="020F0502020204030204" pitchFamily="34" charset="0"/>
              </a:rPr>
              <a:t> de </a:t>
            </a:r>
            <a:r>
              <a:rPr lang="en-US" sz="2400" dirty="0" err="1">
                <a:solidFill>
                  <a:srgbClr val="3D4E6B"/>
                </a:solidFill>
                <a:latin typeface="Calibri" panose="020F0502020204030204" pitchFamily="34" charset="0"/>
                <a:ea typeface="Calibri" panose="020F0502020204030204" pitchFamily="34" charset="0"/>
                <a:cs typeface="Calibri" panose="020F0502020204030204" pitchFamily="34" charset="0"/>
              </a:rPr>
              <a:t>réduire</a:t>
            </a:r>
            <a:r>
              <a:rPr lang="en-US" sz="2400" dirty="0">
                <a:solidFill>
                  <a:srgbClr val="3D4E6B"/>
                </a:solidFill>
                <a:latin typeface="Calibri" panose="020F0502020204030204" pitchFamily="34" charset="0"/>
                <a:ea typeface="Calibri" panose="020F0502020204030204" pitchFamily="34" charset="0"/>
                <a:cs typeface="Calibri" panose="020F0502020204030204" pitchFamily="34" charset="0"/>
              </a:rPr>
              <a:t> les </a:t>
            </a:r>
            <a:r>
              <a:rPr lang="en-US" sz="2400" dirty="0" err="1">
                <a:solidFill>
                  <a:srgbClr val="3D4E6B"/>
                </a:solidFill>
                <a:latin typeface="Calibri" panose="020F0502020204030204" pitchFamily="34" charset="0"/>
                <a:ea typeface="Calibri" panose="020F0502020204030204" pitchFamily="34" charset="0"/>
                <a:cs typeface="Calibri" panose="020F0502020204030204" pitchFamily="34" charset="0"/>
              </a:rPr>
              <a:t>délais</a:t>
            </a:r>
            <a:r>
              <a:rPr lang="en-US" sz="2400" dirty="0">
                <a:solidFill>
                  <a:srgbClr val="3D4E6B"/>
                </a:solidFill>
                <a:latin typeface="Calibri" panose="020F0502020204030204" pitchFamily="34" charset="0"/>
                <a:ea typeface="Calibri" panose="020F0502020204030204" pitchFamily="34" charset="0"/>
                <a:cs typeface="Calibri" panose="020F0502020204030204" pitchFamily="34" charset="0"/>
              </a:rPr>
              <a:t> et les </a:t>
            </a:r>
            <a:r>
              <a:rPr lang="en-US" sz="2400" dirty="0" err="1">
                <a:solidFill>
                  <a:srgbClr val="3D4E6B"/>
                </a:solidFill>
                <a:latin typeface="Calibri" panose="020F0502020204030204" pitchFamily="34" charset="0"/>
                <a:ea typeface="Calibri" panose="020F0502020204030204" pitchFamily="34" charset="0"/>
                <a:cs typeface="Calibri" panose="020F0502020204030204" pitchFamily="34" charset="0"/>
              </a:rPr>
              <a:t>coûts</a:t>
            </a:r>
            <a:r>
              <a:rPr lang="en-US" sz="2400" dirty="0">
                <a:solidFill>
                  <a:srgbClr val="3D4E6B"/>
                </a:solidFill>
                <a:latin typeface="Calibri" panose="020F0502020204030204" pitchFamily="34" charset="0"/>
                <a:ea typeface="Calibri" panose="020F0502020204030204" pitchFamily="34" charset="0"/>
                <a:cs typeface="Calibri" panose="020F0502020204030204" pitchFamily="34" charset="0"/>
              </a:rPr>
              <a:t> </a:t>
            </a:r>
            <a:r>
              <a:rPr lang="en-US" sz="2400" dirty="0" err="1">
                <a:solidFill>
                  <a:srgbClr val="3D4E6B"/>
                </a:solidFill>
                <a:latin typeface="Calibri" panose="020F0502020204030204" pitchFamily="34" charset="0"/>
                <a:ea typeface="Calibri" panose="020F0502020204030204" pitchFamily="34" charset="0"/>
                <a:cs typeface="Calibri" panose="020F0502020204030204" pitchFamily="34" charset="0"/>
              </a:rPr>
              <a:t>d’inspection</a:t>
            </a: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
        <p:nvSpPr>
          <p:cNvPr id="27" name="Shape 20">
            <a:extLst>
              <a:ext uri="{FF2B5EF4-FFF2-40B4-BE49-F238E27FC236}">
                <a16:creationId xmlns:a16="http://schemas.microsoft.com/office/drawing/2014/main" id="{787A3611-FC0E-4E44-4B22-48A208EFB1DF}"/>
              </a:ext>
            </a:extLst>
          </p:cNvPr>
          <p:cNvSpPr/>
          <p:nvPr/>
        </p:nvSpPr>
        <p:spPr>
          <a:xfrm>
            <a:off x="731520" y="11953933"/>
            <a:ext cx="11612880" cy="1119378"/>
          </a:xfrm>
          <a:prstGeom prst="rect">
            <a:avLst/>
          </a:prstGeom>
          <a:solidFill>
            <a:srgbClr val="F4F7FC"/>
          </a:solidFill>
          <a:ln w="12700">
            <a:solidFill>
              <a:srgbClr val="C5D3E8"/>
            </a:solidFill>
            <a:prstDash val="solid"/>
          </a:ln>
          <a:effectLst>
            <a:outerShdw blurRad="63500" dist="25400" dir="8100000" algn="bl" rotWithShape="0">
              <a:srgbClr val="000000">
                <a:alpha val="10000"/>
              </a:srgbClr>
            </a:outerShdw>
          </a:effectLst>
        </p:spPr>
        <p:txBody>
          <a:bodyPr/>
          <a:lstStyle/>
          <a:p>
            <a:endParaRPr lang="fr-CA" sz="2200">
              <a:latin typeface="Calibri" panose="020F0502020204030204" pitchFamily="34" charset="0"/>
              <a:ea typeface="Calibri" panose="020F0502020204030204" pitchFamily="34" charset="0"/>
              <a:cs typeface="Calibri" panose="020F0502020204030204" pitchFamily="34" charset="0"/>
            </a:endParaRPr>
          </a:p>
        </p:txBody>
      </p:sp>
      <p:sp>
        <p:nvSpPr>
          <p:cNvPr id="28" name="Shape 21">
            <a:extLst>
              <a:ext uri="{FF2B5EF4-FFF2-40B4-BE49-F238E27FC236}">
                <a16:creationId xmlns:a16="http://schemas.microsoft.com/office/drawing/2014/main" id="{D61FBAC3-8437-E470-9670-5C02D5847157}"/>
              </a:ext>
            </a:extLst>
          </p:cNvPr>
          <p:cNvSpPr/>
          <p:nvPr/>
        </p:nvSpPr>
        <p:spPr>
          <a:xfrm>
            <a:off x="731520" y="11953933"/>
            <a:ext cx="182880" cy="1119378"/>
          </a:xfrm>
          <a:prstGeom prst="rect">
            <a:avLst/>
          </a:prstGeom>
          <a:solidFill>
            <a:schemeClr val="accent5">
              <a:lumMod val="75000"/>
            </a:schemeClr>
          </a:solidFill>
          <a:ln w="12700">
            <a:solidFill>
              <a:schemeClr val="accent1">
                <a:lumMod val="75000"/>
              </a:schemeClr>
            </a:solidFill>
            <a:prstDash val="solid"/>
          </a:ln>
        </p:spPr>
        <p:txBody>
          <a:bodyPr/>
          <a:lstStyle/>
          <a:p>
            <a:endParaRPr lang="fr-CA" sz="2200">
              <a:latin typeface="Calibri" panose="020F0502020204030204" pitchFamily="34" charset="0"/>
              <a:ea typeface="Calibri" panose="020F0502020204030204" pitchFamily="34" charset="0"/>
              <a:cs typeface="Calibri" panose="020F0502020204030204" pitchFamily="34" charset="0"/>
            </a:endParaRPr>
          </a:p>
        </p:txBody>
      </p:sp>
      <p:sp>
        <p:nvSpPr>
          <p:cNvPr id="29" name="Text 22">
            <a:extLst>
              <a:ext uri="{FF2B5EF4-FFF2-40B4-BE49-F238E27FC236}">
                <a16:creationId xmlns:a16="http://schemas.microsoft.com/office/drawing/2014/main" id="{619708FC-2930-BBFE-B71C-CFBC22D29CEA}"/>
              </a:ext>
            </a:extLst>
          </p:cNvPr>
          <p:cNvSpPr/>
          <p:nvPr/>
        </p:nvSpPr>
        <p:spPr>
          <a:xfrm>
            <a:off x="1005840" y="12017941"/>
            <a:ext cx="11247120" cy="777346"/>
          </a:xfrm>
          <a:prstGeom prst="rect">
            <a:avLst/>
          </a:prstGeom>
          <a:noFill/>
          <a:ln/>
        </p:spPr>
        <p:txBody>
          <a:bodyPr wrap="square" rtlCol="0" anchor="ctr"/>
          <a:lstStyle/>
          <a:p>
            <a:pPr marL="0" indent="0">
              <a:buNone/>
            </a:pPr>
            <a:r>
              <a:rPr lang="en-US" sz="2200" b="1"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t>Vente véhicule </a:t>
            </a:r>
            <a:r>
              <a:rPr lang="en-US" sz="2200" b="1" dirty="0" err="1">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t>d’occasion</a:t>
            </a:r>
            <a:endParaRPr lang="en-US" sz="2200"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30" name="Text 23">
            <a:extLst>
              <a:ext uri="{FF2B5EF4-FFF2-40B4-BE49-F238E27FC236}">
                <a16:creationId xmlns:a16="http://schemas.microsoft.com/office/drawing/2014/main" id="{F1E90BBD-2050-0128-C451-8785EBEA8687}"/>
              </a:ext>
            </a:extLst>
          </p:cNvPr>
          <p:cNvSpPr/>
          <p:nvPr/>
        </p:nvSpPr>
        <p:spPr>
          <a:xfrm>
            <a:off x="1005840" y="12475141"/>
            <a:ext cx="11247120" cy="108828"/>
          </a:xfrm>
          <a:prstGeom prst="rect">
            <a:avLst/>
          </a:prstGeom>
          <a:noFill/>
          <a:ln/>
        </p:spPr>
        <p:txBody>
          <a:bodyPr wrap="square" rtlCol="0" anchor="t"/>
          <a:lstStyle/>
          <a:p>
            <a:r>
              <a:rPr lang="en-US" sz="2400" dirty="0" err="1">
                <a:solidFill>
                  <a:srgbClr val="3D4E6B"/>
                </a:solidFill>
                <a:latin typeface="Calibri" panose="020F0502020204030204" pitchFamily="34" charset="0"/>
                <a:ea typeface="Calibri" panose="020F0502020204030204" pitchFamily="34" charset="0"/>
                <a:cs typeface="Calibri" panose="020F0502020204030204" pitchFamily="34" charset="0"/>
              </a:rPr>
              <a:t>Évaluer</a:t>
            </a:r>
            <a:r>
              <a:rPr lang="en-US" sz="2400" dirty="0">
                <a:solidFill>
                  <a:srgbClr val="3D4E6B"/>
                </a:solidFill>
                <a:latin typeface="Calibri" panose="020F0502020204030204" pitchFamily="34" charset="0"/>
                <a:ea typeface="Calibri" panose="020F0502020204030204" pitchFamily="34" charset="0"/>
                <a:cs typeface="Calibri" panose="020F0502020204030204" pitchFamily="34" charset="0"/>
              </a:rPr>
              <a:t> </a:t>
            </a:r>
            <a:r>
              <a:rPr lang="en-US" sz="2400" dirty="0" err="1">
                <a:solidFill>
                  <a:srgbClr val="3D4E6B"/>
                </a:solidFill>
                <a:latin typeface="Calibri" panose="020F0502020204030204" pitchFamily="34" charset="0"/>
                <a:ea typeface="Calibri" panose="020F0502020204030204" pitchFamily="34" charset="0"/>
                <a:cs typeface="Calibri" panose="020F0502020204030204" pitchFamily="34" charset="0"/>
              </a:rPr>
              <a:t>objectivement</a:t>
            </a:r>
            <a:r>
              <a:rPr lang="en-US" sz="2400" dirty="0">
                <a:solidFill>
                  <a:srgbClr val="3D4E6B"/>
                </a:solidFill>
                <a:latin typeface="Calibri" panose="020F0502020204030204" pitchFamily="34" charset="0"/>
                <a:ea typeface="Calibri" panose="020F0502020204030204" pitchFamily="34" charset="0"/>
                <a:cs typeface="Calibri" panose="020F0502020204030204" pitchFamily="34" charset="0"/>
              </a:rPr>
              <a:t> </a:t>
            </a:r>
            <a:r>
              <a:rPr lang="en-US" sz="2400" dirty="0" err="1">
                <a:solidFill>
                  <a:srgbClr val="3D4E6B"/>
                </a:solidFill>
                <a:latin typeface="Calibri" panose="020F0502020204030204" pitchFamily="34" charset="0"/>
                <a:ea typeface="Calibri" panose="020F0502020204030204" pitchFamily="34" charset="0"/>
                <a:cs typeface="Calibri" panose="020F0502020204030204" pitchFamily="34" charset="0"/>
              </a:rPr>
              <a:t>l’état</a:t>
            </a:r>
            <a:r>
              <a:rPr lang="en-US" sz="2400" dirty="0">
                <a:solidFill>
                  <a:srgbClr val="3D4E6B"/>
                </a:solidFill>
                <a:latin typeface="Calibri" panose="020F0502020204030204" pitchFamily="34" charset="0"/>
                <a:ea typeface="Calibri" panose="020F0502020204030204" pitchFamily="34" charset="0"/>
                <a:cs typeface="Calibri" panose="020F0502020204030204" pitchFamily="34" charset="0"/>
              </a:rPr>
              <a:t> d'un véhicule sans inspection physique </a:t>
            </a:r>
            <a:r>
              <a:rPr lang="en-US" sz="2400" dirty="0" err="1">
                <a:solidFill>
                  <a:srgbClr val="3D4E6B"/>
                </a:solidFill>
                <a:latin typeface="Calibri" panose="020F0502020204030204" pitchFamily="34" charset="0"/>
                <a:ea typeface="Calibri" panose="020F0502020204030204" pitchFamily="34" charset="0"/>
                <a:cs typeface="Calibri" panose="020F0502020204030204" pitchFamily="34" charset="0"/>
              </a:rPr>
              <a:t>préalable</a:t>
            </a: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
        <p:nvSpPr>
          <p:cNvPr id="31" name="Shape 24">
            <a:extLst>
              <a:ext uri="{FF2B5EF4-FFF2-40B4-BE49-F238E27FC236}">
                <a16:creationId xmlns:a16="http://schemas.microsoft.com/office/drawing/2014/main" id="{8E655091-5568-6E54-74F0-3E726D4005FE}"/>
              </a:ext>
            </a:extLst>
          </p:cNvPr>
          <p:cNvSpPr/>
          <p:nvPr/>
        </p:nvSpPr>
        <p:spPr>
          <a:xfrm>
            <a:off x="731520" y="13161457"/>
            <a:ext cx="11612880" cy="1119378"/>
          </a:xfrm>
          <a:prstGeom prst="rect">
            <a:avLst/>
          </a:prstGeom>
          <a:solidFill>
            <a:srgbClr val="F4F7FC"/>
          </a:solidFill>
          <a:ln w="12700">
            <a:solidFill>
              <a:srgbClr val="C5D3E8"/>
            </a:solidFill>
            <a:prstDash val="solid"/>
          </a:ln>
          <a:effectLst>
            <a:outerShdw blurRad="63500" dist="25400" dir="8100000" algn="bl" rotWithShape="0">
              <a:srgbClr val="000000">
                <a:alpha val="10000"/>
              </a:srgbClr>
            </a:outerShdw>
          </a:effectLst>
        </p:spPr>
        <p:txBody>
          <a:bodyPr/>
          <a:lstStyle/>
          <a:p>
            <a:endParaRPr lang="fr-CA" sz="2200"/>
          </a:p>
        </p:txBody>
      </p:sp>
      <p:sp>
        <p:nvSpPr>
          <p:cNvPr id="32" name="Shape 25">
            <a:extLst>
              <a:ext uri="{FF2B5EF4-FFF2-40B4-BE49-F238E27FC236}">
                <a16:creationId xmlns:a16="http://schemas.microsoft.com/office/drawing/2014/main" id="{7A616501-F83A-F2CF-A6C0-8B139793169A}"/>
              </a:ext>
            </a:extLst>
          </p:cNvPr>
          <p:cNvSpPr/>
          <p:nvPr/>
        </p:nvSpPr>
        <p:spPr>
          <a:xfrm>
            <a:off x="731520" y="13161457"/>
            <a:ext cx="182880" cy="1119378"/>
          </a:xfrm>
          <a:prstGeom prst="rect">
            <a:avLst/>
          </a:prstGeom>
          <a:solidFill>
            <a:srgbClr val="00B050"/>
          </a:solidFill>
          <a:ln w="12700">
            <a:solidFill>
              <a:srgbClr val="00B050"/>
            </a:solidFill>
            <a:prstDash val="solid"/>
          </a:ln>
        </p:spPr>
        <p:txBody>
          <a:bodyPr/>
          <a:lstStyle/>
          <a:p>
            <a:endParaRPr lang="fr-CA" sz="2200"/>
          </a:p>
        </p:txBody>
      </p:sp>
      <p:sp>
        <p:nvSpPr>
          <p:cNvPr id="33" name="Text 26">
            <a:extLst>
              <a:ext uri="{FF2B5EF4-FFF2-40B4-BE49-F238E27FC236}">
                <a16:creationId xmlns:a16="http://schemas.microsoft.com/office/drawing/2014/main" id="{64735C24-F2EA-5867-D7CC-DC9F9EECF7E5}"/>
              </a:ext>
            </a:extLst>
          </p:cNvPr>
          <p:cNvSpPr/>
          <p:nvPr/>
        </p:nvSpPr>
        <p:spPr>
          <a:xfrm>
            <a:off x="1005840" y="13225465"/>
            <a:ext cx="11247120" cy="777346"/>
          </a:xfrm>
          <a:prstGeom prst="rect">
            <a:avLst/>
          </a:prstGeom>
          <a:noFill/>
          <a:ln/>
        </p:spPr>
        <p:txBody>
          <a:bodyPr wrap="square" rtlCol="0" anchor="ctr"/>
          <a:lstStyle/>
          <a:p>
            <a:pPr marL="0" indent="0">
              <a:buNone/>
            </a:pPr>
            <a:r>
              <a:rPr lang="en-US" sz="2200" b="1" dirty="0">
                <a:solidFill>
                  <a:srgbClr val="00B050"/>
                </a:solidFill>
                <a:latin typeface="Calibri" panose="020F0502020204030204" pitchFamily="34" charset="0"/>
                <a:ea typeface="Calibri" panose="020F0502020204030204" pitchFamily="34" charset="0"/>
                <a:cs typeface="Calibri" panose="020F0502020204030204" pitchFamily="34" charset="0"/>
              </a:rPr>
              <a:t>Réparation</a:t>
            </a:r>
            <a:endParaRPr lang="en-US" sz="2200" dirty="0">
              <a:solidFill>
                <a:srgbClr val="00B050"/>
              </a:solidFill>
              <a:latin typeface="Calibri" panose="020F0502020204030204" pitchFamily="34" charset="0"/>
              <a:ea typeface="Calibri" panose="020F0502020204030204" pitchFamily="34" charset="0"/>
              <a:cs typeface="Calibri" panose="020F0502020204030204" pitchFamily="34" charset="0"/>
            </a:endParaRPr>
          </a:p>
        </p:txBody>
      </p:sp>
      <p:sp>
        <p:nvSpPr>
          <p:cNvPr id="34" name="Text 27">
            <a:extLst>
              <a:ext uri="{FF2B5EF4-FFF2-40B4-BE49-F238E27FC236}">
                <a16:creationId xmlns:a16="http://schemas.microsoft.com/office/drawing/2014/main" id="{2794AB45-75C1-05B8-30DB-14D6E07D46D6}"/>
              </a:ext>
            </a:extLst>
          </p:cNvPr>
          <p:cNvSpPr/>
          <p:nvPr/>
        </p:nvSpPr>
        <p:spPr>
          <a:xfrm>
            <a:off x="1005840" y="13682665"/>
            <a:ext cx="11247120" cy="108828"/>
          </a:xfrm>
          <a:prstGeom prst="rect">
            <a:avLst/>
          </a:prstGeom>
          <a:noFill/>
          <a:ln/>
        </p:spPr>
        <p:txBody>
          <a:bodyPr wrap="square" rtlCol="0" anchor="t"/>
          <a:lstStyle/>
          <a:p>
            <a:r>
              <a:rPr lang="en-US" sz="2400" dirty="0" err="1">
                <a:solidFill>
                  <a:srgbClr val="3D4E6B"/>
                </a:solidFill>
                <a:latin typeface="Calibri" panose="020F0502020204030204" pitchFamily="34" charset="0"/>
                <a:ea typeface="Calibri" panose="020F0502020204030204" pitchFamily="34" charset="0"/>
                <a:cs typeface="Calibri" panose="020F0502020204030204" pitchFamily="34" charset="0"/>
              </a:rPr>
              <a:t>Standardiser</a:t>
            </a:r>
            <a:r>
              <a:rPr lang="en-US" sz="2400" dirty="0">
                <a:solidFill>
                  <a:srgbClr val="3D4E6B"/>
                </a:solidFill>
                <a:latin typeface="Calibri" panose="020F0502020204030204" pitchFamily="34" charset="0"/>
                <a:ea typeface="Calibri" panose="020F0502020204030204" pitchFamily="34" charset="0"/>
                <a:cs typeface="Calibri" panose="020F0502020204030204" pitchFamily="34" charset="0"/>
              </a:rPr>
              <a:t> et </a:t>
            </a:r>
            <a:r>
              <a:rPr lang="en-US" sz="2400" dirty="0" err="1">
                <a:solidFill>
                  <a:srgbClr val="3D4E6B"/>
                </a:solidFill>
                <a:latin typeface="Calibri" panose="020F0502020204030204" pitchFamily="34" charset="0"/>
                <a:ea typeface="Calibri" panose="020F0502020204030204" pitchFamily="34" charset="0"/>
                <a:cs typeface="Calibri" panose="020F0502020204030204" pitchFamily="34" charset="0"/>
              </a:rPr>
              <a:t>accélérer</a:t>
            </a:r>
            <a:r>
              <a:rPr lang="en-US" sz="2400" dirty="0">
                <a:solidFill>
                  <a:srgbClr val="3D4E6B"/>
                </a:solidFill>
                <a:latin typeface="Calibri" panose="020F0502020204030204" pitchFamily="34" charset="0"/>
                <a:ea typeface="Calibri" panose="020F0502020204030204" pitchFamily="34" charset="0"/>
                <a:cs typeface="Calibri" panose="020F0502020204030204" pitchFamily="34" charset="0"/>
              </a:rPr>
              <a:t> le </a:t>
            </a:r>
            <a:r>
              <a:rPr lang="en-US" sz="2400" dirty="0" err="1">
                <a:solidFill>
                  <a:srgbClr val="3D4E6B"/>
                </a:solidFill>
                <a:latin typeface="Calibri" panose="020F0502020204030204" pitchFamily="34" charset="0"/>
                <a:ea typeface="Calibri" panose="020F0502020204030204" pitchFamily="34" charset="0"/>
                <a:cs typeface="Calibri" panose="020F0502020204030204" pitchFamily="34" charset="0"/>
              </a:rPr>
              <a:t>traitement</a:t>
            </a:r>
            <a:r>
              <a:rPr lang="en-US" sz="2400" dirty="0">
                <a:solidFill>
                  <a:srgbClr val="3D4E6B"/>
                </a:solidFill>
                <a:latin typeface="Calibri" panose="020F0502020204030204" pitchFamily="34" charset="0"/>
                <a:ea typeface="Calibri" panose="020F0502020204030204" pitchFamily="34" charset="0"/>
                <a:cs typeface="Calibri" panose="020F0502020204030204" pitchFamily="34" charset="0"/>
              </a:rPr>
              <a:t> des dossiers </a:t>
            </a:r>
            <a:r>
              <a:rPr lang="en-US" sz="2400" dirty="0" err="1">
                <a:solidFill>
                  <a:srgbClr val="3D4E6B"/>
                </a:solidFill>
                <a:latin typeface="Calibri" panose="020F0502020204030204" pitchFamily="34" charset="0"/>
                <a:ea typeface="Calibri" panose="020F0502020204030204" pitchFamily="34" charset="0"/>
                <a:cs typeface="Calibri" panose="020F0502020204030204" pitchFamily="34" charset="0"/>
              </a:rPr>
              <a:t>d’accident</a:t>
            </a: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
        <p:nvSpPr>
          <p:cNvPr id="35" name="Shape 108">
            <a:extLst>
              <a:ext uri="{FF2B5EF4-FFF2-40B4-BE49-F238E27FC236}">
                <a16:creationId xmlns:a16="http://schemas.microsoft.com/office/drawing/2014/main" id="{8D2B7A53-7CA2-5112-15E4-E83C50649C95}"/>
              </a:ext>
            </a:extLst>
          </p:cNvPr>
          <p:cNvSpPr/>
          <p:nvPr/>
        </p:nvSpPr>
        <p:spPr>
          <a:xfrm>
            <a:off x="14103971" y="25110283"/>
            <a:ext cx="11612880" cy="795528"/>
          </a:xfrm>
          <a:prstGeom prst="rect">
            <a:avLst/>
          </a:prstGeom>
          <a:solidFill>
            <a:srgbClr val="F4F7FC"/>
          </a:solidFill>
          <a:ln w="12700">
            <a:solidFill>
              <a:srgbClr val="C5D3E8"/>
            </a:solidFill>
            <a:prstDash val="solid"/>
          </a:ln>
        </p:spPr>
        <p:txBody>
          <a:bodyPr/>
          <a:lstStyle/>
          <a:p>
            <a:endParaRPr lang="fr-CA" sz="2400"/>
          </a:p>
        </p:txBody>
      </p:sp>
      <p:sp>
        <p:nvSpPr>
          <p:cNvPr id="36" name="Shape 109">
            <a:extLst>
              <a:ext uri="{FF2B5EF4-FFF2-40B4-BE49-F238E27FC236}">
                <a16:creationId xmlns:a16="http://schemas.microsoft.com/office/drawing/2014/main" id="{3AAFF692-FD03-21F5-A069-60F7E9019B73}"/>
              </a:ext>
            </a:extLst>
          </p:cNvPr>
          <p:cNvSpPr/>
          <p:nvPr/>
        </p:nvSpPr>
        <p:spPr>
          <a:xfrm>
            <a:off x="14103971" y="25110283"/>
            <a:ext cx="201168" cy="795528"/>
          </a:xfrm>
          <a:prstGeom prst="rect">
            <a:avLst/>
          </a:prstGeom>
          <a:solidFill>
            <a:srgbClr val="27AE60"/>
          </a:solidFill>
          <a:ln w="12700">
            <a:solidFill>
              <a:srgbClr val="27AE60"/>
            </a:solidFill>
            <a:prstDash val="solid"/>
          </a:ln>
        </p:spPr>
        <p:txBody>
          <a:bodyPr/>
          <a:lstStyle/>
          <a:p>
            <a:endParaRPr lang="fr-CA" sz="2400"/>
          </a:p>
        </p:txBody>
      </p:sp>
      <p:sp>
        <p:nvSpPr>
          <p:cNvPr id="37" name="Text 110">
            <a:extLst>
              <a:ext uri="{FF2B5EF4-FFF2-40B4-BE49-F238E27FC236}">
                <a16:creationId xmlns:a16="http://schemas.microsoft.com/office/drawing/2014/main" id="{BF5ADA18-937E-68C3-B769-0078AF8DE30E}"/>
              </a:ext>
            </a:extLst>
          </p:cNvPr>
          <p:cNvSpPr/>
          <p:nvPr/>
        </p:nvSpPr>
        <p:spPr>
          <a:xfrm>
            <a:off x="14378291" y="25110283"/>
            <a:ext cx="11292840" cy="795528"/>
          </a:xfrm>
          <a:prstGeom prst="rect">
            <a:avLst/>
          </a:prstGeom>
          <a:noFill/>
          <a:ln/>
        </p:spPr>
        <p:txBody>
          <a:bodyPr wrap="square" rtlCol="0" anchor="ctr"/>
          <a:lstStyle/>
          <a:p>
            <a:pPr marL="0" indent="0">
              <a:buNone/>
            </a:pPr>
            <a:r>
              <a:rPr lang="en-US" b="1" dirty="0">
                <a:solidFill>
                  <a:srgbClr val="27AE60"/>
                </a:solidFill>
                <a:latin typeface="Calibri" pitchFamily="34" charset="0"/>
                <a:ea typeface="Calibri" pitchFamily="34" charset="-122"/>
                <a:cs typeface="Calibri" pitchFamily="34" charset="-120"/>
              </a:rPr>
              <a:t>3 — Ratio pièces (30%)  </a:t>
            </a:r>
            <a:r>
              <a:rPr lang="en-US" dirty="0">
                <a:solidFill>
                  <a:srgbClr val="1C2833"/>
                </a:solidFill>
                <a:latin typeface="Calibri" pitchFamily="34" charset="0"/>
                <a:ea typeface="Calibri" pitchFamily="34" charset="-122"/>
                <a:cs typeface="Calibri" pitchFamily="34" charset="-120"/>
              </a:rPr>
              <a:t>nb_end / max(nb_total, 6). Exclut classe voiture. Dénominateur min=6</a:t>
            </a:r>
            <a:endParaRPr lang="en-US" dirty="0"/>
          </a:p>
        </p:txBody>
      </p:sp>
      <p:sp>
        <p:nvSpPr>
          <p:cNvPr id="38" name="Shape 111">
            <a:extLst>
              <a:ext uri="{FF2B5EF4-FFF2-40B4-BE49-F238E27FC236}">
                <a16:creationId xmlns:a16="http://schemas.microsoft.com/office/drawing/2014/main" id="{AE848055-98E4-F05A-EEB6-EED1C48A9643}"/>
              </a:ext>
            </a:extLst>
          </p:cNvPr>
          <p:cNvSpPr/>
          <p:nvPr/>
        </p:nvSpPr>
        <p:spPr>
          <a:xfrm>
            <a:off x="14103971" y="25978963"/>
            <a:ext cx="11612880" cy="795528"/>
          </a:xfrm>
          <a:prstGeom prst="rect">
            <a:avLst/>
          </a:prstGeom>
          <a:solidFill>
            <a:srgbClr val="FFFFFF"/>
          </a:solidFill>
          <a:ln w="12700">
            <a:solidFill>
              <a:srgbClr val="C5D3E8"/>
            </a:solidFill>
            <a:prstDash val="solid"/>
          </a:ln>
        </p:spPr>
        <p:txBody>
          <a:bodyPr/>
          <a:lstStyle/>
          <a:p>
            <a:endParaRPr lang="fr-CA" sz="2400"/>
          </a:p>
        </p:txBody>
      </p:sp>
      <p:sp>
        <p:nvSpPr>
          <p:cNvPr id="39" name="Shape 112">
            <a:extLst>
              <a:ext uri="{FF2B5EF4-FFF2-40B4-BE49-F238E27FC236}">
                <a16:creationId xmlns:a16="http://schemas.microsoft.com/office/drawing/2014/main" id="{AAF1C958-ECE1-58EB-6C1D-0A3CD2C41DFC}"/>
              </a:ext>
            </a:extLst>
          </p:cNvPr>
          <p:cNvSpPr/>
          <p:nvPr/>
        </p:nvSpPr>
        <p:spPr>
          <a:xfrm>
            <a:off x="14103971" y="25978963"/>
            <a:ext cx="201168" cy="795528"/>
          </a:xfrm>
          <a:prstGeom prst="rect">
            <a:avLst/>
          </a:prstGeom>
          <a:solidFill>
            <a:srgbClr val="D4AC0D"/>
          </a:solidFill>
          <a:ln w="12700">
            <a:solidFill>
              <a:srgbClr val="D4AC0D"/>
            </a:solidFill>
            <a:prstDash val="solid"/>
          </a:ln>
        </p:spPr>
        <p:txBody>
          <a:bodyPr/>
          <a:lstStyle/>
          <a:p>
            <a:endParaRPr lang="fr-CA" sz="2400"/>
          </a:p>
        </p:txBody>
      </p:sp>
      <p:sp>
        <p:nvSpPr>
          <p:cNvPr id="40" name="Text 113">
            <a:extLst>
              <a:ext uri="{FF2B5EF4-FFF2-40B4-BE49-F238E27FC236}">
                <a16:creationId xmlns:a16="http://schemas.microsoft.com/office/drawing/2014/main" id="{30BFB5C0-1606-298F-A8A1-D220A7084BAA}"/>
              </a:ext>
            </a:extLst>
          </p:cNvPr>
          <p:cNvSpPr/>
          <p:nvPr/>
        </p:nvSpPr>
        <p:spPr>
          <a:xfrm>
            <a:off x="14378291" y="25978963"/>
            <a:ext cx="11292840" cy="795528"/>
          </a:xfrm>
          <a:prstGeom prst="rect">
            <a:avLst/>
          </a:prstGeom>
          <a:noFill/>
          <a:ln/>
        </p:spPr>
        <p:txBody>
          <a:bodyPr wrap="square" rtlCol="0" anchor="ctr"/>
          <a:lstStyle/>
          <a:p>
            <a:pPr marL="0" indent="0">
              <a:buNone/>
            </a:pPr>
            <a:r>
              <a:rPr lang="en-US" b="1" dirty="0">
                <a:solidFill>
                  <a:srgbClr val="D4AC0D"/>
                </a:solidFill>
                <a:latin typeface="Calibri" pitchFamily="34" charset="0"/>
                <a:ea typeface="Calibri" pitchFamily="34" charset="-122"/>
                <a:cs typeface="Calibri" pitchFamily="34" charset="-120"/>
              </a:rPr>
              <a:t>4 — Bonus combinaisons (±pts)  </a:t>
            </a:r>
            <a:r>
              <a:rPr lang="en-US" dirty="0">
                <a:solidFill>
                  <a:srgbClr val="1C2833"/>
                </a:solidFill>
                <a:latin typeface="Calibri" pitchFamily="34" charset="0"/>
                <a:ea typeface="Calibri" pitchFamily="34" charset="-122"/>
                <a:cs typeface="Calibri" pitchFamily="34" charset="-120"/>
              </a:rPr>
              <a:t>Combos structurels (+5pts). Multi-impact ≥6 pièces (+50pts). Seul le max retenu</a:t>
            </a:r>
            <a:endParaRPr lang="en-US" dirty="0"/>
          </a:p>
        </p:txBody>
      </p:sp>
      <p:sp>
        <p:nvSpPr>
          <p:cNvPr id="41" name="Shape 114">
            <a:extLst>
              <a:ext uri="{FF2B5EF4-FFF2-40B4-BE49-F238E27FC236}">
                <a16:creationId xmlns:a16="http://schemas.microsoft.com/office/drawing/2014/main" id="{16799DA9-44CA-A305-3C33-4A1998D342E5}"/>
              </a:ext>
            </a:extLst>
          </p:cNvPr>
          <p:cNvSpPr/>
          <p:nvPr/>
        </p:nvSpPr>
        <p:spPr>
          <a:xfrm>
            <a:off x="14103971" y="26847643"/>
            <a:ext cx="11612880" cy="795528"/>
          </a:xfrm>
          <a:prstGeom prst="rect">
            <a:avLst/>
          </a:prstGeom>
          <a:solidFill>
            <a:srgbClr val="F4F7FC"/>
          </a:solidFill>
          <a:ln w="12700">
            <a:solidFill>
              <a:srgbClr val="C5D3E8"/>
            </a:solidFill>
            <a:prstDash val="solid"/>
          </a:ln>
        </p:spPr>
        <p:txBody>
          <a:bodyPr/>
          <a:lstStyle/>
          <a:p>
            <a:endParaRPr lang="fr-CA"/>
          </a:p>
        </p:txBody>
      </p:sp>
      <p:sp>
        <p:nvSpPr>
          <p:cNvPr id="42" name="Shape 115">
            <a:extLst>
              <a:ext uri="{FF2B5EF4-FFF2-40B4-BE49-F238E27FC236}">
                <a16:creationId xmlns:a16="http://schemas.microsoft.com/office/drawing/2014/main" id="{EA83743D-D267-E8FA-0B1A-81115767CE90}"/>
              </a:ext>
            </a:extLst>
          </p:cNvPr>
          <p:cNvSpPr/>
          <p:nvPr/>
        </p:nvSpPr>
        <p:spPr>
          <a:xfrm>
            <a:off x="14103971" y="26847643"/>
            <a:ext cx="201168" cy="795528"/>
          </a:xfrm>
          <a:prstGeom prst="rect">
            <a:avLst/>
          </a:prstGeom>
          <a:solidFill>
            <a:srgbClr val="D35400"/>
          </a:solidFill>
          <a:ln w="12700">
            <a:solidFill>
              <a:srgbClr val="D35400"/>
            </a:solidFill>
            <a:prstDash val="solid"/>
          </a:ln>
        </p:spPr>
        <p:txBody>
          <a:bodyPr/>
          <a:lstStyle/>
          <a:p>
            <a:endParaRPr lang="fr-CA"/>
          </a:p>
        </p:txBody>
      </p:sp>
      <p:sp>
        <p:nvSpPr>
          <p:cNvPr id="43" name="Text 116">
            <a:extLst>
              <a:ext uri="{FF2B5EF4-FFF2-40B4-BE49-F238E27FC236}">
                <a16:creationId xmlns:a16="http://schemas.microsoft.com/office/drawing/2014/main" id="{B38619D4-150E-893D-A091-D100B14A0F01}"/>
              </a:ext>
            </a:extLst>
          </p:cNvPr>
          <p:cNvSpPr/>
          <p:nvPr/>
        </p:nvSpPr>
        <p:spPr>
          <a:xfrm>
            <a:off x="14378291" y="26847643"/>
            <a:ext cx="11292840" cy="795528"/>
          </a:xfrm>
          <a:prstGeom prst="rect">
            <a:avLst/>
          </a:prstGeom>
          <a:noFill/>
          <a:ln/>
        </p:spPr>
        <p:txBody>
          <a:bodyPr wrap="square" rtlCol="0" anchor="ctr"/>
          <a:lstStyle/>
          <a:p>
            <a:pPr marL="0" indent="0">
              <a:buNone/>
            </a:pPr>
            <a:r>
              <a:rPr lang="en-US" sz="1500" b="1" dirty="0">
                <a:solidFill>
                  <a:srgbClr val="D35400"/>
                </a:solidFill>
                <a:latin typeface="Calibri" pitchFamily="34" charset="0"/>
                <a:ea typeface="Calibri" pitchFamily="34" charset="-122"/>
                <a:cs typeface="Calibri" pitchFamily="34" charset="-120"/>
              </a:rPr>
              <a:t>5 — Multiplicateur zone (×)  </a:t>
            </a:r>
            <a:r>
              <a:rPr lang="en-US" sz="1400" dirty="0">
                <a:solidFill>
                  <a:srgbClr val="1C2833"/>
                </a:solidFill>
                <a:latin typeface="Calibri" pitchFamily="34" charset="0"/>
                <a:ea typeface="Calibri" pitchFamily="34" charset="-122"/>
                <a:cs typeface="Calibri" pitchFamily="34" charset="-120"/>
              </a:rPr>
              <a:t>Avant=1.35  ·  Arrière=1.2  ·  Latéral=1.1  ·  Coins=1.4-1.6  ·  Saine=0.0</a:t>
            </a:r>
            <a:endParaRPr lang="en-US" sz="1500" dirty="0"/>
          </a:p>
        </p:txBody>
      </p:sp>
      <p:sp>
        <p:nvSpPr>
          <p:cNvPr id="44" name="Shape 117">
            <a:extLst>
              <a:ext uri="{FF2B5EF4-FFF2-40B4-BE49-F238E27FC236}">
                <a16:creationId xmlns:a16="http://schemas.microsoft.com/office/drawing/2014/main" id="{2B363FB5-EDF2-A898-1369-0E616579839A}"/>
              </a:ext>
            </a:extLst>
          </p:cNvPr>
          <p:cNvSpPr/>
          <p:nvPr/>
        </p:nvSpPr>
        <p:spPr>
          <a:xfrm>
            <a:off x="13304520" y="31683960"/>
            <a:ext cx="11612880" cy="566928"/>
          </a:xfrm>
          <a:prstGeom prst="rect">
            <a:avLst/>
          </a:prstGeom>
          <a:solidFill>
            <a:srgbClr val="1A2B5E"/>
          </a:solidFill>
          <a:ln w="12700">
            <a:solidFill>
              <a:srgbClr val="1A2B5E"/>
            </a:solidFill>
            <a:prstDash val="solid"/>
          </a:ln>
        </p:spPr>
        <p:txBody>
          <a:bodyPr/>
          <a:lstStyle/>
          <a:p>
            <a:endParaRPr lang="fr-CA"/>
          </a:p>
        </p:txBody>
      </p:sp>
      <p:sp>
        <p:nvSpPr>
          <p:cNvPr id="45" name="Text 118">
            <a:extLst>
              <a:ext uri="{FF2B5EF4-FFF2-40B4-BE49-F238E27FC236}">
                <a16:creationId xmlns:a16="http://schemas.microsoft.com/office/drawing/2014/main" id="{15A33A63-2B25-C913-2A25-D60D76B5D0E0}"/>
              </a:ext>
            </a:extLst>
          </p:cNvPr>
          <p:cNvSpPr/>
          <p:nvPr/>
        </p:nvSpPr>
        <p:spPr>
          <a:xfrm>
            <a:off x="13304520" y="31683960"/>
            <a:ext cx="11612880" cy="56692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Catégories finales : &lt; 35 = Léger  ·  35–70 = Modéré  ·  ≥ 70 = Sévère</a:t>
            </a:r>
            <a:endParaRPr lang="en-US" sz="1600" dirty="0"/>
          </a:p>
        </p:txBody>
      </p:sp>
      <p:sp>
        <p:nvSpPr>
          <p:cNvPr id="46" name="Text 199">
            <a:extLst>
              <a:ext uri="{FF2B5EF4-FFF2-40B4-BE49-F238E27FC236}">
                <a16:creationId xmlns:a16="http://schemas.microsoft.com/office/drawing/2014/main" id="{9D55FD5A-7060-BF23-7507-5918CA568A39}"/>
              </a:ext>
            </a:extLst>
          </p:cNvPr>
          <p:cNvSpPr/>
          <p:nvPr/>
        </p:nvSpPr>
        <p:spPr>
          <a:xfrm>
            <a:off x="25877520" y="28849320"/>
            <a:ext cx="11612880" cy="548640"/>
          </a:xfrm>
          <a:prstGeom prst="rect">
            <a:avLst/>
          </a:prstGeom>
          <a:noFill/>
          <a:ln/>
        </p:spPr>
        <p:txBody>
          <a:bodyPr wrap="square" rtlCol="0" anchor="ctr"/>
          <a:lstStyle/>
          <a:p>
            <a:pPr marL="0" indent="0">
              <a:buNone/>
            </a:pPr>
            <a:r>
              <a:rPr lang="en-US" sz="1700" b="1" dirty="0">
                <a:solidFill>
                  <a:srgbClr val="1A2B5E"/>
                </a:solidFill>
                <a:latin typeface="Calibri" pitchFamily="34" charset="0"/>
                <a:ea typeface="Calibri" pitchFamily="34" charset="-122"/>
                <a:cs typeface="Calibri" pitchFamily="34" charset="-120"/>
              </a:rPr>
              <a:t>Travaux futurs — 3 priorités :</a:t>
            </a:r>
            <a:endParaRPr lang="en-US" sz="1700" dirty="0"/>
          </a:p>
        </p:txBody>
      </p:sp>
      <p:sp>
        <p:nvSpPr>
          <p:cNvPr id="47" name="Shape 200">
            <a:extLst>
              <a:ext uri="{FF2B5EF4-FFF2-40B4-BE49-F238E27FC236}">
                <a16:creationId xmlns:a16="http://schemas.microsoft.com/office/drawing/2014/main" id="{A437098D-A3B8-C4F4-2F74-0442FF6F5E18}"/>
              </a:ext>
            </a:extLst>
          </p:cNvPr>
          <p:cNvSpPr/>
          <p:nvPr/>
        </p:nvSpPr>
        <p:spPr>
          <a:xfrm>
            <a:off x="25877520" y="29535120"/>
            <a:ext cx="11612880" cy="1005840"/>
          </a:xfrm>
          <a:prstGeom prst="rect">
            <a:avLst/>
          </a:prstGeom>
          <a:solidFill>
            <a:srgbClr val="F4F7FC"/>
          </a:solidFill>
          <a:ln w="12700">
            <a:solidFill>
              <a:srgbClr val="C5D3E8"/>
            </a:solidFill>
            <a:prstDash val="solid"/>
          </a:ln>
          <a:effectLst>
            <a:outerShdw blurRad="63500" dist="25400" dir="8100000" algn="bl" rotWithShape="0">
              <a:srgbClr val="000000">
                <a:alpha val="10000"/>
              </a:srgbClr>
            </a:outerShdw>
          </a:effectLst>
        </p:spPr>
        <p:txBody>
          <a:bodyPr/>
          <a:lstStyle/>
          <a:p>
            <a:endParaRPr lang="fr-CA"/>
          </a:p>
        </p:txBody>
      </p:sp>
      <p:sp>
        <p:nvSpPr>
          <p:cNvPr id="49" name="Text 202">
            <a:extLst>
              <a:ext uri="{FF2B5EF4-FFF2-40B4-BE49-F238E27FC236}">
                <a16:creationId xmlns:a16="http://schemas.microsoft.com/office/drawing/2014/main" id="{52903644-09C7-F90A-D0F3-CAF887CBF7D8}"/>
              </a:ext>
            </a:extLst>
          </p:cNvPr>
          <p:cNvSpPr/>
          <p:nvPr/>
        </p:nvSpPr>
        <p:spPr>
          <a:xfrm>
            <a:off x="26151840" y="29599128"/>
            <a:ext cx="11247120" cy="457200"/>
          </a:xfrm>
          <a:prstGeom prst="rect">
            <a:avLst/>
          </a:prstGeom>
          <a:noFill/>
          <a:ln/>
        </p:spPr>
        <p:txBody>
          <a:bodyPr wrap="square" rtlCol="0" anchor="ctr"/>
          <a:lstStyle/>
          <a:p>
            <a:pPr marL="0" indent="0">
              <a:buNone/>
            </a:pPr>
            <a:r>
              <a:rPr lang="en-US" sz="1700" b="1" dirty="0">
                <a:solidFill>
                  <a:srgbClr val="1A2B5E"/>
                </a:solidFill>
                <a:latin typeface="Calibri" pitchFamily="34" charset="0"/>
                <a:ea typeface="Calibri" pitchFamily="34" charset="-122"/>
                <a:cs typeface="Calibri" pitchFamily="34" charset="-120"/>
              </a:rPr>
              <a:t>1. Plus de données ciblées</a:t>
            </a:r>
            <a:endParaRPr lang="en-US" sz="1700" dirty="0"/>
          </a:p>
        </p:txBody>
      </p:sp>
      <p:sp>
        <p:nvSpPr>
          <p:cNvPr id="50" name="Text 203">
            <a:extLst>
              <a:ext uri="{FF2B5EF4-FFF2-40B4-BE49-F238E27FC236}">
                <a16:creationId xmlns:a16="http://schemas.microsoft.com/office/drawing/2014/main" id="{B19883EF-DB11-6532-6C7E-A178258D15A2}"/>
              </a:ext>
            </a:extLst>
          </p:cNvPr>
          <p:cNvSpPr/>
          <p:nvPr/>
        </p:nvSpPr>
        <p:spPr>
          <a:xfrm>
            <a:off x="26151840" y="30056328"/>
            <a:ext cx="11247120" cy="411480"/>
          </a:xfrm>
          <a:prstGeom prst="rect">
            <a:avLst/>
          </a:prstGeom>
          <a:noFill/>
          <a:ln/>
        </p:spPr>
        <p:txBody>
          <a:bodyPr wrap="square" rtlCol="0" anchor="t"/>
          <a:lstStyle/>
          <a:p>
            <a:pPr marL="0" indent="0">
              <a:buNone/>
            </a:pPr>
            <a:r>
              <a:rPr lang="en-US" sz="1500" dirty="0">
                <a:solidFill>
                  <a:srgbClr val="1C2833"/>
                </a:solidFill>
                <a:latin typeface="Calibri" pitchFamily="34" charset="0"/>
                <a:ea typeface="Calibri" pitchFamily="34" charset="-122"/>
                <a:cs typeface="Calibri" pitchFamily="34" charset="-120"/>
              </a:rPr>
              <a:t>150-200 images/classe faible — phare, capot, rétroviseur en priorité</a:t>
            </a:r>
            <a:endParaRPr lang="en-US" sz="1500" dirty="0"/>
          </a:p>
        </p:txBody>
      </p:sp>
      <p:sp>
        <p:nvSpPr>
          <p:cNvPr id="51" name="Shape 204">
            <a:extLst>
              <a:ext uri="{FF2B5EF4-FFF2-40B4-BE49-F238E27FC236}">
                <a16:creationId xmlns:a16="http://schemas.microsoft.com/office/drawing/2014/main" id="{9982611C-102A-9DF8-0FF8-B963B10CBF7C}"/>
              </a:ext>
            </a:extLst>
          </p:cNvPr>
          <p:cNvSpPr/>
          <p:nvPr/>
        </p:nvSpPr>
        <p:spPr>
          <a:xfrm>
            <a:off x="25877520" y="30650688"/>
            <a:ext cx="11612880" cy="1005840"/>
          </a:xfrm>
          <a:prstGeom prst="rect">
            <a:avLst/>
          </a:prstGeom>
          <a:solidFill>
            <a:srgbClr val="F4F7FC"/>
          </a:solidFill>
          <a:ln w="12700">
            <a:solidFill>
              <a:srgbClr val="C5D3E8"/>
            </a:solidFill>
            <a:prstDash val="solid"/>
          </a:ln>
          <a:effectLst>
            <a:outerShdw blurRad="63500" dist="25400" dir="8100000" algn="bl" rotWithShape="0">
              <a:srgbClr val="000000">
                <a:alpha val="10000"/>
              </a:srgbClr>
            </a:outerShdw>
          </a:effectLst>
        </p:spPr>
        <p:txBody>
          <a:bodyPr/>
          <a:lstStyle/>
          <a:p>
            <a:endParaRPr lang="fr-CA"/>
          </a:p>
        </p:txBody>
      </p:sp>
      <p:sp>
        <p:nvSpPr>
          <p:cNvPr id="53" name="Text 206">
            <a:extLst>
              <a:ext uri="{FF2B5EF4-FFF2-40B4-BE49-F238E27FC236}">
                <a16:creationId xmlns:a16="http://schemas.microsoft.com/office/drawing/2014/main" id="{F08BA960-1978-D7CC-DA3C-6D6FCF4F320D}"/>
              </a:ext>
            </a:extLst>
          </p:cNvPr>
          <p:cNvSpPr/>
          <p:nvPr/>
        </p:nvSpPr>
        <p:spPr>
          <a:xfrm>
            <a:off x="26151840" y="30714696"/>
            <a:ext cx="11247120" cy="457200"/>
          </a:xfrm>
          <a:prstGeom prst="rect">
            <a:avLst/>
          </a:prstGeom>
          <a:noFill/>
          <a:ln/>
        </p:spPr>
        <p:txBody>
          <a:bodyPr wrap="square" rtlCol="0" anchor="ctr"/>
          <a:lstStyle/>
          <a:p>
            <a:pPr marL="0" indent="0">
              <a:buNone/>
            </a:pPr>
            <a:r>
              <a:rPr lang="en-US" sz="1700" b="1" dirty="0">
                <a:solidFill>
                  <a:srgbClr val="2E86C1"/>
                </a:solidFill>
                <a:latin typeface="Calibri" pitchFamily="34" charset="0"/>
                <a:ea typeface="Calibri" pitchFamily="34" charset="-122"/>
                <a:cs typeface="Calibri" pitchFamily="34" charset="-120"/>
              </a:rPr>
              <a:t>2. YOLO11s-seg (segmentation)</a:t>
            </a:r>
            <a:endParaRPr lang="en-US" sz="1700" dirty="0"/>
          </a:p>
        </p:txBody>
      </p:sp>
      <p:sp>
        <p:nvSpPr>
          <p:cNvPr id="54" name="Text 207">
            <a:extLst>
              <a:ext uri="{FF2B5EF4-FFF2-40B4-BE49-F238E27FC236}">
                <a16:creationId xmlns:a16="http://schemas.microsoft.com/office/drawing/2014/main" id="{E3F3E4C9-CF6A-8743-6E22-E1444C776BF8}"/>
              </a:ext>
            </a:extLst>
          </p:cNvPr>
          <p:cNvSpPr/>
          <p:nvPr/>
        </p:nvSpPr>
        <p:spPr>
          <a:xfrm>
            <a:off x="26151840" y="31171896"/>
            <a:ext cx="11247120" cy="411480"/>
          </a:xfrm>
          <a:prstGeom prst="rect">
            <a:avLst/>
          </a:prstGeom>
          <a:noFill/>
          <a:ln/>
        </p:spPr>
        <p:txBody>
          <a:bodyPr wrap="square" rtlCol="0" anchor="t"/>
          <a:lstStyle/>
          <a:p>
            <a:pPr marL="0" indent="0">
              <a:buNone/>
            </a:pPr>
            <a:r>
              <a:rPr lang="en-US" sz="1500" dirty="0">
                <a:solidFill>
                  <a:srgbClr val="1C2833"/>
                </a:solidFill>
                <a:latin typeface="Calibri" pitchFamily="34" charset="0"/>
                <a:ea typeface="Calibri" pitchFamily="34" charset="-122"/>
                <a:cs typeface="Calibri" pitchFamily="34" charset="-120"/>
              </a:rPr>
              <a:t>Masks de pixels → filtrage plus précis + surface réelle des dommages</a:t>
            </a:r>
            <a:endParaRPr lang="en-US" sz="1500" dirty="0"/>
          </a:p>
        </p:txBody>
      </p:sp>
      <p:sp>
        <p:nvSpPr>
          <p:cNvPr id="61" name="Shape 214">
            <a:extLst>
              <a:ext uri="{FF2B5EF4-FFF2-40B4-BE49-F238E27FC236}">
                <a16:creationId xmlns:a16="http://schemas.microsoft.com/office/drawing/2014/main" id="{5450CEBC-92B2-D7FB-CC64-F25ABA6F4D08}"/>
              </a:ext>
            </a:extLst>
          </p:cNvPr>
          <p:cNvSpPr/>
          <p:nvPr/>
        </p:nvSpPr>
        <p:spPr>
          <a:xfrm>
            <a:off x="267" y="28968720"/>
            <a:ext cx="39599921" cy="3492479"/>
          </a:xfrm>
          <a:prstGeom prst="rect">
            <a:avLst/>
          </a:prstGeom>
          <a:solidFill>
            <a:srgbClr val="1A2B5E"/>
          </a:solidFill>
          <a:ln w="12700">
            <a:solidFill>
              <a:srgbClr val="1A2B5E"/>
            </a:solidFill>
            <a:prstDash val="solid"/>
          </a:ln>
        </p:spPr>
        <p:txBody>
          <a:bodyPr/>
          <a:lstStyle/>
          <a:p>
            <a:endParaRPr lang="fr-CA" dirty="0"/>
          </a:p>
        </p:txBody>
      </p:sp>
      <p:sp>
        <p:nvSpPr>
          <p:cNvPr id="63" name="Text 216">
            <a:extLst>
              <a:ext uri="{FF2B5EF4-FFF2-40B4-BE49-F238E27FC236}">
                <a16:creationId xmlns:a16="http://schemas.microsoft.com/office/drawing/2014/main" id="{7F31B0DE-A92F-3483-9B7B-EF20D0037426}"/>
              </a:ext>
            </a:extLst>
          </p:cNvPr>
          <p:cNvSpPr/>
          <p:nvPr/>
        </p:nvSpPr>
        <p:spPr>
          <a:xfrm>
            <a:off x="488271" y="29187666"/>
            <a:ext cx="12466305" cy="2257222"/>
          </a:xfrm>
          <a:prstGeom prst="rect">
            <a:avLst/>
          </a:prstGeom>
          <a:noFill/>
          <a:ln/>
        </p:spPr>
        <p:txBody>
          <a:bodyPr wrap="square" rtlCol="0" anchor="t"/>
          <a:lstStyle/>
          <a:p>
            <a:pPr algn="ctr"/>
            <a:r>
              <a:rPr lang="en-US" sz="4000" b="1" dirty="0" err="1">
                <a:solidFill>
                  <a:srgbClr val="D9E8F8"/>
                </a:solidFill>
                <a:latin typeface="Calibri" pitchFamily="34" charset="0"/>
                <a:ea typeface="Calibri" pitchFamily="34" charset="-122"/>
                <a:cs typeface="Calibri" pitchFamily="34" charset="-120"/>
              </a:rPr>
              <a:t>Références</a:t>
            </a:r>
            <a:endParaRPr lang="en-US" sz="4000" dirty="0"/>
          </a:p>
          <a:p>
            <a:pPr marL="0" indent="0" algn="ctr">
              <a:buNone/>
            </a:pPr>
            <a:endParaRPr lang="en-US" sz="2400" dirty="0">
              <a:solidFill>
                <a:srgbClr val="D9E8F8"/>
              </a:solidFill>
              <a:latin typeface="Calibri" pitchFamily="34" charset="0"/>
              <a:ea typeface="Calibri" pitchFamily="34" charset="-122"/>
              <a:cs typeface="Calibri" pitchFamily="34" charset="-120"/>
            </a:endParaRPr>
          </a:p>
          <a:p>
            <a:pPr marL="0" indent="0" algn="ctr">
              <a:buNone/>
            </a:pPr>
            <a:r>
              <a:rPr lang="en-US" sz="2400" dirty="0">
                <a:solidFill>
                  <a:srgbClr val="D9E8F8"/>
                </a:solidFill>
                <a:latin typeface="Calibri" pitchFamily="34" charset="0"/>
                <a:ea typeface="Calibri" pitchFamily="34" charset="-122"/>
                <a:cs typeface="Calibri" pitchFamily="34" charset="-120"/>
              </a:rPr>
              <a:t>• Redmon et al., 2016. You Only Look Once: Unified, Real-Time Object Detection. CVPR.
• Wang et al., 2024. YOLOv9: Learning What You Want to Learn Using Programmable Gradient Information.
• Ultralytics, 2024. YOLO11 Documentation. docs.ultralytics.com
• Géron, A., 2019. Hands-On Machine Learning with Scikit-Learn, Keras &amp; TensorFlow. O'Reilly.</a:t>
            </a:r>
            <a:endParaRPr lang="en-US" sz="2400" dirty="0"/>
          </a:p>
        </p:txBody>
      </p:sp>
      <p:sp>
        <p:nvSpPr>
          <p:cNvPr id="1024" name="Text 217">
            <a:extLst>
              <a:ext uri="{FF2B5EF4-FFF2-40B4-BE49-F238E27FC236}">
                <a16:creationId xmlns:a16="http://schemas.microsoft.com/office/drawing/2014/main" id="{4107A53A-45A3-1538-3F09-7B49C58A13C8}"/>
              </a:ext>
            </a:extLst>
          </p:cNvPr>
          <p:cNvSpPr/>
          <p:nvPr/>
        </p:nvSpPr>
        <p:spPr>
          <a:xfrm>
            <a:off x="18747885" y="25334372"/>
            <a:ext cx="5797296" cy="640080"/>
          </a:xfrm>
          <a:prstGeom prst="rect">
            <a:avLst/>
          </a:prstGeom>
          <a:noFill/>
          <a:ln/>
        </p:spPr>
        <p:txBody>
          <a:bodyPr wrap="square" rtlCol="0" anchor="ctr"/>
          <a:lstStyle/>
          <a:p>
            <a:pPr marL="0" indent="0" algn="ctr">
              <a:buNone/>
            </a:pPr>
            <a:r>
              <a:rPr lang="en-US" sz="4800" b="1" dirty="0">
                <a:solidFill>
                  <a:srgbClr val="D9E8F8"/>
                </a:solidFill>
                <a:latin typeface="Calibri" pitchFamily="34" charset="0"/>
                <a:ea typeface="Calibri" pitchFamily="34" charset="-122"/>
                <a:cs typeface="Calibri" pitchFamily="34" charset="-120"/>
              </a:rPr>
              <a:t>Remerciements</a:t>
            </a:r>
            <a:endParaRPr lang="en-US" sz="2400" dirty="0"/>
          </a:p>
        </p:txBody>
      </p:sp>
      <p:sp>
        <p:nvSpPr>
          <p:cNvPr id="1025" name="Text 218">
            <a:extLst>
              <a:ext uri="{FF2B5EF4-FFF2-40B4-BE49-F238E27FC236}">
                <a16:creationId xmlns:a16="http://schemas.microsoft.com/office/drawing/2014/main" id="{1B28E706-389D-9298-20B5-7270A26D138A}"/>
              </a:ext>
            </a:extLst>
          </p:cNvPr>
          <p:cNvSpPr/>
          <p:nvPr/>
        </p:nvSpPr>
        <p:spPr>
          <a:xfrm>
            <a:off x="15848332" y="29130859"/>
            <a:ext cx="6329649" cy="2392815"/>
          </a:xfrm>
          <a:prstGeom prst="rect">
            <a:avLst/>
          </a:prstGeom>
          <a:noFill/>
          <a:ln/>
        </p:spPr>
        <p:txBody>
          <a:bodyPr wrap="square" rtlCol="0" anchor="t"/>
          <a:lstStyle/>
          <a:p>
            <a:pPr algn="ctr"/>
            <a:r>
              <a:rPr lang="en-US" sz="4000" b="1" dirty="0" err="1">
                <a:solidFill>
                  <a:srgbClr val="D9E8F8"/>
                </a:solidFill>
                <a:latin typeface="Calibri" pitchFamily="34" charset="0"/>
                <a:ea typeface="Calibri" pitchFamily="34" charset="-122"/>
                <a:cs typeface="Calibri" pitchFamily="34" charset="-120"/>
              </a:rPr>
              <a:t>Remerciements</a:t>
            </a:r>
            <a:endParaRPr lang="en-US" sz="4000" dirty="0"/>
          </a:p>
          <a:p>
            <a:pPr marL="0" indent="0" algn="ctr">
              <a:buNone/>
            </a:pPr>
            <a:endParaRPr lang="en-US" sz="2400" dirty="0">
              <a:solidFill>
                <a:srgbClr val="D9E8F8"/>
              </a:solidFill>
              <a:latin typeface="Calibri" pitchFamily="34" charset="0"/>
              <a:ea typeface="Calibri" pitchFamily="34" charset="-122"/>
              <a:cs typeface="Calibri" pitchFamily="34" charset="-120"/>
            </a:endParaRPr>
          </a:p>
          <a:p>
            <a:pPr marL="0" indent="0" algn="ctr">
              <a:buNone/>
            </a:pPr>
            <a:r>
              <a:rPr lang="en-US" sz="2400" dirty="0">
                <a:solidFill>
                  <a:srgbClr val="D9E8F8"/>
                </a:solidFill>
                <a:latin typeface="Calibri" pitchFamily="34" charset="0"/>
                <a:ea typeface="Calibri" pitchFamily="34" charset="-122"/>
                <a:cs typeface="Calibri" pitchFamily="34" charset="-120"/>
              </a:rPr>
              <a:t>Usef </a:t>
            </a:r>
            <a:r>
              <a:rPr lang="en-US" sz="2400" dirty="0" err="1">
                <a:solidFill>
                  <a:srgbClr val="D9E8F8"/>
                </a:solidFill>
                <a:latin typeface="Calibri" pitchFamily="34" charset="0"/>
                <a:ea typeface="Calibri" pitchFamily="34" charset="-122"/>
                <a:cs typeface="Calibri" pitchFamily="34" charset="-120"/>
              </a:rPr>
              <a:t>Faghihi</a:t>
            </a:r>
            <a:r>
              <a:rPr lang="en-US" sz="2400" dirty="0">
                <a:solidFill>
                  <a:srgbClr val="D9E8F8"/>
                </a:solidFill>
                <a:latin typeface="Calibri" pitchFamily="34" charset="0"/>
                <a:ea typeface="Calibri" pitchFamily="34" charset="-122"/>
                <a:cs typeface="Calibri" pitchFamily="34" charset="-120"/>
              </a:rPr>
              <a:t> (</a:t>
            </a:r>
            <a:r>
              <a:rPr lang="en-US" sz="2400" dirty="0" err="1">
                <a:solidFill>
                  <a:srgbClr val="D9E8F8"/>
                </a:solidFill>
                <a:latin typeface="Calibri" pitchFamily="34" charset="0"/>
                <a:ea typeface="Calibri" pitchFamily="34" charset="-122"/>
                <a:cs typeface="Calibri" pitchFamily="34" charset="-120"/>
              </a:rPr>
              <a:t>Superviseur</a:t>
            </a:r>
            <a:r>
              <a:rPr lang="en-US" sz="2400" dirty="0">
                <a:solidFill>
                  <a:srgbClr val="D9E8F8"/>
                </a:solidFill>
                <a:latin typeface="Calibri" pitchFamily="34" charset="0"/>
                <a:ea typeface="Calibri" pitchFamily="34" charset="-122"/>
                <a:cs typeface="Calibri" pitchFamily="34" charset="-120"/>
              </a:rPr>
              <a:t>)
</a:t>
            </a:r>
            <a:r>
              <a:rPr lang="en-US" sz="2400" dirty="0" err="1">
                <a:solidFill>
                  <a:srgbClr val="D9E8F8"/>
                </a:solidFill>
                <a:latin typeface="Calibri" pitchFamily="34" charset="0"/>
                <a:ea typeface="Calibri" pitchFamily="34" charset="-122"/>
                <a:cs typeface="Calibri" pitchFamily="34" charset="-120"/>
              </a:rPr>
              <a:t>Ultralytics</a:t>
            </a:r>
            <a:r>
              <a:rPr lang="en-US" sz="2400" dirty="0">
                <a:solidFill>
                  <a:srgbClr val="D9E8F8"/>
                </a:solidFill>
                <a:latin typeface="Calibri" pitchFamily="34" charset="0"/>
                <a:ea typeface="Calibri" pitchFamily="34" charset="-122"/>
                <a:cs typeface="Calibri" pitchFamily="34" charset="-120"/>
              </a:rPr>
              <a:t> — bibliothèque YOLO open-source
</a:t>
            </a:r>
            <a:r>
              <a:rPr lang="en-US" sz="2400" dirty="0" err="1">
                <a:solidFill>
                  <a:srgbClr val="D9E8F8"/>
                </a:solidFill>
                <a:latin typeface="Calibri" pitchFamily="34" charset="0"/>
                <a:ea typeface="Calibri" pitchFamily="34" charset="-122"/>
                <a:cs typeface="Calibri" pitchFamily="34" charset="-120"/>
              </a:rPr>
              <a:t>Roboflow</a:t>
            </a:r>
            <a:r>
              <a:rPr lang="en-US" sz="2400" dirty="0">
                <a:solidFill>
                  <a:srgbClr val="D9E8F8"/>
                </a:solidFill>
                <a:latin typeface="Calibri" pitchFamily="34" charset="0"/>
                <a:ea typeface="Calibri" pitchFamily="34" charset="-122"/>
                <a:cs typeface="Calibri" pitchFamily="34" charset="-120"/>
              </a:rPr>
              <a:t> — plateforme d'annotation
Google Colab — infrastructure GPU</a:t>
            </a:r>
            <a:endParaRPr lang="en-US" sz="2400" dirty="0"/>
          </a:p>
        </p:txBody>
      </p:sp>
      <p:sp>
        <p:nvSpPr>
          <p:cNvPr id="1027" name="Text 219">
            <a:extLst>
              <a:ext uri="{FF2B5EF4-FFF2-40B4-BE49-F238E27FC236}">
                <a16:creationId xmlns:a16="http://schemas.microsoft.com/office/drawing/2014/main" id="{AE7A2F76-6550-7926-E137-8C43AAA1AA6E}"/>
              </a:ext>
            </a:extLst>
          </p:cNvPr>
          <p:cNvSpPr/>
          <p:nvPr/>
        </p:nvSpPr>
        <p:spPr>
          <a:xfrm>
            <a:off x="29438717" y="24788155"/>
            <a:ext cx="6400800" cy="640080"/>
          </a:xfrm>
          <a:prstGeom prst="rect">
            <a:avLst/>
          </a:prstGeom>
          <a:noFill/>
          <a:ln/>
        </p:spPr>
        <p:txBody>
          <a:bodyPr wrap="square" rtlCol="0" anchor="ctr"/>
          <a:lstStyle/>
          <a:p>
            <a:pPr marL="0" indent="0" algn="ctr">
              <a:buNone/>
            </a:pPr>
            <a:r>
              <a:rPr lang="en-US" sz="2200" b="1" dirty="0">
                <a:solidFill>
                  <a:srgbClr val="D9E8F8"/>
                </a:solidFill>
                <a:latin typeface="Calibri" pitchFamily="34" charset="0"/>
                <a:ea typeface="Calibri" pitchFamily="34" charset="-122"/>
                <a:cs typeface="Calibri" pitchFamily="34" charset="-120"/>
              </a:rPr>
              <a:t>Contact</a:t>
            </a:r>
            <a:endParaRPr lang="en-US" sz="2200" dirty="0"/>
          </a:p>
        </p:txBody>
      </p:sp>
      <p:sp>
        <p:nvSpPr>
          <p:cNvPr id="1028" name="Text 220">
            <a:extLst>
              <a:ext uri="{FF2B5EF4-FFF2-40B4-BE49-F238E27FC236}">
                <a16:creationId xmlns:a16="http://schemas.microsoft.com/office/drawing/2014/main" id="{262B5EBE-D633-9AC5-1BF0-78025CF8222B}"/>
              </a:ext>
            </a:extLst>
          </p:cNvPr>
          <p:cNvSpPr/>
          <p:nvPr/>
        </p:nvSpPr>
        <p:spPr>
          <a:xfrm>
            <a:off x="31764036" y="25496875"/>
            <a:ext cx="6400800" cy="2743200"/>
          </a:xfrm>
          <a:prstGeom prst="rect">
            <a:avLst/>
          </a:prstGeom>
          <a:noFill/>
          <a:ln/>
        </p:spPr>
        <p:txBody>
          <a:bodyPr wrap="square" rtlCol="0" anchor="t"/>
          <a:lstStyle/>
          <a:p>
            <a:r>
              <a:rPr lang="en-US" sz="2200" dirty="0">
                <a:solidFill>
                  <a:srgbClr val="D9E8F8"/>
                </a:solidFill>
                <a:latin typeface="Calibri" pitchFamily="34" charset="0"/>
                <a:ea typeface="Calibri" pitchFamily="34" charset="-122"/>
                <a:cs typeface="Calibri" pitchFamily="34" charset="-120"/>
              </a:rPr>
              <a:t>Yannick Poirier
Yannick.Poirier@uqtr.ca
Université du Québec à Trois-Rivières</a:t>
            </a:r>
          </a:p>
          <a:p>
            <a:r>
              <a:rPr lang="en-US" sz="2200" dirty="0">
                <a:solidFill>
                  <a:srgbClr val="D9E8F8"/>
                </a:solidFill>
                <a:latin typeface="Calibri" pitchFamily="34" charset="0"/>
                <a:ea typeface="Calibri" pitchFamily="34" charset="-122"/>
                <a:cs typeface="Calibri" pitchFamily="34" charset="-120"/>
              </a:rPr>
              <a:t>Département Math-Info (DMI)
Hiver 2026</a:t>
            </a:r>
            <a:endParaRPr lang="en-US" sz="2200" dirty="0"/>
          </a:p>
        </p:txBody>
      </p:sp>
      <p:sp>
        <p:nvSpPr>
          <p:cNvPr id="1031" name="Shape 1">
            <a:extLst>
              <a:ext uri="{FF2B5EF4-FFF2-40B4-BE49-F238E27FC236}">
                <a16:creationId xmlns:a16="http://schemas.microsoft.com/office/drawing/2014/main" id="{DEF5D254-DE33-C454-2B4E-0B20A36D785C}"/>
              </a:ext>
            </a:extLst>
          </p:cNvPr>
          <p:cNvSpPr/>
          <p:nvPr/>
        </p:nvSpPr>
        <p:spPr>
          <a:xfrm>
            <a:off x="-2" y="28627193"/>
            <a:ext cx="39599921" cy="320040"/>
          </a:xfrm>
          <a:prstGeom prst="rect">
            <a:avLst/>
          </a:prstGeom>
          <a:solidFill>
            <a:srgbClr val="2E86C1"/>
          </a:solidFill>
          <a:ln w="12700">
            <a:solidFill>
              <a:srgbClr val="2E86C1"/>
            </a:solidFill>
            <a:prstDash val="solid"/>
          </a:ln>
        </p:spPr>
        <p:txBody>
          <a:bodyPr/>
          <a:lstStyle/>
          <a:p>
            <a:endParaRPr lang="fr-CA" dirty="0"/>
          </a:p>
        </p:txBody>
      </p:sp>
      <p:sp>
        <p:nvSpPr>
          <p:cNvPr id="1090" name="Shape 64">
            <a:extLst>
              <a:ext uri="{FF2B5EF4-FFF2-40B4-BE49-F238E27FC236}">
                <a16:creationId xmlns:a16="http://schemas.microsoft.com/office/drawing/2014/main" id="{A625DF65-B7B6-E5A6-0188-0E5D6D3173C8}"/>
              </a:ext>
            </a:extLst>
          </p:cNvPr>
          <p:cNvSpPr/>
          <p:nvPr/>
        </p:nvSpPr>
        <p:spPr>
          <a:xfrm>
            <a:off x="13730021" y="4671573"/>
            <a:ext cx="12070080" cy="23708610"/>
          </a:xfrm>
          <a:prstGeom prst="rect">
            <a:avLst/>
          </a:prstGeom>
          <a:solidFill>
            <a:srgbClr val="FFFFFF"/>
          </a:solidFill>
          <a:ln w="12700">
            <a:solidFill>
              <a:srgbClr val="C5D3E8"/>
            </a:solidFill>
            <a:prstDash val="solid"/>
          </a:ln>
          <a:effectLst>
            <a:outerShdw blurRad="63500" dist="25400" dir="8100000" algn="bl" rotWithShape="0">
              <a:srgbClr val="000000">
                <a:alpha val="10000"/>
              </a:srgbClr>
            </a:outerShdw>
          </a:effectLst>
        </p:spPr>
        <p:txBody>
          <a:bodyPr/>
          <a:lstStyle/>
          <a:p>
            <a:r>
              <a:rPr lang="en-US" b="1">
                <a:solidFill>
                  <a:srgbClr val="27AE60"/>
                </a:solidFill>
                <a:latin typeface="Calibri" pitchFamily="34" charset="0"/>
                <a:ea typeface="Calibri" pitchFamily="34" charset="-122"/>
                <a:cs typeface="Calibri" pitchFamily="34" charset="-120"/>
              </a:rPr>
              <a:t>Module de pointage composite — 5 composantes</a:t>
            </a:r>
            <a:endParaRPr lang="en-US" dirty="0"/>
          </a:p>
        </p:txBody>
      </p:sp>
      <p:sp>
        <p:nvSpPr>
          <p:cNvPr id="1091" name="Shape 65">
            <a:extLst>
              <a:ext uri="{FF2B5EF4-FFF2-40B4-BE49-F238E27FC236}">
                <a16:creationId xmlns:a16="http://schemas.microsoft.com/office/drawing/2014/main" id="{369288EE-28F8-A8E0-063E-9D2B3531B67B}"/>
              </a:ext>
            </a:extLst>
          </p:cNvPr>
          <p:cNvSpPr/>
          <p:nvPr/>
        </p:nvSpPr>
        <p:spPr>
          <a:xfrm>
            <a:off x="13729067" y="4628187"/>
            <a:ext cx="12070080" cy="1234440"/>
          </a:xfrm>
          <a:prstGeom prst="rect">
            <a:avLst/>
          </a:prstGeom>
          <a:solidFill>
            <a:srgbClr val="1A2B5E"/>
          </a:solidFill>
          <a:ln w="12700">
            <a:solidFill>
              <a:srgbClr val="243575"/>
            </a:solidFill>
            <a:prstDash val="solid"/>
          </a:ln>
        </p:spPr>
        <p:txBody>
          <a:bodyPr/>
          <a:lstStyle/>
          <a:p>
            <a:endParaRPr lang="fr-CA"/>
          </a:p>
        </p:txBody>
      </p:sp>
      <p:sp>
        <p:nvSpPr>
          <p:cNvPr id="1092" name="Text 66">
            <a:extLst>
              <a:ext uri="{FF2B5EF4-FFF2-40B4-BE49-F238E27FC236}">
                <a16:creationId xmlns:a16="http://schemas.microsoft.com/office/drawing/2014/main" id="{47572EFF-39C1-2D44-50D4-88EF80E3EAB0}"/>
              </a:ext>
            </a:extLst>
          </p:cNvPr>
          <p:cNvSpPr/>
          <p:nvPr/>
        </p:nvSpPr>
        <p:spPr>
          <a:xfrm>
            <a:off x="13957667" y="4628187"/>
            <a:ext cx="11612880" cy="1234440"/>
          </a:xfrm>
          <a:prstGeom prst="rect">
            <a:avLst/>
          </a:prstGeom>
          <a:noFill/>
          <a:ln/>
        </p:spPr>
        <p:txBody>
          <a:bodyPr wrap="square"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Méthodologie</a:t>
            </a:r>
            <a:endParaRPr lang="en-US" sz="2600" dirty="0"/>
          </a:p>
        </p:txBody>
      </p:sp>
      <p:sp>
        <p:nvSpPr>
          <p:cNvPr id="1093" name="Text 67">
            <a:extLst>
              <a:ext uri="{FF2B5EF4-FFF2-40B4-BE49-F238E27FC236}">
                <a16:creationId xmlns:a16="http://schemas.microsoft.com/office/drawing/2014/main" id="{E41186E3-A8AC-53E8-3300-F1CB22A7253C}"/>
              </a:ext>
            </a:extLst>
          </p:cNvPr>
          <p:cNvSpPr/>
          <p:nvPr/>
        </p:nvSpPr>
        <p:spPr>
          <a:xfrm>
            <a:off x="13957667" y="5999787"/>
            <a:ext cx="11612880" cy="640080"/>
          </a:xfrm>
          <a:prstGeom prst="rect">
            <a:avLst/>
          </a:prstGeom>
          <a:noFill/>
          <a:ln/>
        </p:spPr>
        <p:txBody>
          <a:bodyPr wrap="square" rtlCol="0" anchor="ctr"/>
          <a:lstStyle/>
          <a:p>
            <a:pPr marL="0" indent="0">
              <a:buNone/>
            </a:pPr>
            <a:r>
              <a:rPr lang="en-US" sz="2400" b="1" dirty="0">
                <a:solidFill>
                  <a:srgbClr val="1A2B5E"/>
                </a:solidFill>
                <a:latin typeface="Calibri" pitchFamily="34" charset="0"/>
                <a:ea typeface="Calibri" pitchFamily="34" charset="-122"/>
                <a:cs typeface="Calibri" pitchFamily="34" charset="-120"/>
              </a:rPr>
              <a:t>Pipeline multi-modèles en cascade</a:t>
            </a:r>
            <a:endParaRPr lang="en-US" sz="2400" dirty="0"/>
          </a:p>
        </p:txBody>
      </p:sp>
      <p:sp>
        <p:nvSpPr>
          <p:cNvPr id="1095" name="Text 69">
            <a:extLst>
              <a:ext uri="{FF2B5EF4-FFF2-40B4-BE49-F238E27FC236}">
                <a16:creationId xmlns:a16="http://schemas.microsoft.com/office/drawing/2014/main" id="{36AAC4EE-9D9A-B2AE-0597-3523215E86DE}"/>
              </a:ext>
            </a:extLst>
          </p:cNvPr>
          <p:cNvSpPr/>
          <p:nvPr/>
        </p:nvSpPr>
        <p:spPr>
          <a:xfrm>
            <a:off x="13957667" y="6777027"/>
            <a:ext cx="2720340" cy="155448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Image d'entrée</a:t>
            </a:r>
            <a:endParaRPr lang="en-US" sz="2200" dirty="0"/>
          </a:p>
        </p:txBody>
      </p:sp>
      <p:sp>
        <p:nvSpPr>
          <p:cNvPr id="1098" name="Text 72">
            <a:extLst>
              <a:ext uri="{FF2B5EF4-FFF2-40B4-BE49-F238E27FC236}">
                <a16:creationId xmlns:a16="http://schemas.microsoft.com/office/drawing/2014/main" id="{1F9A8A93-717D-347F-83B2-909E83B2C89D}"/>
              </a:ext>
            </a:extLst>
          </p:cNvPr>
          <p:cNvSpPr/>
          <p:nvPr/>
        </p:nvSpPr>
        <p:spPr>
          <a:xfrm>
            <a:off x="16924895" y="6777027"/>
            <a:ext cx="2720340" cy="1554480"/>
          </a:xfrm>
          <a:prstGeom prst="rect">
            <a:avLst/>
          </a:prstGeom>
          <a:noFill/>
          <a:ln/>
        </p:spPr>
        <p:txBody>
          <a:bodyPr wrap="square" rtlCol="0" anchor="ctr"/>
          <a:lstStyle/>
          <a:p>
            <a:pPr marL="0" indent="0" algn="ctr">
              <a:buNone/>
            </a:pPr>
            <a:endParaRPr lang="en-US" sz="2200" dirty="0"/>
          </a:p>
        </p:txBody>
      </p:sp>
      <p:sp>
        <p:nvSpPr>
          <p:cNvPr id="1101" name="Text 75">
            <a:extLst>
              <a:ext uri="{FF2B5EF4-FFF2-40B4-BE49-F238E27FC236}">
                <a16:creationId xmlns:a16="http://schemas.microsoft.com/office/drawing/2014/main" id="{CB1E36B7-2193-D0EE-2D57-7BC3B70976FA}"/>
              </a:ext>
            </a:extLst>
          </p:cNvPr>
          <p:cNvSpPr/>
          <p:nvPr/>
        </p:nvSpPr>
        <p:spPr>
          <a:xfrm>
            <a:off x="19892123" y="6777027"/>
            <a:ext cx="2720340" cy="155448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YOLO11s v5</a:t>
            </a:r>
            <a:endParaRPr lang="en-US" sz="2200" dirty="0"/>
          </a:p>
          <a:p>
            <a:pPr marL="0" indent="0" algn="ctr">
              <a:buNone/>
            </a:pPr>
            <a:r>
              <a:rPr lang="en-US" sz="2200" b="1" dirty="0">
                <a:solidFill>
                  <a:srgbClr val="FFFFFF"/>
                </a:solidFill>
                <a:latin typeface="Calibri" pitchFamily="34" charset="0"/>
                <a:ea typeface="Calibri" pitchFamily="34" charset="-122"/>
                <a:cs typeface="Calibri" pitchFamily="34" charset="-120"/>
              </a:rPr>
              <a:t>(17 classes)</a:t>
            </a:r>
            <a:endParaRPr lang="en-US" sz="2200" dirty="0"/>
          </a:p>
        </p:txBody>
      </p:sp>
      <p:sp>
        <p:nvSpPr>
          <p:cNvPr id="1102" name="Text 76">
            <a:extLst>
              <a:ext uri="{FF2B5EF4-FFF2-40B4-BE49-F238E27FC236}">
                <a16:creationId xmlns:a16="http://schemas.microsoft.com/office/drawing/2014/main" id="{9D9B3232-C241-4E55-3A7C-30FF0BAEA24B}"/>
              </a:ext>
            </a:extLst>
          </p:cNvPr>
          <p:cNvSpPr/>
          <p:nvPr/>
        </p:nvSpPr>
        <p:spPr>
          <a:xfrm>
            <a:off x="22630751" y="7371387"/>
            <a:ext cx="201168" cy="365760"/>
          </a:xfrm>
          <a:prstGeom prst="rect">
            <a:avLst/>
          </a:prstGeom>
          <a:noFill/>
          <a:ln/>
        </p:spPr>
        <p:txBody>
          <a:bodyPr wrap="square" rtlCol="0" anchor="ctr"/>
          <a:lstStyle/>
          <a:p>
            <a:pPr marL="0" indent="0" algn="ctr">
              <a:buNone/>
            </a:pPr>
            <a:endParaRPr lang="en-US" sz="2200" dirty="0"/>
          </a:p>
        </p:txBody>
      </p:sp>
      <p:sp>
        <p:nvSpPr>
          <p:cNvPr id="1104" name="Text 78">
            <a:extLst>
              <a:ext uri="{FF2B5EF4-FFF2-40B4-BE49-F238E27FC236}">
                <a16:creationId xmlns:a16="http://schemas.microsoft.com/office/drawing/2014/main" id="{132E5C88-B662-6FDE-CF5B-7EAD441E9E36}"/>
              </a:ext>
            </a:extLst>
          </p:cNvPr>
          <p:cNvSpPr/>
          <p:nvPr/>
        </p:nvSpPr>
        <p:spPr>
          <a:xfrm>
            <a:off x="22859351" y="6777027"/>
            <a:ext cx="2720340" cy="155448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Vote pondéré</a:t>
            </a:r>
            <a:endParaRPr lang="en-US" sz="2200" dirty="0"/>
          </a:p>
          <a:p>
            <a:pPr marL="0" indent="0" algn="ctr">
              <a:buNone/>
            </a:pPr>
            <a:r>
              <a:rPr lang="en-US" sz="2200" b="1" dirty="0">
                <a:solidFill>
                  <a:srgbClr val="FFFFFF"/>
                </a:solidFill>
                <a:latin typeface="Calibri" pitchFamily="34" charset="0"/>
                <a:ea typeface="Calibri" pitchFamily="34" charset="-122"/>
                <a:cs typeface="Calibri" pitchFamily="34" charset="-120"/>
              </a:rPr>
              <a:t>Zone d'impact</a:t>
            </a:r>
            <a:endParaRPr lang="en-US" sz="2200" dirty="0"/>
          </a:p>
        </p:txBody>
      </p:sp>
      <p:sp>
        <p:nvSpPr>
          <p:cNvPr id="1106" name="Text 80">
            <a:extLst>
              <a:ext uri="{FF2B5EF4-FFF2-40B4-BE49-F238E27FC236}">
                <a16:creationId xmlns:a16="http://schemas.microsoft.com/office/drawing/2014/main" id="{F00BE83B-BA63-0A2C-86DC-B29290190EA4}"/>
              </a:ext>
            </a:extLst>
          </p:cNvPr>
          <p:cNvSpPr/>
          <p:nvPr/>
        </p:nvSpPr>
        <p:spPr>
          <a:xfrm>
            <a:off x="22732289" y="8732332"/>
            <a:ext cx="2720340" cy="155448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Classificateur</a:t>
            </a:r>
            <a:endParaRPr lang="en-US" sz="2200" dirty="0"/>
          </a:p>
          <a:p>
            <a:pPr marL="0" indent="0" algn="ctr">
              <a:buNone/>
            </a:pPr>
            <a:r>
              <a:rPr lang="en-US" sz="2200" b="1" dirty="0">
                <a:solidFill>
                  <a:srgbClr val="FFFFFF"/>
                </a:solidFill>
                <a:latin typeface="Calibri" pitchFamily="34" charset="0"/>
                <a:ea typeface="Calibri" pitchFamily="34" charset="-122"/>
                <a:cs typeface="Calibri" pitchFamily="34" charset="-120"/>
              </a:rPr>
              <a:t>zone v3</a:t>
            </a:r>
            <a:endParaRPr lang="en-US" sz="2200" dirty="0"/>
          </a:p>
        </p:txBody>
      </p:sp>
      <p:sp>
        <p:nvSpPr>
          <p:cNvPr id="1109" name="Text 83">
            <a:extLst>
              <a:ext uri="{FF2B5EF4-FFF2-40B4-BE49-F238E27FC236}">
                <a16:creationId xmlns:a16="http://schemas.microsoft.com/office/drawing/2014/main" id="{4D659766-3155-5D63-34A0-BF0801156109}"/>
              </a:ext>
            </a:extLst>
          </p:cNvPr>
          <p:cNvSpPr/>
          <p:nvPr/>
        </p:nvSpPr>
        <p:spPr>
          <a:xfrm>
            <a:off x="16811549" y="8708501"/>
            <a:ext cx="2720340" cy="1554480"/>
          </a:xfrm>
          <a:prstGeom prst="rect">
            <a:avLst/>
          </a:prstGeom>
          <a:noFill/>
          <a:ln/>
        </p:spPr>
        <p:txBody>
          <a:bodyPr wrap="square" rtlCol="0" anchor="ctr"/>
          <a:lstStyle/>
          <a:p>
            <a:pPr marL="0" indent="0" algn="ctr">
              <a:buNone/>
            </a:pPr>
            <a:r>
              <a:rPr lang="en-US" sz="2200" b="1" dirty="0" err="1">
                <a:solidFill>
                  <a:srgbClr val="FFFFFF"/>
                </a:solidFill>
                <a:latin typeface="Calibri" pitchFamily="34" charset="0"/>
                <a:ea typeface="Calibri" pitchFamily="34" charset="-122"/>
                <a:cs typeface="Calibri" pitchFamily="34" charset="-120"/>
              </a:rPr>
              <a:t>Pointage</a:t>
            </a:r>
            <a:r>
              <a:rPr lang="en-US" sz="2200" b="1" dirty="0">
                <a:solidFill>
                  <a:srgbClr val="FFFFFF"/>
                </a:solidFill>
                <a:latin typeface="Calibri" pitchFamily="34" charset="0"/>
                <a:ea typeface="Calibri" pitchFamily="34" charset="-122"/>
                <a:cs typeface="Calibri" pitchFamily="34" charset="-120"/>
              </a:rPr>
              <a:t> par</a:t>
            </a:r>
            <a:endParaRPr lang="en-US" sz="2200" dirty="0"/>
          </a:p>
          <a:p>
            <a:pPr marL="0" indent="0" algn="ctr">
              <a:buNone/>
            </a:pPr>
            <a:r>
              <a:rPr lang="en-US" sz="2200" b="1" dirty="0">
                <a:solidFill>
                  <a:srgbClr val="FFFFFF"/>
                </a:solidFill>
                <a:latin typeface="Calibri" pitchFamily="34" charset="0"/>
                <a:ea typeface="Calibri" pitchFamily="34" charset="-122"/>
                <a:cs typeface="Calibri" pitchFamily="34" charset="-120"/>
              </a:rPr>
              <a:t>composite</a:t>
            </a:r>
            <a:endParaRPr lang="en-US" sz="2200" dirty="0"/>
          </a:p>
        </p:txBody>
      </p:sp>
      <p:sp>
        <p:nvSpPr>
          <p:cNvPr id="1112" name="Text 86">
            <a:extLst>
              <a:ext uri="{FF2B5EF4-FFF2-40B4-BE49-F238E27FC236}">
                <a16:creationId xmlns:a16="http://schemas.microsoft.com/office/drawing/2014/main" id="{4C081834-8A11-8D77-6CC3-9798EC013944}"/>
              </a:ext>
            </a:extLst>
          </p:cNvPr>
          <p:cNvSpPr/>
          <p:nvPr/>
        </p:nvSpPr>
        <p:spPr>
          <a:xfrm>
            <a:off x="19783349" y="8726726"/>
            <a:ext cx="2720340" cy="155448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Modèle SEV</a:t>
            </a:r>
            <a:endParaRPr lang="en-US" sz="2200" dirty="0"/>
          </a:p>
          <a:p>
            <a:pPr marL="0" indent="0" algn="ctr">
              <a:buNone/>
            </a:pPr>
            <a:r>
              <a:rPr lang="en-US" sz="2200" b="1" dirty="0">
                <a:solidFill>
                  <a:srgbClr val="FFFFFF"/>
                </a:solidFill>
                <a:latin typeface="Calibri" pitchFamily="34" charset="0"/>
                <a:ea typeface="Calibri" pitchFamily="34" charset="-122"/>
                <a:cs typeface="Calibri" pitchFamily="34" charset="-120"/>
              </a:rPr>
              <a:t>Sévérité</a:t>
            </a:r>
            <a:endParaRPr lang="en-US" sz="2200" dirty="0"/>
          </a:p>
        </p:txBody>
      </p:sp>
      <p:sp>
        <p:nvSpPr>
          <p:cNvPr id="1113" name="Text 87">
            <a:extLst>
              <a:ext uri="{FF2B5EF4-FFF2-40B4-BE49-F238E27FC236}">
                <a16:creationId xmlns:a16="http://schemas.microsoft.com/office/drawing/2014/main" id="{40C3D733-27AA-2583-1C6F-EAF377CDCFFE}"/>
              </a:ext>
            </a:extLst>
          </p:cNvPr>
          <p:cNvSpPr/>
          <p:nvPr/>
        </p:nvSpPr>
        <p:spPr>
          <a:xfrm rot="5400000">
            <a:off x="24219521" y="8339928"/>
            <a:ext cx="201168" cy="365760"/>
          </a:xfrm>
          <a:prstGeom prst="rect">
            <a:avLst/>
          </a:prstGeom>
          <a:noFill/>
          <a:ln/>
        </p:spPr>
        <p:txBody>
          <a:bodyPr wrap="square" rtlCol="0" anchor="ctr"/>
          <a:lstStyle/>
          <a:p>
            <a:pPr marL="0" indent="0" algn="ctr">
              <a:buNone/>
            </a:pPr>
            <a:r>
              <a:rPr lang="en-US" sz="2200" dirty="0">
                <a:solidFill>
                  <a:srgbClr val="566573"/>
                </a:solidFill>
              </a:rPr>
              <a:t>▶</a:t>
            </a:r>
            <a:endParaRPr lang="en-US" sz="2200" dirty="0"/>
          </a:p>
        </p:txBody>
      </p:sp>
      <p:sp>
        <p:nvSpPr>
          <p:cNvPr id="1115" name="Text 89">
            <a:extLst>
              <a:ext uri="{FF2B5EF4-FFF2-40B4-BE49-F238E27FC236}">
                <a16:creationId xmlns:a16="http://schemas.microsoft.com/office/drawing/2014/main" id="{6A6C0DF2-3F70-BA1A-9BA7-A462AB581EAB}"/>
              </a:ext>
            </a:extLst>
          </p:cNvPr>
          <p:cNvSpPr/>
          <p:nvPr/>
        </p:nvSpPr>
        <p:spPr>
          <a:xfrm>
            <a:off x="13858037" y="8715487"/>
            <a:ext cx="2720340" cy="155448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Rapport</a:t>
            </a:r>
            <a:endParaRPr lang="en-US" sz="2200" dirty="0"/>
          </a:p>
        </p:txBody>
      </p:sp>
      <p:sp>
        <p:nvSpPr>
          <p:cNvPr id="1117" name="Shape 91">
            <a:extLst>
              <a:ext uri="{FF2B5EF4-FFF2-40B4-BE49-F238E27FC236}">
                <a16:creationId xmlns:a16="http://schemas.microsoft.com/office/drawing/2014/main" id="{A6BF694E-7F15-3BD7-5B04-B252E8AF89F0}"/>
              </a:ext>
            </a:extLst>
          </p:cNvPr>
          <p:cNvSpPr/>
          <p:nvPr/>
        </p:nvSpPr>
        <p:spPr>
          <a:xfrm>
            <a:off x="13830605" y="10692565"/>
            <a:ext cx="11612880" cy="64008"/>
          </a:xfrm>
          <a:prstGeom prst="rect">
            <a:avLst/>
          </a:prstGeom>
          <a:solidFill>
            <a:srgbClr val="B8D0F0"/>
          </a:solidFill>
          <a:ln w="12700">
            <a:solidFill>
              <a:srgbClr val="B8D0F0"/>
            </a:solidFill>
            <a:prstDash val="solid"/>
          </a:ln>
        </p:spPr>
        <p:txBody>
          <a:bodyPr/>
          <a:lstStyle/>
          <a:p>
            <a:endParaRPr lang="fr-CA"/>
          </a:p>
        </p:txBody>
      </p:sp>
      <p:sp>
        <p:nvSpPr>
          <p:cNvPr id="1118" name="Text 92">
            <a:extLst>
              <a:ext uri="{FF2B5EF4-FFF2-40B4-BE49-F238E27FC236}">
                <a16:creationId xmlns:a16="http://schemas.microsoft.com/office/drawing/2014/main" id="{AB420E4D-FD1E-8E75-84FC-EDDEEFF2A91F}"/>
              </a:ext>
            </a:extLst>
          </p:cNvPr>
          <p:cNvSpPr/>
          <p:nvPr/>
        </p:nvSpPr>
        <p:spPr>
          <a:xfrm>
            <a:off x="13957667" y="10891827"/>
            <a:ext cx="11612880" cy="640080"/>
          </a:xfrm>
          <a:prstGeom prst="rect">
            <a:avLst/>
          </a:prstGeom>
          <a:noFill/>
          <a:ln/>
        </p:spPr>
        <p:txBody>
          <a:bodyPr wrap="square" rtlCol="0" anchor="ctr"/>
          <a:lstStyle/>
          <a:p>
            <a:pPr marL="0" indent="0">
              <a:buNone/>
            </a:pPr>
            <a:r>
              <a:rPr lang="en-US" sz="2400" b="1" dirty="0">
                <a:solidFill>
                  <a:srgbClr val="1A2B5E"/>
                </a:solidFill>
                <a:latin typeface="Calibri" pitchFamily="34" charset="0"/>
                <a:ea typeface="Calibri" pitchFamily="34" charset="-122"/>
                <a:cs typeface="Calibri" pitchFamily="34" charset="-120"/>
              </a:rPr>
              <a:t>Modèle 1 — YOLO11s v5 (détection)</a:t>
            </a:r>
            <a:endParaRPr lang="en-US" sz="2400" dirty="0"/>
          </a:p>
        </p:txBody>
      </p:sp>
      <p:sp>
        <p:nvSpPr>
          <p:cNvPr id="1119" name="Text 93">
            <a:extLst>
              <a:ext uri="{FF2B5EF4-FFF2-40B4-BE49-F238E27FC236}">
                <a16:creationId xmlns:a16="http://schemas.microsoft.com/office/drawing/2014/main" id="{4F728696-8B76-5C25-854B-08F14A500642}"/>
              </a:ext>
            </a:extLst>
          </p:cNvPr>
          <p:cNvSpPr/>
          <p:nvPr/>
        </p:nvSpPr>
        <p:spPr>
          <a:xfrm>
            <a:off x="13957667" y="11410614"/>
            <a:ext cx="11612880" cy="1117582"/>
          </a:xfrm>
          <a:prstGeom prst="rect">
            <a:avLst/>
          </a:prstGeom>
          <a:noFill/>
          <a:ln/>
        </p:spPr>
        <p:txBody>
          <a:bodyPr wrap="square" rtlCol="0" anchor="t"/>
          <a:lstStyle/>
          <a:p>
            <a:pPr marL="0" indent="0">
              <a:buNone/>
            </a:pPr>
            <a:r>
              <a:rPr lang="en-US" sz="2200" b="1" dirty="0">
                <a:solidFill>
                  <a:srgbClr val="1C2833"/>
                </a:solidFill>
                <a:latin typeface="Calibri" panose="020F0502020204030204" pitchFamily="34" charset="0"/>
                <a:ea typeface="Calibri" panose="020F0502020204030204" pitchFamily="34" charset="0"/>
                <a:cs typeface="Calibri" panose="020F0502020204030204" pitchFamily="34" charset="0"/>
              </a:rPr>
              <a:t>Architecture : </a:t>
            </a:r>
            <a:r>
              <a:rPr lang="en-US" sz="2200" dirty="0">
                <a:solidFill>
                  <a:srgbClr val="1C2833"/>
                </a:solidFill>
                <a:latin typeface="Calibri" panose="020F0502020204030204" pitchFamily="34" charset="0"/>
                <a:ea typeface="Calibri" panose="020F0502020204030204" pitchFamily="34" charset="0"/>
                <a:cs typeface="Calibri" panose="020F0502020204030204" pitchFamily="34" charset="0"/>
              </a:rPr>
              <a:t>YOLO11s  ·  9.4M paramètres  ·  imgsz=640  ·  100 epochs
</a:t>
            </a:r>
            <a:r>
              <a:rPr lang="en-US" sz="2200" b="1" dirty="0">
                <a:solidFill>
                  <a:srgbClr val="1C2833"/>
                </a:solidFill>
                <a:latin typeface="Calibri" panose="020F0502020204030204" pitchFamily="34" charset="0"/>
                <a:ea typeface="Calibri" panose="020F0502020204030204" pitchFamily="34" charset="0"/>
                <a:cs typeface="Calibri" panose="020F0502020204030204" pitchFamily="34" charset="0"/>
              </a:rPr>
              <a:t>Optimiseur : </a:t>
            </a:r>
            <a:r>
              <a:rPr lang="en-US" sz="2200" dirty="0">
                <a:solidFill>
                  <a:srgbClr val="1C2833"/>
                </a:solidFill>
                <a:latin typeface="Calibri" panose="020F0502020204030204" pitchFamily="34" charset="0"/>
                <a:ea typeface="Calibri" panose="020F0502020204030204" pitchFamily="34" charset="0"/>
                <a:cs typeface="Calibri" panose="020F0502020204030204" pitchFamily="34" charset="0"/>
              </a:rPr>
              <a:t>AdamW (auto)  ·  conf=0.353 (pic F1)  ·  iou=0.50</a:t>
            </a:r>
          </a:p>
          <a:p>
            <a:r>
              <a:rPr lang="en-US" sz="2200" b="1" dirty="0">
                <a:solidFill>
                  <a:srgbClr val="1C2833"/>
                </a:solidFill>
                <a:latin typeface="Calibri" panose="020F0502020204030204" pitchFamily="34" charset="0"/>
                <a:ea typeface="Calibri" panose="020F0502020204030204" pitchFamily="34" charset="0"/>
                <a:cs typeface="Calibri" panose="020F0502020204030204" pitchFamily="34" charset="0"/>
              </a:rPr>
              <a:t>Données : </a:t>
            </a:r>
            <a:r>
              <a:rPr lang="en-US" sz="2200" dirty="0">
                <a:solidFill>
                  <a:srgbClr val="1C2833"/>
                </a:solidFill>
                <a:latin typeface="Calibri" panose="020F0502020204030204" pitchFamily="34" charset="0"/>
                <a:ea typeface="Calibri" panose="020F0502020204030204" pitchFamily="34" charset="0"/>
                <a:cs typeface="Calibri" panose="020F0502020204030204" pitchFamily="34" charset="0"/>
              </a:rPr>
              <a:t>800 images </a:t>
            </a:r>
            <a:r>
              <a:rPr lang="en-US" sz="2200" dirty="0" err="1">
                <a:solidFill>
                  <a:srgbClr val="1C2833"/>
                </a:solidFill>
                <a:latin typeface="Calibri" panose="020F0502020204030204" pitchFamily="34" charset="0"/>
                <a:ea typeface="Calibri" panose="020F0502020204030204" pitchFamily="34" charset="0"/>
                <a:cs typeface="Calibri" panose="020F0502020204030204" pitchFamily="34" charset="0"/>
              </a:rPr>
              <a:t>labellisées</a:t>
            </a:r>
            <a:r>
              <a:rPr lang="en-US" sz="2200" dirty="0">
                <a:solidFill>
                  <a:srgbClr val="1C2833"/>
                </a:solidFill>
                <a:latin typeface="Calibri" panose="020F0502020204030204" pitchFamily="34" charset="0"/>
                <a:ea typeface="Calibri" panose="020F0502020204030204" pitchFamily="34" charset="0"/>
                <a:cs typeface="Calibri" panose="020F0502020204030204" pitchFamily="34" charset="0"/>
              </a:rPr>
              <a:t> </a:t>
            </a:r>
            <a:r>
              <a:rPr lang="en-US" sz="2200" dirty="0" err="1">
                <a:solidFill>
                  <a:srgbClr val="1C2833"/>
                </a:solidFill>
                <a:latin typeface="Calibri" panose="020F0502020204030204" pitchFamily="34" charset="0"/>
                <a:ea typeface="Calibri" panose="020F0502020204030204" pitchFamily="34" charset="0"/>
                <a:cs typeface="Calibri" panose="020F0502020204030204" pitchFamily="34" charset="0"/>
              </a:rPr>
              <a:t>manuellement</a:t>
            </a:r>
            <a:r>
              <a:rPr lang="en-US" sz="2200" dirty="0">
                <a:solidFill>
                  <a:srgbClr val="1C2833"/>
                </a:solidFill>
                <a:latin typeface="Calibri" panose="020F0502020204030204" pitchFamily="34" charset="0"/>
                <a:ea typeface="Calibri" panose="020F0502020204030204" pitchFamily="34" charset="0"/>
                <a:cs typeface="Calibri" panose="020F0502020204030204" pitchFamily="34" charset="0"/>
              </a:rPr>
              <a:t> avec </a:t>
            </a:r>
            <a:r>
              <a:rPr lang="en-US" sz="2200" dirty="0" err="1">
                <a:solidFill>
                  <a:srgbClr val="1C2833"/>
                </a:solidFill>
                <a:latin typeface="Calibri" panose="020F0502020204030204" pitchFamily="34" charset="0"/>
                <a:ea typeface="Calibri" panose="020F0502020204030204" pitchFamily="34" charset="0"/>
                <a:cs typeface="Calibri" panose="020F0502020204030204" pitchFamily="34" charset="0"/>
              </a:rPr>
              <a:t>Roboflow</a:t>
            </a:r>
            <a:r>
              <a:rPr lang="en-US" sz="2200" dirty="0">
                <a:solidFill>
                  <a:srgbClr val="1C2833"/>
                </a:solidFill>
                <a:latin typeface="Calibri" panose="020F0502020204030204" pitchFamily="34" charset="0"/>
                <a:ea typeface="Calibri" panose="020F0502020204030204" pitchFamily="34" charset="0"/>
                <a:cs typeface="Calibri" panose="020F0502020204030204" pitchFamily="34" charset="0"/>
              </a:rPr>
              <a:t> </a:t>
            </a:r>
          </a:p>
          <a:p>
            <a:r>
              <a:rPr lang="en-US" sz="2200" b="1" dirty="0" err="1">
                <a:solidFill>
                  <a:srgbClr val="1C2833"/>
                </a:solidFill>
                <a:latin typeface="Calibri" panose="020F0502020204030204" pitchFamily="34" charset="0"/>
                <a:ea typeface="Calibri" panose="020F0502020204030204" pitchFamily="34" charset="0"/>
                <a:cs typeface="Calibri" panose="020F0502020204030204" pitchFamily="34" charset="0"/>
              </a:rPr>
              <a:t>Rôle</a:t>
            </a:r>
            <a:r>
              <a:rPr lang="en-US" sz="2200" b="1" dirty="0">
                <a:solidFill>
                  <a:srgbClr val="1C2833"/>
                </a:solidFill>
                <a:latin typeface="Calibri" panose="020F0502020204030204" pitchFamily="34" charset="0"/>
                <a:ea typeface="Calibri" panose="020F0502020204030204" pitchFamily="34" charset="0"/>
                <a:cs typeface="Calibri" panose="020F0502020204030204" pitchFamily="34" charset="0"/>
              </a:rPr>
              <a:t> : </a:t>
            </a:r>
            <a:r>
              <a:rPr lang="en-US" sz="2200" dirty="0" err="1">
                <a:solidFill>
                  <a:srgbClr val="1C2833"/>
                </a:solidFill>
                <a:latin typeface="Calibri" panose="020F0502020204030204" pitchFamily="34" charset="0"/>
                <a:ea typeface="Calibri" panose="020F0502020204030204" pitchFamily="34" charset="0"/>
                <a:cs typeface="Calibri" panose="020F0502020204030204" pitchFamily="34" charset="0"/>
              </a:rPr>
              <a:t>Détecter</a:t>
            </a:r>
            <a:r>
              <a:rPr lang="en-US" sz="2200" dirty="0">
                <a:solidFill>
                  <a:srgbClr val="1C2833"/>
                </a:solidFill>
                <a:latin typeface="Calibri" panose="020F0502020204030204" pitchFamily="34" charset="0"/>
                <a:ea typeface="Calibri" panose="020F0502020204030204" pitchFamily="34" charset="0"/>
                <a:cs typeface="Calibri" panose="020F0502020204030204" pitchFamily="34" charset="0"/>
              </a:rPr>
              <a:t> et identifier les pieces automobiles (saines et </a:t>
            </a:r>
            <a:r>
              <a:rPr lang="en-US" sz="2200" dirty="0" err="1">
                <a:solidFill>
                  <a:srgbClr val="1C2833"/>
                </a:solidFill>
                <a:latin typeface="Calibri" panose="020F0502020204030204" pitchFamily="34" charset="0"/>
                <a:ea typeface="Calibri" panose="020F0502020204030204" pitchFamily="34" charset="0"/>
                <a:cs typeface="Calibri" panose="020F0502020204030204" pitchFamily="34" charset="0"/>
              </a:rPr>
              <a:t>endommagées</a:t>
            </a:r>
            <a:r>
              <a:rPr lang="en-US" sz="2200" dirty="0">
                <a:solidFill>
                  <a:srgbClr val="1C2833"/>
                </a:solidFill>
                <a:latin typeface="Calibri" panose="020F0502020204030204" pitchFamily="34" charset="0"/>
                <a:ea typeface="Calibri" panose="020F0502020204030204" pitchFamily="34" charset="0"/>
                <a:cs typeface="Calibri" panose="020F0502020204030204" pitchFamily="34" charset="0"/>
              </a:rPr>
              <a:t>)</a:t>
            </a:r>
            <a:r>
              <a:rPr lang="en-US" sz="2200" dirty="0">
                <a:solidFill>
                  <a:srgbClr val="1C2833"/>
                </a:solidFill>
                <a:latin typeface="Calibri" pitchFamily="34" charset="0"/>
                <a:ea typeface="Calibri" pitchFamily="34" charset="-122"/>
                <a:cs typeface="Calibri" pitchFamily="34" charset="-120"/>
              </a:rPr>
              <a:t>
</a:t>
            </a:r>
            <a:endParaRPr lang="en-US" sz="2200" dirty="0"/>
          </a:p>
        </p:txBody>
      </p:sp>
      <p:sp>
        <p:nvSpPr>
          <p:cNvPr id="1122" name="Shape 95">
            <a:extLst>
              <a:ext uri="{FF2B5EF4-FFF2-40B4-BE49-F238E27FC236}">
                <a16:creationId xmlns:a16="http://schemas.microsoft.com/office/drawing/2014/main" id="{DBEBECB5-0120-9D80-F9C8-85C02A4D6729}"/>
              </a:ext>
            </a:extLst>
          </p:cNvPr>
          <p:cNvSpPr/>
          <p:nvPr/>
        </p:nvSpPr>
        <p:spPr>
          <a:xfrm>
            <a:off x="13954049" y="15333298"/>
            <a:ext cx="11612880" cy="64008"/>
          </a:xfrm>
          <a:prstGeom prst="rect">
            <a:avLst/>
          </a:prstGeom>
          <a:solidFill>
            <a:srgbClr val="B8D0F0"/>
          </a:solidFill>
          <a:ln w="12700">
            <a:solidFill>
              <a:srgbClr val="B8D0F0"/>
            </a:solidFill>
            <a:prstDash val="solid"/>
          </a:ln>
        </p:spPr>
        <p:txBody>
          <a:bodyPr/>
          <a:lstStyle/>
          <a:p>
            <a:endParaRPr lang="fr-CA"/>
          </a:p>
        </p:txBody>
      </p:sp>
      <p:sp>
        <p:nvSpPr>
          <p:cNvPr id="1123" name="Text 96">
            <a:extLst>
              <a:ext uri="{FF2B5EF4-FFF2-40B4-BE49-F238E27FC236}">
                <a16:creationId xmlns:a16="http://schemas.microsoft.com/office/drawing/2014/main" id="{8796C18D-0A77-562F-3190-ADD78ABBA741}"/>
              </a:ext>
            </a:extLst>
          </p:cNvPr>
          <p:cNvSpPr/>
          <p:nvPr/>
        </p:nvSpPr>
        <p:spPr>
          <a:xfrm>
            <a:off x="13954049" y="15516178"/>
            <a:ext cx="11612880" cy="640080"/>
          </a:xfrm>
          <a:prstGeom prst="rect">
            <a:avLst/>
          </a:prstGeom>
          <a:noFill/>
          <a:ln/>
        </p:spPr>
        <p:txBody>
          <a:bodyPr wrap="square" rtlCol="0" anchor="ctr"/>
          <a:lstStyle/>
          <a:p>
            <a:pPr marL="0" indent="0">
              <a:buNone/>
            </a:pPr>
            <a:r>
              <a:rPr lang="en-US" sz="2400" b="1" dirty="0">
                <a:solidFill>
                  <a:srgbClr val="1A2B5E"/>
                </a:solidFill>
                <a:latin typeface="Calibri" pitchFamily="34" charset="0"/>
                <a:ea typeface="Calibri" pitchFamily="34" charset="-122"/>
                <a:cs typeface="Calibri" pitchFamily="34" charset="-120"/>
              </a:rPr>
              <a:t>Modèle 2 — Classificateur de zone v3</a:t>
            </a:r>
            <a:endParaRPr lang="en-US" sz="2400" dirty="0">
              <a:solidFill>
                <a:srgbClr val="1A2B5E"/>
              </a:solidFill>
            </a:endParaRPr>
          </a:p>
        </p:txBody>
      </p:sp>
      <p:sp>
        <p:nvSpPr>
          <p:cNvPr id="1124" name="Text 97">
            <a:extLst>
              <a:ext uri="{FF2B5EF4-FFF2-40B4-BE49-F238E27FC236}">
                <a16:creationId xmlns:a16="http://schemas.microsoft.com/office/drawing/2014/main" id="{15E576BF-2389-7BA4-FC2D-C4DBBD41C66A}"/>
              </a:ext>
            </a:extLst>
          </p:cNvPr>
          <p:cNvSpPr/>
          <p:nvPr/>
        </p:nvSpPr>
        <p:spPr>
          <a:xfrm>
            <a:off x="13954049" y="16096991"/>
            <a:ext cx="11612880" cy="2286000"/>
          </a:xfrm>
          <a:prstGeom prst="rect">
            <a:avLst/>
          </a:prstGeom>
          <a:noFill/>
          <a:ln/>
        </p:spPr>
        <p:txBody>
          <a:bodyPr wrap="square" rtlCol="0" anchor="t"/>
          <a:lstStyle/>
          <a:p>
            <a:pPr marL="0" indent="0">
              <a:buNone/>
            </a:pPr>
            <a:r>
              <a:rPr lang="en-US" sz="2200" b="1" dirty="0">
                <a:solidFill>
                  <a:srgbClr val="1C2833"/>
                </a:solidFill>
                <a:latin typeface="Calibri" pitchFamily="34" charset="0"/>
                <a:ea typeface="Calibri" pitchFamily="34" charset="-122"/>
                <a:cs typeface="Calibri" pitchFamily="34" charset="-120"/>
              </a:rPr>
              <a:t>Architecture : </a:t>
            </a:r>
            <a:r>
              <a:rPr lang="en-US" sz="2200" dirty="0">
                <a:solidFill>
                  <a:srgbClr val="1C2833"/>
                </a:solidFill>
                <a:latin typeface="Calibri" pitchFamily="34" charset="0"/>
                <a:ea typeface="Calibri" pitchFamily="34" charset="-122"/>
                <a:cs typeface="Calibri" pitchFamily="34" charset="-120"/>
              </a:rPr>
              <a:t>YOLO11s-cls  ·  5.4M paramètres  ·  4 classes (</a:t>
            </a:r>
            <a:r>
              <a:rPr lang="en-US" sz="2200" dirty="0" err="1">
                <a:solidFill>
                  <a:srgbClr val="1C2833"/>
                </a:solidFill>
                <a:latin typeface="Calibri" pitchFamily="34" charset="0"/>
                <a:ea typeface="Calibri" pitchFamily="34" charset="-122"/>
                <a:cs typeface="Calibri" pitchFamily="34" charset="-120"/>
              </a:rPr>
              <a:t>chaque</a:t>
            </a:r>
            <a:r>
              <a:rPr lang="en-US" sz="2200" dirty="0">
                <a:solidFill>
                  <a:srgbClr val="1C2833"/>
                </a:solidFill>
                <a:latin typeface="Calibri" pitchFamily="34" charset="0"/>
                <a:ea typeface="Calibri" pitchFamily="34" charset="-122"/>
                <a:cs typeface="Calibri" pitchFamily="34" charset="-120"/>
              </a:rPr>
              <a:t> </a:t>
            </a:r>
            <a:r>
              <a:rPr lang="en-US" sz="2200" dirty="0" err="1">
                <a:solidFill>
                  <a:srgbClr val="1C2833"/>
                </a:solidFill>
                <a:latin typeface="Calibri" pitchFamily="34" charset="0"/>
                <a:ea typeface="Calibri" pitchFamily="34" charset="-122"/>
                <a:cs typeface="Calibri" pitchFamily="34" charset="-120"/>
              </a:rPr>
              <a:t>côté</a:t>
            </a:r>
            <a:r>
              <a:rPr lang="en-US" sz="2200" dirty="0">
                <a:solidFill>
                  <a:srgbClr val="1C2833"/>
                </a:solidFill>
                <a:latin typeface="Calibri" pitchFamily="34" charset="0"/>
                <a:ea typeface="Calibri" pitchFamily="34" charset="-122"/>
                <a:cs typeface="Calibri" pitchFamily="34" charset="-120"/>
              </a:rPr>
              <a:t>)
</a:t>
            </a:r>
            <a:r>
              <a:rPr lang="en-US" sz="2200" b="1" dirty="0">
                <a:solidFill>
                  <a:srgbClr val="1C2833"/>
                </a:solidFill>
                <a:latin typeface="Calibri" pitchFamily="34" charset="0"/>
                <a:ea typeface="Calibri" pitchFamily="34" charset="-122"/>
                <a:cs typeface="Calibri" pitchFamily="34" charset="-120"/>
              </a:rPr>
              <a:t>Données : </a:t>
            </a:r>
            <a:r>
              <a:rPr lang="en-US" sz="2200" dirty="0">
                <a:solidFill>
                  <a:srgbClr val="1C2833"/>
                </a:solidFill>
                <a:latin typeface="Calibri" pitchFamily="34" charset="0"/>
                <a:ea typeface="Calibri" pitchFamily="34" charset="-122"/>
                <a:cs typeface="Calibri" pitchFamily="34" charset="-120"/>
              </a:rPr>
              <a:t>690 images labellisées automatiquement par vote </a:t>
            </a:r>
            <a:r>
              <a:rPr lang="en-US" sz="2200" dirty="0" err="1">
                <a:solidFill>
                  <a:srgbClr val="1C2833"/>
                </a:solidFill>
                <a:latin typeface="Calibri" pitchFamily="34" charset="0"/>
                <a:ea typeface="Calibri" pitchFamily="34" charset="-122"/>
                <a:cs typeface="Calibri" pitchFamily="34" charset="-120"/>
              </a:rPr>
              <a:t>pondéré</a:t>
            </a:r>
            <a:r>
              <a:rPr lang="en-US" sz="2200" dirty="0">
                <a:solidFill>
                  <a:srgbClr val="1C2833"/>
                </a:solidFill>
                <a:latin typeface="Calibri" pitchFamily="34" charset="0"/>
                <a:ea typeface="Calibri" pitchFamily="34" charset="-122"/>
                <a:cs typeface="Calibri" pitchFamily="34" charset="-120"/>
              </a:rPr>
              <a:t> 
</a:t>
            </a:r>
            <a:r>
              <a:rPr lang="en-US" sz="2200" b="1" dirty="0">
                <a:solidFill>
                  <a:srgbClr val="1C2833"/>
                </a:solidFill>
                <a:latin typeface="Calibri" pitchFamily="34" charset="0"/>
                <a:ea typeface="Calibri" pitchFamily="34" charset="-122"/>
                <a:cs typeface="Calibri" pitchFamily="34" charset="-120"/>
              </a:rPr>
              <a:t>V3 finale : </a:t>
            </a:r>
            <a:r>
              <a:rPr lang="en-US" sz="2200" dirty="0">
                <a:solidFill>
                  <a:srgbClr val="1C2833"/>
                </a:solidFill>
                <a:latin typeface="Calibri" pitchFamily="34" charset="0"/>
                <a:ea typeface="Calibri" pitchFamily="34" charset="-122"/>
                <a:cs typeface="Calibri" pitchFamily="34" charset="-120"/>
              </a:rPr>
              <a:t>SGD  ·  75 epochs</a:t>
            </a:r>
          </a:p>
          <a:p>
            <a:r>
              <a:rPr lang="en-US" sz="2200" b="1" dirty="0" err="1">
                <a:solidFill>
                  <a:srgbClr val="1C2833"/>
                </a:solidFill>
                <a:latin typeface="Calibri" panose="020F0502020204030204" pitchFamily="34" charset="0"/>
                <a:ea typeface="Calibri" panose="020F0502020204030204" pitchFamily="34" charset="0"/>
                <a:cs typeface="Calibri" panose="020F0502020204030204" pitchFamily="34" charset="0"/>
              </a:rPr>
              <a:t>Rôle</a:t>
            </a:r>
            <a:r>
              <a:rPr lang="en-US" sz="2200" b="1" dirty="0">
                <a:solidFill>
                  <a:srgbClr val="1C2833"/>
                </a:solidFill>
                <a:latin typeface="Calibri" panose="020F0502020204030204" pitchFamily="34" charset="0"/>
                <a:ea typeface="Calibri" panose="020F0502020204030204" pitchFamily="34" charset="0"/>
                <a:cs typeface="Calibri" panose="020F0502020204030204" pitchFamily="34" charset="0"/>
              </a:rPr>
              <a:t> : </a:t>
            </a:r>
            <a:r>
              <a:rPr lang="en-US" sz="2200" dirty="0" err="1">
                <a:solidFill>
                  <a:srgbClr val="1C2833"/>
                </a:solidFill>
                <a:latin typeface="Calibri" panose="020F0502020204030204" pitchFamily="34" charset="0"/>
                <a:ea typeface="Calibri" panose="020F0502020204030204" pitchFamily="34" charset="0"/>
                <a:cs typeface="Calibri" panose="020F0502020204030204" pitchFamily="34" charset="0"/>
              </a:rPr>
              <a:t>Prédire</a:t>
            </a:r>
            <a:r>
              <a:rPr lang="en-US" sz="2200" dirty="0">
                <a:solidFill>
                  <a:srgbClr val="1C2833"/>
                </a:solidFill>
                <a:latin typeface="Calibri" panose="020F0502020204030204" pitchFamily="34" charset="0"/>
                <a:ea typeface="Calibri" panose="020F0502020204030204" pitchFamily="34" charset="0"/>
                <a:cs typeface="Calibri" panose="020F0502020204030204" pitchFamily="34" charset="0"/>
              </a:rPr>
              <a:t> la zone </a:t>
            </a:r>
            <a:r>
              <a:rPr lang="en-US" sz="2200" dirty="0" err="1">
                <a:solidFill>
                  <a:srgbClr val="1C2833"/>
                </a:solidFill>
                <a:latin typeface="Calibri" panose="020F0502020204030204" pitchFamily="34" charset="0"/>
                <a:ea typeface="Calibri" panose="020F0502020204030204" pitchFamily="34" charset="0"/>
                <a:cs typeface="Calibri" panose="020F0502020204030204" pitchFamily="34" charset="0"/>
              </a:rPr>
              <a:t>d’impact</a:t>
            </a:r>
            <a:r>
              <a:rPr lang="en-US" sz="2200" dirty="0">
                <a:solidFill>
                  <a:srgbClr val="1C2833"/>
                </a:solidFill>
                <a:latin typeface="Calibri" panose="020F0502020204030204" pitchFamily="34" charset="0"/>
                <a:ea typeface="Calibri" panose="020F0502020204030204" pitchFamily="34" charset="0"/>
                <a:cs typeface="Calibri" panose="020F0502020204030204" pitchFamily="34" charset="0"/>
              </a:rPr>
              <a:t> </a:t>
            </a:r>
            <a:r>
              <a:rPr lang="en-US" sz="2200" dirty="0" err="1">
                <a:solidFill>
                  <a:srgbClr val="1C2833"/>
                </a:solidFill>
                <a:latin typeface="Calibri" panose="020F0502020204030204" pitchFamily="34" charset="0"/>
                <a:ea typeface="Calibri" panose="020F0502020204030204" pitchFamily="34" charset="0"/>
                <a:cs typeface="Calibri" panose="020F0502020204030204" pitchFamily="34" charset="0"/>
              </a:rPr>
              <a:t>principale</a:t>
            </a:r>
            <a:r>
              <a:rPr lang="en-US" sz="2200" dirty="0">
                <a:solidFill>
                  <a:srgbClr val="1C2833"/>
                </a:solidFill>
                <a:latin typeface="Calibri" panose="020F0502020204030204" pitchFamily="34" charset="0"/>
                <a:ea typeface="Calibri" panose="020F0502020204030204" pitchFamily="34" charset="0"/>
                <a:cs typeface="Calibri" panose="020F0502020204030204" pitchFamily="34" charset="0"/>
              </a:rPr>
              <a:t> </a:t>
            </a:r>
            <a:r>
              <a:rPr lang="en-US" sz="2200" dirty="0" err="1">
                <a:solidFill>
                  <a:srgbClr val="1C2833"/>
                </a:solidFill>
                <a:latin typeface="Calibri" panose="020F0502020204030204" pitchFamily="34" charset="0"/>
                <a:ea typeface="Calibri" panose="020F0502020204030204" pitchFamily="34" charset="0"/>
                <a:cs typeface="Calibri" panose="020F0502020204030204" pitchFamily="34" charset="0"/>
              </a:rPr>
              <a:t>si</a:t>
            </a:r>
            <a:r>
              <a:rPr lang="en-US" sz="2200" dirty="0">
                <a:solidFill>
                  <a:srgbClr val="1C2833"/>
                </a:solidFill>
                <a:latin typeface="Calibri" panose="020F0502020204030204" pitchFamily="34" charset="0"/>
                <a:ea typeface="Calibri" panose="020F0502020204030204" pitchFamily="34" charset="0"/>
                <a:cs typeface="Calibri" panose="020F0502020204030204" pitchFamily="34" charset="0"/>
              </a:rPr>
              <a:t> le vote </a:t>
            </a:r>
            <a:r>
              <a:rPr lang="en-US" sz="2200" dirty="0" err="1">
                <a:solidFill>
                  <a:srgbClr val="1C2833"/>
                </a:solidFill>
                <a:latin typeface="Calibri" panose="020F0502020204030204" pitchFamily="34" charset="0"/>
                <a:ea typeface="Calibri" panose="020F0502020204030204" pitchFamily="34" charset="0"/>
                <a:cs typeface="Calibri" panose="020F0502020204030204" pitchFamily="34" charset="0"/>
              </a:rPr>
              <a:t>pondéré</a:t>
            </a:r>
            <a:r>
              <a:rPr lang="en-US" sz="2200" dirty="0">
                <a:solidFill>
                  <a:srgbClr val="1C2833"/>
                </a:solidFill>
                <a:latin typeface="Calibri" panose="020F0502020204030204" pitchFamily="34" charset="0"/>
                <a:ea typeface="Calibri" panose="020F0502020204030204" pitchFamily="34" charset="0"/>
                <a:cs typeface="Calibri" panose="020F0502020204030204" pitchFamily="34" charset="0"/>
              </a:rPr>
              <a:t> </a:t>
            </a:r>
            <a:r>
              <a:rPr lang="en-US" sz="2200" dirty="0" err="1">
                <a:solidFill>
                  <a:srgbClr val="1C2833"/>
                </a:solidFill>
                <a:latin typeface="Calibri" panose="020F0502020204030204" pitchFamily="34" charset="0"/>
                <a:ea typeface="Calibri" panose="020F0502020204030204" pitchFamily="34" charset="0"/>
                <a:cs typeface="Calibri" panose="020F0502020204030204" pitchFamily="34" charset="0"/>
              </a:rPr>
              <a:t>est</a:t>
            </a:r>
            <a:r>
              <a:rPr lang="en-US" sz="2200" dirty="0">
                <a:solidFill>
                  <a:srgbClr val="1C2833"/>
                </a:solidFill>
                <a:latin typeface="Calibri" panose="020F0502020204030204" pitchFamily="34" charset="0"/>
                <a:ea typeface="Calibri" panose="020F0502020204030204" pitchFamily="34" charset="0"/>
                <a:cs typeface="Calibri" panose="020F0502020204030204" pitchFamily="34" charset="0"/>
              </a:rPr>
              <a:t> </a:t>
            </a:r>
            <a:r>
              <a:rPr lang="en-US" sz="2200" dirty="0" err="1">
                <a:solidFill>
                  <a:srgbClr val="1C2833"/>
                </a:solidFill>
                <a:latin typeface="Calibri" panose="020F0502020204030204" pitchFamily="34" charset="0"/>
                <a:ea typeface="Calibri" panose="020F0502020204030204" pitchFamily="34" charset="0"/>
                <a:cs typeface="Calibri" panose="020F0502020204030204" pitchFamily="34" charset="0"/>
              </a:rPr>
              <a:t>indéterminé</a:t>
            </a:r>
            <a:endParaRPr lang="en-US" sz="2200" dirty="0"/>
          </a:p>
        </p:txBody>
      </p:sp>
      <p:sp>
        <p:nvSpPr>
          <p:cNvPr id="1125" name="Shape 98">
            <a:extLst>
              <a:ext uri="{FF2B5EF4-FFF2-40B4-BE49-F238E27FC236}">
                <a16:creationId xmlns:a16="http://schemas.microsoft.com/office/drawing/2014/main" id="{8075C86B-0883-2774-E9CD-51EB07704FF6}"/>
              </a:ext>
            </a:extLst>
          </p:cNvPr>
          <p:cNvSpPr/>
          <p:nvPr/>
        </p:nvSpPr>
        <p:spPr>
          <a:xfrm>
            <a:off x="13954049" y="19588310"/>
            <a:ext cx="11612880" cy="64008"/>
          </a:xfrm>
          <a:prstGeom prst="rect">
            <a:avLst/>
          </a:prstGeom>
          <a:solidFill>
            <a:srgbClr val="B8D0F0"/>
          </a:solidFill>
          <a:ln w="12700">
            <a:solidFill>
              <a:srgbClr val="B8D0F0"/>
            </a:solidFill>
            <a:prstDash val="solid"/>
          </a:ln>
        </p:spPr>
        <p:txBody>
          <a:bodyPr/>
          <a:lstStyle/>
          <a:p>
            <a:endParaRPr lang="fr-CA"/>
          </a:p>
        </p:txBody>
      </p:sp>
      <p:sp>
        <p:nvSpPr>
          <p:cNvPr id="1126" name="Text 99">
            <a:extLst>
              <a:ext uri="{FF2B5EF4-FFF2-40B4-BE49-F238E27FC236}">
                <a16:creationId xmlns:a16="http://schemas.microsoft.com/office/drawing/2014/main" id="{5BA77DEB-C0DB-5EA5-8647-2EB16CCD05D5}"/>
              </a:ext>
            </a:extLst>
          </p:cNvPr>
          <p:cNvSpPr/>
          <p:nvPr/>
        </p:nvSpPr>
        <p:spPr>
          <a:xfrm>
            <a:off x="13954049" y="19816910"/>
            <a:ext cx="11612880" cy="640080"/>
          </a:xfrm>
          <a:prstGeom prst="rect">
            <a:avLst/>
          </a:prstGeom>
          <a:noFill/>
          <a:ln/>
        </p:spPr>
        <p:txBody>
          <a:bodyPr wrap="square" rtlCol="0" anchor="ctr"/>
          <a:lstStyle/>
          <a:p>
            <a:pPr marL="0" indent="0">
              <a:buNone/>
            </a:pPr>
            <a:r>
              <a:rPr lang="en-US" sz="2400" b="1" dirty="0">
                <a:solidFill>
                  <a:srgbClr val="1A2B5E"/>
                </a:solidFill>
                <a:latin typeface="Calibri" pitchFamily="34" charset="0"/>
                <a:ea typeface="Calibri" pitchFamily="34" charset="-122"/>
                <a:cs typeface="Calibri" pitchFamily="34" charset="-120"/>
              </a:rPr>
              <a:t>Modèle 3 — </a:t>
            </a:r>
            <a:r>
              <a:rPr lang="en-US" sz="2400" b="1" dirty="0" err="1">
                <a:solidFill>
                  <a:srgbClr val="1A2B5E"/>
                </a:solidFill>
                <a:latin typeface="Calibri" pitchFamily="34" charset="0"/>
                <a:ea typeface="Calibri" pitchFamily="34" charset="-122"/>
                <a:cs typeface="Calibri" pitchFamily="34" charset="-120"/>
              </a:rPr>
              <a:t>Détection</a:t>
            </a:r>
            <a:r>
              <a:rPr lang="en-US" sz="2400" b="1" dirty="0">
                <a:solidFill>
                  <a:srgbClr val="1A2B5E"/>
                </a:solidFill>
                <a:latin typeface="Calibri" pitchFamily="34" charset="0"/>
                <a:ea typeface="Calibri" pitchFamily="34" charset="-122"/>
                <a:cs typeface="Calibri" pitchFamily="34" charset="-120"/>
              </a:rPr>
              <a:t> de sévérité (SEV)</a:t>
            </a:r>
            <a:endParaRPr lang="en-US" sz="2400" dirty="0">
              <a:solidFill>
                <a:srgbClr val="1A2B5E"/>
              </a:solidFill>
            </a:endParaRPr>
          </a:p>
        </p:txBody>
      </p:sp>
      <p:sp>
        <p:nvSpPr>
          <p:cNvPr id="1127" name="Text 100">
            <a:extLst>
              <a:ext uri="{FF2B5EF4-FFF2-40B4-BE49-F238E27FC236}">
                <a16:creationId xmlns:a16="http://schemas.microsoft.com/office/drawing/2014/main" id="{A3BEB767-075F-0EB1-1D1F-52A8B3F1FA2B}"/>
              </a:ext>
            </a:extLst>
          </p:cNvPr>
          <p:cNvSpPr/>
          <p:nvPr/>
        </p:nvSpPr>
        <p:spPr>
          <a:xfrm>
            <a:off x="13954049" y="20508699"/>
            <a:ext cx="11612880" cy="2926080"/>
          </a:xfrm>
          <a:prstGeom prst="rect">
            <a:avLst/>
          </a:prstGeom>
          <a:noFill/>
          <a:ln/>
        </p:spPr>
        <p:txBody>
          <a:bodyPr wrap="square" rtlCol="0" anchor="t"/>
          <a:lstStyle/>
          <a:p>
            <a:pPr marL="0" indent="0">
              <a:buNone/>
            </a:pPr>
            <a:r>
              <a:rPr lang="en-US" sz="2200" b="1" dirty="0">
                <a:solidFill>
                  <a:srgbClr val="1C2833"/>
                </a:solidFill>
                <a:latin typeface="Calibri" pitchFamily="34" charset="0"/>
                <a:ea typeface="Calibri" pitchFamily="34" charset="-122"/>
                <a:cs typeface="Calibri" pitchFamily="34" charset="-120"/>
              </a:rPr>
              <a:t>Architecture : </a:t>
            </a:r>
            <a:r>
              <a:rPr lang="en-US" sz="2200" dirty="0">
                <a:solidFill>
                  <a:srgbClr val="1C2833"/>
                </a:solidFill>
                <a:latin typeface="Calibri" pitchFamily="34" charset="0"/>
                <a:ea typeface="Calibri" pitchFamily="34" charset="-122"/>
                <a:cs typeface="Calibri" pitchFamily="34" charset="-120"/>
              </a:rPr>
              <a:t>YOLO11s  ·  4 classes (Sain / Léger / Modéré / Sévère)</a:t>
            </a:r>
          </a:p>
          <a:p>
            <a:r>
              <a:rPr lang="en-US" sz="2200" b="1" dirty="0">
                <a:solidFill>
                  <a:srgbClr val="1C2833"/>
                </a:solidFill>
                <a:latin typeface="Calibri" panose="020F0502020204030204" pitchFamily="34" charset="0"/>
                <a:ea typeface="Calibri" panose="020F0502020204030204" pitchFamily="34" charset="0"/>
                <a:cs typeface="Calibri" panose="020F0502020204030204" pitchFamily="34" charset="0"/>
              </a:rPr>
              <a:t>Données : </a:t>
            </a:r>
            <a:r>
              <a:rPr lang="en-US" sz="2200" dirty="0">
                <a:solidFill>
                  <a:srgbClr val="1C2833"/>
                </a:solidFill>
                <a:latin typeface="Calibri" panose="020F0502020204030204" pitchFamily="34" charset="0"/>
                <a:ea typeface="Calibri" panose="020F0502020204030204" pitchFamily="34" charset="0"/>
                <a:cs typeface="Calibri" panose="020F0502020204030204" pitchFamily="34" charset="0"/>
              </a:rPr>
              <a:t>800 images </a:t>
            </a:r>
            <a:r>
              <a:rPr lang="en-US" sz="2200" dirty="0" err="1">
                <a:solidFill>
                  <a:srgbClr val="1C2833"/>
                </a:solidFill>
                <a:latin typeface="Calibri" panose="020F0502020204030204" pitchFamily="34" charset="0"/>
                <a:ea typeface="Calibri" panose="020F0502020204030204" pitchFamily="34" charset="0"/>
                <a:cs typeface="Calibri" panose="020F0502020204030204" pitchFamily="34" charset="0"/>
              </a:rPr>
              <a:t>labellisées</a:t>
            </a:r>
            <a:r>
              <a:rPr lang="en-US" sz="2200" dirty="0">
                <a:solidFill>
                  <a:srgbClr val="1C2833"/>
                </a:solidFill>
                <a:latin typeface="Calibri" panose="020F0502020204030204" pitchFamily="34" charset="0"/>
                <a:ea typeface="Calibri" panose="020F0502020204030204" pitchFamily="34" charset="0"/>
                <a:cs typeface="Calibri" panose="020F0502020204030204" pitchFamily="34" charset="0"/>
              </a:rPr>
              <a:t> </a:t>
            </a:r>
            <a:r>
              <a:rPr lang="en-US" sz="2200" dirty="0" err="1">
                <a:solidFill>
                  <a:srgbClr val="1C2833"/>
                </a:solidFill>
                <a:latin typeface="Calibri" panose="020F0502020204030204" pitchFamily="34" charset="0"/>
                <a:ea typeface="Calibri" panose="020F0502020204030204" pitchFamily="34" charset="0"/>
                <a:cs typeface="Calibri" panose="020F0502020204030204" pitchFamily="34" charset="0"/>
              </a:rPr>
              <a:t>manuellement</a:t>
            </a:r>
            <a:r>
              <a:rPr lang="en-US" sz="2200" dirty="0">
                <a:solidFill>
                  <a:srgbClr val="1C2833"/>
                </a:solidFill>
                <a:latin typeface="Calibri" panose="020F0502020204030204" pitchFamily="34" charset="0"/>
                <a:ea typeface="Calibri" panose="020F0502020204030204" pitchFamily="34" charset="0"/>
                <a:cs typeface="Calibri" panose="020F0502020204030204" pitchFamily="34" charset="0"/>
              </a:rPr>
              <a:t> avec </a:t>
            </a:r>
            <a:r>
              <a:rPr lang="en-US" sz="2200" dirty="0" err="1">
                <a:solidFill>
                  <a:srgbClr val="1C2833"/>
                </a:solidFill>
                <a:latin typeface="Calibri" panose="020F0502020204030204" pitchFamily="34" charset="0"/>
                <a:ea typeface="Calibri" panose="020F0502020204030204" pitchFamily="34" charset="0"/>
                <a:cs typeface="Calibri" panose="020F0502020204030204" pitchFamily="34" charset="0"/>
              </a:rPr>
              <a:t>Roboflow</a:t>
            </a:r>
            <a:r>
              <a:rPr lang="en-US" sz="2200" dirty="0">
                <a:solidFill>
                  <a:srgbClr val="1C2833"/>
                </a:solidFill>
                <a:latin typeface="Calibri" panose="020F0502020204030204" pitchFamily="34" charset="0"/>
                <a:ea typeface="Calibri" panose="020F0502020204030204" pitchFamily="34" charset="0"/>
                <a:cs typeface="Calibri" panose="020F0502020204030204" pitchFamily="34" charset="0"/>
              </a:rPr>
              <a:t> </a:t>
            </a:r>
            <a:r>
              <a:rPr lang="en-US" sz="2200" dirty="0">
                <a:solidFill>
                  <a:srgbClr val="1C2833"/>
                </a:solidFill>
                <a:latin typeface="Calibri" pitchFamily="34" charset="0"/>
                <a:ea typeface="Calibri" pitchFamily="34" charset="-122"/>
                <a:cs typeface="Calibri" pitchFamily="34" charset="-120"/>
              </a:rPr>
              <a:t>
</a:t>
            </a:r>
            <a:r>
              <a:rPr lang="en-US" sz="2200" b="1" dirty="0">
                <a:solidFill>
                  <a:srgbClr val="1C2833"/>
                </a:solidFill>
                <a:latin typeface="Calibri" pitchFamily="34" charset="0"/>
                <a:ea typeface="Calibri" pitchFamily="34" charset="-122"/>
                <a:cs typeface="Calibri" pitchFamily="34" charset="-120"/>
              </a:rPr>
              <a:t>Rôle : </a:t>
            </a:r>
            <a:r>
              <a:rPr lang="en-US" sz="2200" dirty="0">
                <a:solidFill>
                  <a:srgbClr val="1C2833"/>
                </a:solidFill>
                <a:latin typeface="Calibri" pitchFamily="34" charset="0"/>
                <a:ea typeface="Calibri" pitchFamily="34" charset="-122"/>
                <a:cs typeface="Calibri" pitchFamily="34" charset="-120"/>
              </a:rPr>
              <a:t>Prédire la </a:t>
            </a:r>
            <a:r>
              <a:rPr lang="en-US" sz="2200" dirty="0" err="1">
                <a:solidFill>
                  <a:srgbClr val="1C2833"/>
                </a:solidFill>
                <a:latin typeface="Calibri" pitchFamily="34" charset="0"/>
                <a:ea typeface="Calibri" pitchFamily="34" charset="-122"/>
                <a:cs typeface="Calibri" pitchFamily="34" charset="-120"/>
              </a:rPr>
              <a:t>sévérité</a:t>
            </a:r>
            <a:r>
              <a:rPr lang="en-US" sz="2200" dirty="0">
                <a:solidFill>
                  <a:srgbClr val="1C2833"/>
                </a:solidFill>
                <a:latin typeface="Calibri" pitchFamily="34" charset="0"/>
                <a:ea typeface="Calibri" pitchFamily="34" charset="-122"/>
                <a:cs typeface="Calibri" pitchFamily="34" charset="-120"/>
              </a:rPr>
              <a:t>, </a:t>
            </a:r>
            <a:r>
              <a:rPr lang="en-US" sz="2200" dirty="0" err="1">
                <a:solidFill>
                  <a:srgbClr val="1C2833"/>
                </a:solidFill>
                <a:latin typeface="Calibri" pitchFamily="34" charset="0"/>
                <a:ea typeface="Calibri" pitchFamily="34" charset="-122"/>
                <a:cs typeface="Calibri" pitchFamily="34" charset="-120"/>
              </a:rPr>
              <a:t>indépendamment</a:t>
            </a:r>
            <a:r>
              <a:rPr lang="en-US" sz="2200" dirty="0">
                <a:solidFill>
                  <a:srgbClr val="1C2833"/>
                </a:solidFill>
                <a:latin typeface="Calibri" pitchFamily="34" charset="0"/>
                <a:ea typeface="Calibri" pitchFamily="34" charset="-122"/>
                <a:cs typeface="Calibri" pitchFamily="34" charset="-120"/>
              </a:rPr>
              <a:t> des </a:t>
            </a:r>
            <a:r>
              <a:rPr lang="en-US" sz="2200" dirty="0" err="1">
                <a:solidFill>
                  <a:srgbClr val="1C2833"/>
                </a:solidFill>
                <a:latin typeface="Calibri" pitchFamily="34" charset="0"/>
                <a:ea typeface="Calibri" pitchFamily="34" charset="-122"/>
                <a:cs typeface="Calibri" pitchFamily="34" charset="-120"/>
              </a:rPr>
              <a:t>détections</a:t>
            </a:r>
            <a:r>
              <a:rPr lang="en-US" sz="2200" dirty="0">
                <a:solidFill>
                  <a:srgbClr val="1C2833"/>
                </a:solidFill>
                <a:latin typeface="Calibri" pitchFamily="34" charset="0"/>
                <a:ea typeface="Calibri" pitchFamily="34" charset="-122"/>
                <a:cs typeface="Calibri" pitchFamily="34" charset="-120"/>
              </a:rPr>
              <a:t> du </a:t>
            </a:r>
            <a:r>
              <a:rPr lang="en-US" sz="2200" dirty="0" err="1">
                <a:solidFill>
                  <a:srgbClr val="1C2833"/>
                </a:solidFill>
                <a:latin typeface="Calibri" pitchFamily="34" charset="0"/>
                <a:ea typeface="Calibri" pitchFamily="34" charset="-122"/>
                <a:cs typeface="Calibri" pitchFamily="34" charset="-120"/>
              </a:rPr>
              <a:t>modèle</a:t>
            </a:r>
            <a:r>
              <a:rPr lang="en-US" sz="2200" dirty="0">
                <a:solidFill>
                  <a:srgbClr val="1C2833"/>
                </a:solidFill>
                <a:latin typeface="Calibri" pitchFamily="34" charset="0"/>
                <a:ea typeface="Calibri" pitchFamily="34" charset="-122"/>
                <a:cs typeface="Calibri" pitchFamily="34" charset="-120"/>
              </a:rPr>
              <a:t> 1. 
Prioritaire si conf ≥ 0.70 </a:t>
            </a:r>
            <a:r>
              <a:rPr lang="en-US" sz="2200" dirty="0" err="1">
                <a:solidFill>
                  <a:srgbClr val="1C2833"/>
                </a:solidFill>
                <a:latin typeface="Calibri" pitchFamily="34" charset="0"/>
                <a:ea typeface="Calibri" pitchFamily="34" charset="-122"/>
                <a:cs typeface="Calibri" pitchFamily="34" charset="-120"/>
              </a:rPr>
              <a:t>sinon</a:t>
            </a:r>
            <a:r>
              <a:rPr lang="en-US" sz="2200" dirty="0">
                <a:solidFill>
                  <a:srgbClr val="1C2833"/>
                </a:solidFill>
                <a:latin typeface="Calibri" pitchFamily="34" charset="0"/>
                <a:ea typeface="Calibri" pitchFamily="34" charset="-122"/>
                <a:cs typeface="Calibri" pitchFamily="34" charset="-120"/>
              </a:rPr>
              <a:t> </a:t>
            </a:r>
            <a:r>
              <a:rPr lang="en-US" sz="2200" dirty="0" err="1">
                <a:solidFill>
                  <a:srgbClr val="1C2833"/>
                </a:solidFill>
                <a:latin typeface="Calibri" pitchFamily="34" charset="0"/>
                <a:ea typeface="Calibri" pitchFamily="34" charset="-122"/>
                <a:cs typeface="Calibri" pitchFamily="34" charset="-120"/>
              </a:rPr>
              <a:t>mécanisme</a:t>
            </a:r>
            <a:r>
              <a:rPr lang="en-US" sz="2200" dirty="0">
                <a:solidFill>
                  <a:srgbClr val="1C2833"/>
                </a:solidFill>
                <a:latin typeface="Calibri" pitchFamily="34" charset="0"/>
                <a:ea typeface="Calibri" pitchFamily="34" charset="-122"/>
                <a:cs typeface="Calibri" pitchFamily="34" charset="-120"/>
              </a:rPr>
              <a:t> de </a:t>
            </a:r>
            <a:r>
              <a:rPr lang="en-US" sz="2200" dirty="0" err="1">
                <a:solidFill>
                  <a:srgbClr val="1C2833"/>
                </a:solidFill>
                <a:latin typeface="Calibri" pitchFamily="34" charset="0"/>
                <a:ea typeface="Calibri" pitchFamily="34" charset="-122"/>
                <a:cs typeface="Calibri" pitchFamily="34" charset="-120"/>
              </a:rPr>
              <a:t>repli</a:t>
            </a:r>
            <a:r>
              <a:rPr lang="en-US" sz="2200" dirty="0">
                <a:solidFill>
                  <a:srgbClr val="1C2833"/>
                </a:solidFill>
                <a:latin typeface="Calibri" pitchFamily="34" charset="0"/>
                <a:ea typeface="Calibri" pitchFamily="34" charset="-122"/>
                <a:cs typeface="Calibri" pitchFamily="34" charset="-120"/>
              </a:rPr>
              <a:t> sur </a:t>
            </a:r>
            <a:r>
              <a:rPr lang="en-US" sz="2200" dirty="0" err="1">
                <a:solidFill>
                  <a:srgbClr val="1C2833"/>
                </a:solidFill>
                <a:latin typeface="Calibri" pitchFamily="34" charset="0"/>
                <a:ea typeface="Calibri" pitchFamily="34" charset="-122"/>
                <a:cs typeface="Calibri" pitchFamily="34" charset="-120"/>
              </a:rPr>
              <a:t>pointage</a:t>
            </a:r>
            <a:r>
              <a:rPr lang="en-US" sz="2200" dirty="0">
                <a:solidFill>
                  <a:srgbClr val="1C2833"/>
                </a:solidFill>
                <a:latin typeface="Calibri" pitchFamily="34" charset="0"/>
                <a:ea typeface="Calibri" pitchFamily="34" charset="-122"/>
                <a:cs typeface="Calibri" pitchFamily="34" charset="-120"/>
              </a:rPr>
              <a:t> par </a:t>
            </a:r>
            <a:r>
              <a:rPr lang="en-US" sz="2200" dirty="0" err="1">
                <a:solidFill>
                  <a:srgbClr val="1C2833"/>
                </a:solidFill>
                <a:latin typeface="Calibri" pitchFamily="34" charset="0"/>
                <a:ea typeface="Calibri" pitchFamily="34" charset="-122"/>
                <a:cs typeface="Calibri" pitchFamily="34" charset="-120"/>
              </a:rPr>
              <a:t>composantes</a:t>
            </a:r>
            <a:r>
              <a:rPr lang="en-US" sz="2200" dirty="0">
                <a:solidFill>
                  <a:srgbClr val="1C2833"/>
                </a:solidFill>
                <a:latin typeface="Calibri" pitchFamily="34" charset="0"/>
                <a:ea typeface="Calibri" pitchFamily="34" charset="-122"/>
                <a:cs typeface="Calibri" pitchFamily="34" charset="-120"/>
              </a:rPr>
              <a:t> </a:t>
            </a:r>
            <a:r>
              <a:rPr lang="en-US" sz="2200" dirty="0" err="1">
                <a:solidFill>
                  <a:srgbClr val="1C2833"/>
                </a:solidFill>
                <a:latin typeface="Calibri" pitchFamily="34" charset="0"/>
                <a:ea typeface="Calibri" pitchFamily="34" charset="-122"/>
                <a:cs typeface="Calibri" pitchFamily="34" charset="-120"/>
              </a:rPr>
              <a:t>si</a:t>
            </a:r>
            <a:r>
              <a:rPr lang="en-US" sz="2200" dirty="0">
                <a:solidFill>
                  <a:srgbClr val="1C2833"/>
                </a:solidFill>
                <a:latin typeface="Calibri" pitchFamily="34" charset="0"/>
                <a:ea typeface="Calibri" pitchFamily="34" charset="-122"/>
                <a:cs typeface="Calibri" pitchFamily="34" charset="-120"/>
              </a:rPr>
              <a:t> moins confiant
</a:t>
            </a:r>
            <a:r>
              <a:rPr lang="en-US" sz="2200" b="1" dirty="0">
                <a:solidFill>
                  <a:srgbClr val="1C2833"/>
                </a:solidFill>
                <a:latin typeface="Calibri" pitchFamily="34" charset="0"/>
                <a:ea typeface="Calibri" pitchFamily="34" charset="-122"/>
                <a:cs typeface="Calibri" pitchFamily="34" charset="-120"/>
              </a:rPr>
              <a:t>Validation croisée : </a:t>
            </a:r>
            <a:r>
              <a:rPr lang="en-US" sz="2200" dirty="0">
                <a:solidFill>
                  <a:srgbClr val="1C2833"/>
                </a:solidFill>
                <a:latin typeface="Calibri" pitchFamily="34" charset="0"/>
                <a:ea typeface="Calibri" pitchFamily="34" charset="-122"/>
                <a:cs typeface="Calibri" pitchFamily="34" charset="-120"/>
              </a:rPr>
              <a:t>Score numérique affiché uniquement si SEV et composite s'accordent</a:t>
            </a:r>
            <a:endParaRPr lang="en-US" sz="2200" dirty="0"/>
          </a:p>
        </p:txBody>
      </p:sp>
      <p:sp>
        <p:nvSpPr>
          <p:cNvPr id="1128" name="Text 101">
            <a:extLst>
              <a:ext uri="{FF2B5EF4-FFF2-40B4-BE49-F238E27FC236}">
                <a16:creationId xmlns:a16="http://schemas.microsoft.com/office/drawing/2014/main" id="{2CF017DF-67B9-4D31-DFF2-61E4F15BD8A2}"/>
              </a:ext>
            </a:extLst>
          </p:cNvPr>
          <p:cNvSpPr/>
          <p:nvPr/>
        </p:nvSpPr>
        <p:spPr>
          <a:xfrm>
            <a:off x="13954049" y="22376345"/>
            <a:ext cx="11612880" cy="640080"/>
          </a:xfrm>
          <a:prstGeom prst="rect">
            <a:avLst/>
          </a:prstGeom>
          <a:noFill/>
          <a:ln/>
        </p:spPr>
        <p:txBody>
          <a:bodyPr wrap="square" rtlCol="0" anchor="ctr"/>
          <a:lstStyle/>
          <a:p>
            <a:pPr marL="0" indent="0">
              <a:buNone/>
            </a:pPr>
            <a:r>
              <a:rPr lang="en-US" sz="2400" b="1" dirty="0">
                <a:solidFill>
                  <a:srgbClr val="27AE60"/>
                </a:solidFill>
                <a:latin typeface="Calibri" pitchFamily="34" charset="0"/>
                <a:ea typeface="Calibri" pitchFamily="34" charset="-122"/>
                <a:cs typeface="Calibri" pitchFamily="34" charset="-120"/>
              </a:rPr>
              <a:t>Module de </a:t>
            </a:r>
            <a:r>
              <a:rPr lang="en-US" sz="2400" b="1" dirty="0" err="1">
                <a:solidFill>
                  <a:srgbClr val="27AE60"/>
                </a:solidFill>
                <a:latin typeface="Calibri" pitchFamily="34" charset="0"/>
                <a:ea typeface="Calibri" pitchFamily="34" charset="-122"/>
                <a:cs typeface="Calibri" pitchFamily="34" charset="-120"/>
              </a:rPr>
              <a:t>pointage</a:t>
            </a:r>
            <a:r>
              <a:rPr lang="en-US" sz="2400" b="1" dirty="0">
                <a:solidFill>
                  <a:srgbClr val="27AE60"/>
                </a:solidFill>
                <a:latin typeface="Calibri" pitchFamily="34" charset="0"/>
                <a:ea typeface="Calibri" pitchFamily="34" charset="-122"/>
                <a:cs typeface="Calibri" pitchFamily="34" charset="-120"/>
              </a:rPr>
              <a:t> composite — 5 composantes</a:t>
            </a:r>
            <a:endParaRPr lang="en-US" sz="2400" dirty="0"/>
          </a:p>
        </p:txBody>
      </p:sp>
      <p:sp>
        <p:nvSpPr>
          <p:cNvPr id="1129" name="Shape 102">
            <a:extLst>
              <a:ext uri="{FF2B5EF4-FFF2-40B4-BE49-F238E27FC236}">
                <a16:creationId xmlns:a16="http://schemas.microsoft.com/office/drawing/2014/main" id="{969C3795-0398-3A28-EAF6-081262E6D460}"/>
              </a:ext>
            </a:extLst>
          </p:cNvPr>
          <p:cNvSpPr/>
          <p:nvPr/>
        </p:nvSpPr>
        <p:spPr>
          <a:xfrm>
            <a:off x="14003387" y="23106736"/>
            <a:ext cx="11612880" cy="795528"/>
          </a:xfrm>
          <a:prstGeom prst="rect">
            <a:avLst/>
          </a:prstGeom>
          <a:solidFill>
            <a:srgbClr val="F4F7FC"/>
          </a:solidFill>
          <a:ln w="12700">
            <a:solidFill>
              <a:srgbClr val="C5D3E8"/>
            </a:solidFill>
            <a:prstDash val="solid"/>
          </a:ln>
        </p:spPr>
        <p:txBody>
          <a:bodyPr/>
          <a:lstStyle/>
          <a:p>
            <a:endParaRPr lang="fr-CA" sz="2400"/>
          </a:p>
        </p:txBody>
      </p:sp>
      <p:sp>
        <p:nvSpPr>
          <p:cNvPr id="1130" name="Shape 103">
            <a:extLst>
              <a:ext uri="{FF2B5EF4-FFF2-40B4-BE49-F238E27FC236}">
                <a16:creationId xmlns:a16="http://schemas.microsoft.com/office/drawing/2014/main" id="{3F806117-ECCB-E921-F7B6-A80C95E224A0}"/>
              </a:ext>
            </a:extLst>
          </p:cNvPr>
          <p:cNvSpPr/>
          <p:nvPr/>
        </p:nvSpPr>
        <p:spPr>
          <a:xfrm>
            <a:off x="14003387" y="23106736"/>
            <a:ext cx="201168" cy="795528"/>
          </a:xfrm>
          <a:prstGeom prst="rect">
            <a:avLst/>
          </a:prstGeom>
          <a:solidFill>
            <a:srgbClr val="1A2B5E"/>
          </a:solidFill>
          <a:ln w="12700">
            <a:solidFill>
              <a:srgbClr val="1A2B5E"/>
            </a:solidFill>
            <a:prstDash val="solid"/>
          </a:ln>
        </p:spPr>
        <p:txBody>
          <a:bodyPr/>
          <a:lstStyle/>
          <a:p>
            <a:endParaRPr lang="fr-CA" sz="2400"/>
          </a:p>
        </p:txBody>
      </p:sp>
      <p:sp>
        <p:nvSpPr>
          <p:cNvPr id="1131" name="Text 104">
            <a:extLst>
              <a:ext uri="{FF2B5EF4-FFF2-40B4-BE49-F238E27FC236}">
                <a16:creationId xmlns:a16="http://schemas.microsoft.com/office/drawing/2014/main" id="{E1340BF8-C221-E762-03E3-E62B3A58B7C0}"/>
              </a:ext>
            </a:extLst>
          </p:cNvPr>
          <p:cNvSpPr/>
          <p:nvPr/>
        </p:nvSpPr>
        <p:spPr>
          <a:xfrm>
            <a:off x="14277707" y="23106736"/>
            <a:ext cx="11292840" cy="795528"/>
          </a:xfrm>
          <a:prstGeom prst="rect">
            <a:avLst/>
          </a:prstGeom>
          <a:noFill/>
          <a:ln/>
        </p:spPr>
        <p:txBody>
          <a:bodyPr wrap="square" rtlCol="0" anchor="ctr"/>
          <a:lstStyle/>
          <a:p>
            <a:pPr marL="0" indent="0">
              <a:buNone/>
            </a:pPr>
            <a:r>
              <a:rPr lang="en-US" b="1" dirty="0">
                <a:solidFill>
                  <a:srgbClr val="1A2B5E"/>
                </a:solidFill>
                <a:latin typeface="Calibri" pitchFamily="34" charset="0"/>
                <a:ea typeface="Calibri" pitchFamily="34" charset="-122"/>
                <a:cs typeface="Calibri" pitchFamily="34" charset="-120"/>
              </a:rPr>
              <a:t>1 — Poids structurel (35%)  </a:t>
            </a:r>
            <a:r>
              <a:rPr lang="en-US" dirty="0">
                <a:solidFill>
                  <a:srgbClr val="1C2833"/>
                </a:solidFill>
                <a:latin typeface="Calibri" pitchFamily="34" charset="0"/>
                <a:ea typeface="Calibri" pitchFamily="34" charset="-122"/>
                <a:cs typeface="Calibri" pitchFamily="34" charset="-120"/>
              </a:rPr>
              <a:t>capot/coffre/</a:t>
            </a:r>
            <a:r>
              <a:rPr lang="en-US" dirty="0" err="1">
                <a:solidFill>
                  <a:srgbClr val="1C2833"/>
                </a:solidFill>
                <a:latin typeface="Calibri" pitchFamily="34" charset="0"/>
                <a:ea typeface="Calibri" pitchFamily="34" charset="-122"/>
                <a:cs typeface="Calibri" pitchFamily="34" charset="-120"/>
              </a:rPr>
              <a:t>portes</a:t>
            </a:r>
            <a:r>
              <a:rPr lang="en-US" dirty="0">
                <a:solidFill>
                  <a:srgbClr val="1C2833"/>
                </a:solidFill>
                <a:latin typeface="Calibri" pitchFamily="34" charset="0"/>
                <a:ea typeface="Calibri" pitchFamily="34" charset="-122"/>
                <a:cs typeface="Calibri" pitchFamily="34" charset="-120"/>
              </a:rPr>
              <a:t> = 3.0  ·  </a:t>
            </a:r>
            <a:r>
              <a:rPr lang="en-US" dirty="0" err="1">
                <a:solidFill>
                  <a:srgbClr val="1C2833"/>
                </a:solidFill>
                <a:latin typeface="Calibri" pitchFamily="34" charset="0"/>
                <a:ea typeface="Calibri" pitchFamily="34" charset="-122"/>
                <a:cs typeface="Calibri" pitchFamily="34" charset="-120"/>
              </a:rPr>
              <a:t>parechoc</a:t>
            </a:r>
            <a:r>
              <a:rPr lang="en-US" dirty="0">
                <a:solidFill>
                  <a:srgbClr val="1C2833"/>
                </a:solidFill>
                <a:latin typeface="Calibri" pitchFamily="34" charset="0"/>
                <a:ea typeface="Calibri" pitchFamily="34" charset="-122"/>
                <a:cs typeface="Calibri" pitchFamily="34" charset="-120"/>
              </a:rPr>
              <a:t> = 2.5  ·  </a:t>
            </a:r>
            <a:r>
              <a:rPr lang="en-US" dirty="0" err="1">
                <a:solidFill>
                  <a:srgbClr val="1C2833"/>
                </a:solidFill>
                <a:latin typeface="Calibri" pitchFamily="34" charset="0"/>
                <a:ea typeface="Calibri" pitchFamily="34" charset="-122"/>
                <a:cs typeface="Calibri" pitchFamily="34" charset="-120"/>
              </a:rPr>
              <a:t>aile</a:t>
            </a:r>
            <a:r>
              <a:rPr lang="en-US" dirty="0">
                <a:solidFill>
                  <a:srgbClr val="1C2833"/>
                </a:solidFill>
                <a:latin typeface="Calibri" pitchFamily="34" charset="0"/>
                <a:ea typeface="Calibri" pitchFamily="34" charset="-122"/>
                <a:cs typeface="Calibri" pitchFamily="34" charset="-120"/>
              </a:rPr>
              <a:t> = 2.0  ·  phare = 1.5  ·  </a:t>
            </a:r>
            <a:r>
              <a:rPr lang="en-US" dirty="0" err="1">
                <a:solidFill>
                  <a:srgbClr val="1C2833"/>
                </a:solidFill>
                <a:latin typeface="Calibri" pitchFamily="34" charset="0"/>
                <a:ea typeface="Calibri" pitchFamily="34" charset="-122"/>
                <a:cs typeface="Calibri" pitchFamily="34" charset="-120"/>
              </a:rPr>
              <a:t>rétroviseur</a:t>
            </a:r>
            <a:r>
              <a:rPr lang="en-US" dirty="0">
                <a:solidFill>
                  <a:srgbClr val="1C2833"/>
                </a:solidFill>
                <a:latin typeface="Calibri" pitchFamily="34" charset="0"/>
                <a:ea typeface="Calibri" pitchFamily="34" charset="-122"/>
                <a:cs typeface="Calibri" pitchFamily="34" charset="-120"/>
              </a:rPr>
              <a:t> = 1.0</a:t>
            </a:r>
            <a:endParaRPr lang="en-US" dirty="0"/>
          </a:p>
        </p:txBody>
      </p:sp>
      <p:sp>
        <p:nvSpPr>
          <p:cNvPr id="1132" name="Shape 105">
            <a:extLst>
              <a:ext uri="{FF2B5EF4-FFF2-40B4-BE49-F238E27FC236}">
                <a16:creationId xmlns:a16="http://schemas.microsoft.com/office/drawing/2014/main" id="{0364059F-A290-F312-1A8B-12EFBA39E3CD}"/>
              </a:ext>
            </a:extLst>
          </p:cNvPr>
          <p:cNvSpPr/>
          <p:nvPr/>
        </p:nvSpPr>
        <p:spPr>
          <a:xfrm>
            <a:off x="14003387" y="23975416"/>
            <a:ext cx="11612880" cy="795528"/>
          </a:xfrm>
          <a:prstGeom prst="rect">
            <a:avLst/>
          </a:prstGeom>
          <a:solidFill>
            <a:srgbClr val="FFFFFF"/>
          </a:solidFill>
          <a:ln w="12700">
            <a:solidFill>
              <a:srgbClr val="C5D3E8"/>
            </a:solidFill>
            <a:prstDash val="solid"/>
          </a:ln>
        </p:spPr>
        <p:txBody>
          <a:bodyPr/>
          <a:lstStyle/>
          <a:p>
            <a:endParaRPr lang="fr-CA" sz="2400"/>
          </a:p>
        </p:txBody>
      </p:sp>
      <p:sp>
        <p:nvSpPr>
          <p:cNvPr id="1133" name="Shape 106">
            <a:extLst>
              <a:ext uri="{FF2B5EF4-FFF2-40B4-BE49-F238E27FC236}">
                <a16:creationId xmlns:a16="http://schemas.microsoft.com/office/drawing/2014/main" id="{7E815BC6-7149-1162-C313-76F4A3BCB91D}"/>
              </a:ext>
            </a:extLst>
          </p:cNvPr>
          <p:cNvSpPr/>
          <p:nvPr/>
        </p:nvSpPr>
        <p:spPr>
          <a:xfrm>
            <a:off x="14003387" y="23975416"/>
            <a:ext cx="201168" cy="795528"/>
          </a:xfrm>
          <a:prstGeom prst="rect">
            <a:avLst/>
          </a:prstGeom>
          <a:solidFill>
            <a:srgbClr val="2E86C1"/>
          </a:solidFill>
          <a:ln w="12700">
            <a:solidFill>
              <a:srgbClr val="2E86C1"/>
            </a:solidFill>
            <a:prstDash val="solid"/>
          </a:ln>
        </p:spPr>
        <p:txBody>
          <a:bodyPr/>
          <a:lstStyle/>
          <a:p>
            <a:endParaRPr lang="fr-CA" sz="2400"/>
          </a:p>
        </p:txBody>
      </p:sp>
      <p:sp>
        <p:nvSpPr>
          <p:cNvPr id="1134" name="Text 107">
            <a:extLst>
              <a:ext uri="{FF2B5EF4-FFF2-40B4-BE49-F238E27FC236}">
                <a16:creationId xmlns:a16="http://schemas.microsoft.com/office/drawing/2014/main" id="{35E65376-0DBA-B212-3169-16763AEE3F54}"/>
              </a:ext>
            </a:extLst>
          </p:cNvPr>
          <p:cNvSpPr/>
          <p:nvPr/>
        </p:nvSpPr>
        <p:spPr>
          <a:xfrm>
            <a:off x="14277707" y="23975416"/>
            <a:ext cx="11292840" cy="795528"/>
          </a:xfrm>
          <a:prstGeom prst="rect">
            <a:avLst/>
          </a:prstGeom>
          <a:noFill/>
          <a:ln/>
        </p:spPr>
        <p:txBody>
          <a:bodyPr wrap="square" rtlCol="0" anchor="ctr"/>
          <a:lstStyle/>
          <a:p>
            <a:pPr marL="0" indent="0">
              <a:buNone/>
            </a:pPr>
            <a:r>
              <a:rPr lang="en-US" b="1" dirty="0">
                <a:solidFill>
                  <a:srgbClr val="2E86C1"/>
                </a:solidFill>
                <a:latin typeface="Calibri" pitchFamily="34" charset="0"/>
                <a:ea typeface="Calibri" pitchFamily="34" charset="-122"/>
                <a:cs typeface="Calibri" pitchFamily="34" charset="-120"/>
              </a:rPr>
              <a:t>2 — Surface endommagée (35%)  </a:t>
            </a:r>
            <a:r>
              <a:rPr lang="en-US" dirty="0">
                <a:solidFill>
                  <a:srgbClr val="1C2833"/>
                </a:solidFill>
                <a:latin typeface="Calibri" pitchFamily="34" charset="0"/>
                <a:ea typeface="Calibri" pitchFamily="34" charset="-122"/>
                <a:cs typeface="Calibri" pitchFamily="34" charset="-120"/>
              </a:rPr>
              <a:t>Ratio surface bbox pièces / bbox voiture. Garde-</a:t>
            </a:r>
            <a:r>
              <a:rPr lang="en-US" dirty="0" err="1">
                <a:solidFill>
                  <a:srgbClr val="1C2833"/>
                </a:solidFill>
                <a:latin typeface="Calibri" pitchFamily="34" charset="0"/>
                <a:ea typeface="Calibri" pitchFamily="34" charset="-122"/>
                <a:cs typeface="Calibri" pitchFamily="34" charset="-120"/>
              </a:rPr>
              <a:t>fous</a:t>
            </a:r>
            <a:r>
              <a:rPr lang="en-US" dirty="0">
                <a:solidFill>
                  <a:srgbClr val="1C2833"/>
                </a:solidFill>
                <a:latin typeface="Calibri" pitchFamily="34" charset="0"/>
                <a:ea typeface="Calibri" pitchFamily="34" charset="-122"/>
                <a:cs typeface="Calibri" pitchFamily="34" charset="-120"/>
              </a:rPr>
              <a:t> : plafond 35%/pièce anti-zoom</a:t>
            </a:r>
            <a:endParaRPr lang="en-US" dirty="0"/>
          </a:p>
        </p:txBody>
      </p:sp>
      <p:sp>
        <p:nvSpPr>
          <p:cNvPr id="1135" name="Shape 108">
            <a:extLst>
              <a:ext uri="{FF2B5EF4-FFF2-40B4-BE49-F238E27FC236}">
                <a16:creationId xmlns:a16="http://schemas.microsoft.com/office/drawing/2014/main" id="{25EC2CE3-9C8D-0F61-586D-C079E714857D}"/>
              </a:ext>
            </a:extLst>
          </p:cNvPr>
          <p:cNvSpPr/>
          <p:nvPr/>
        </p:nvSpPr>
        <p:spPr>
          <a:xfrm>
            <a:off x="14003387" y="24844096"/>
            <a:ext cx="11612880" cy="795528"/>
          </a:xfrm>
          <a:prstGeom prst="rect">
            <a:avLst/>
          </a:prstGeom>
          <a:solidFill>
            <a:srgbClr val="F4F7FC"/>
          </a:solidFill>
          <a:ln w="12700">
            <a:solidFill>
              <a:srgbClr val="C5D3E8"/>
            </a:solidFill>
            <a:prstDash val="solid"/>
          </a:ln>
        </p:spPr>
        <p:txBody>
          <a:bodyPr/>
          <a:lstStyle/>
          <a:p>
            <a:endParaRPr lang="fr-CA" sz="2400"/>
          </a:p>
        </p:txBody>
      </p:sp>
      <p:sp>
        <p:nvSpPr>
          <p:cNvPr id="1136" name="Shape 109">
            <a:extLst>
              <a:ext uri="{FF2B5EF4-FFF2-40B4-BE49-F238E27FC236}">
                <a16:creationId xmlns:a16="http://schemas.microsoft.com/office/drawing/2014/main" id="{C87BE36F-61CF-8421-F96E-FBFE316BF041}"/>
              </a:ext>
            </a:extLst>
          </p:cNvPr>
          <p:cNvSpPr/>
          <p:nvPr/>
        </p:nvSpPr>
        <p:spPr>
          <a:xfrm>
            <a:off x="14003387" y="24844096"/>
            <a:ext cx="201168" cy="795528"/>
          </a:xfrm>
          <a:prstGeom prst="rect">
            <a:avLst/>
          </a:prstGeom>
          <a:solidFill>
            <a:srgbClr val="27AE60"/>
          </a:solidFill>
          <a:ln w="12700">
            <a:solidFill>
              <a:srgbClr val="27AE60"/>
            </a:solidFill>
            <a:prstDash val="solid"/>
          </a:ln>
        </p:spPr>
        <p:txBody>
          <a:bodyPr/>
          <a:lstStyle/>
          <a:p>
            <a:endParaRPr lang="fr-CA" sz="2400"/>
          </a:p>
        </p:txBody>
      </p:sp>
      <p:sp>
        <p:nvSpPr>
          <p:cNvPr id="1137" name="Text 110">
            <a:extLst>
              <a:ext uri="{FF2B5EF4-FFF2-40B4-BE49-F238E27FC236}">
                <a16:creationId xmlns:a16="http://schemas.microsoft.com/office/drawing/2014/main" id="{7FBF4788-B690-0DC5-00F3-871F4C1DF24E}"/>
              </a:ext>
            </a:extLst>
          </p:cNvPr>
          <p:cNvSpPr/>
          <p:nvPr/>
        </p:nvSpPr>
        <p:spPr>
          <a:xfrm>
            <a:off x="14277707" y="24844096"/>
            <a:ext cx="11292840" cy="795528"/>
          </a:xfrm>
          <a:prstGeom prst="rect">
            <a:avLst/>
          </a:prstGeom>
          <a:noFill/>
          <a:ln/>
        </p:spPr>
        <p:txBody>
          <a:bodyPr wrap="square" rtlCol="0" anchor="ctr"/>
          <a:lstStyle/>
          <a:p>
            <a:pPr marL="0" indent="0">
              <a:buNone/>
            </a:pPr>
            <a:r>
              <a:rPr lang="en-US" b="1" dirty="0">
                <a:solidFill>
                  <a:srgbClr val="27AE60"/>
                </a:solidFill>
                <a:latin typeface="Calibri" pitchFamily="34" charset="0"/>
                <a:ea typeface="Calibri" pitchFamily="34" charset="-122"/>
                <a:cs typeface="Calibri" pitchFamily="34" charset="-120"/>
              </a:rPr>
              <a:t>3 — Ratio pièces (30%)  </a:t>
            </a:r>
            <a:r>
              <a:rPr lang="en-US" dirty="0">
                <a:solidFill>
                  <a:srgbClr val="1C2833"/>
                </a:solidFill>
                <a:latin typeface="Calibri" pitchFamily="34" charset="0"/>
                <a:ea typeface="Calibri" pitchFamily="34" charset="-122"/>
                <a:cs typeface="Calibri" pitchFamily="34" charset="-120"/>
              </a:rPr>
              <a:t>nb_end / max(nb_total, 6). Exclut classe voiture. Dénominateur min=6</a:t>
            </a:r>
            <a:endParaRPr lang="en-US" dirty="0"/>
          </a:p>
        </p:txBody>
      </p:sp>
      <p:sp>
        <p:nvSpPr>
          <p:cNvPr id="1138" name="Shape 111">
            <a:extLst>
              <a:ext uri="{FF2B5EF4-FFF2-40B4-BE49-F238E27FC236}">
                <a16:creationId xmlns:a16="http://schemas.microsoft.com/office/drawing/2014/main" id="{3DF9F170-0465-9343-8187-377E14DB4934}"/>
              </a:ext>
            </a:extLst>
          </p:cNvPr>
          <p:cNvSpPr/>
          <p:nvPr/>
        </p:nvSpPr>
        <p:spPr>
          <a:xfrm>
            <a:off x="14003387" y="25712776"/>
            <a:ext cx="11612880" cy="795528"/>
          </a:xfrm>
          <a:prstGeom prst="rect">
            <a:avLst/>
          </a:prstGeom>
          <a:solidFill>
            <a:srgbClr val="FFFFFF"/>
          </a:solidFill>
          <a:ln w="12700">
            <a:solidFill>
              <a:srgbClr val="C5D3E8"/>
            </a:solidFill>
            <a:prstDash val="solid"/>
          </a:ln>
        </p:spPr>
        <p:txBody>
          <a:bodyPr/>
          <a:lstStyle/>
          <a:p>
            <a:endParaRPr lang="fr-CA" sz="2400"/>
          </a:p>
        </p:txBody>
      </p:sp>
      <p:sp>
        <p:nvSpPr>
          <p:cNvPr id="1139" name="Shape 112">
            <a:extLst>
              <a:ext uri="{FF2B5EF4-FFF2-40B4-BE49-F238E27FC236}">
                <a16:creationId xmlns:a16="http://schemas.microsoft.com/office/drawing/2014/main" id="{D0FFF98F-3C44-79A5-6097-E63BAA72FD65}"/>
              </a:ext>
            </a:extLst>
          </p:cNvPr>
          <p:cNvSpPr/>
          <p:nvPr/>
        </p:nvSpPr>
        <p:spPr>
          <a:xfrm>
            <a:off x="14003387" y="25712776"/>
            <a:ext cx="201168" cy="795528"/>
          </a:xfrm>
          <a:prstGeom prst="rect">
            <a:avLst/>
          </a:prstGeom>
          <a:solidFill>
            <a:srgbClr val="D4AC0D"/>
          </a:solidFill>
          <a:ln w="12700">
            <a:solidFill>
              <a:srgbClr val="D4AC0D"/>
            </a:solidFill>
            <a:prstDash val="solid"/>
          </a:ln>
        </p:spPr>
        <p:txBody>
          <a:bodyPr/>
          <a:lstStyle/>
          <a:p>
            <a:endParaRPr lang="fr-CA" sz="2400"/>
          </a:p>
        </p:txBody>
      </p:sp>
      <p:sp>
        <p:nvSpPr>
          <p:cNvPr id="1140" name="Text 113">
            <a:extLst>
              <a:ext uri="{FF2B5EF4-FFF2-40B4-BE49-F238E27FC236}">
                <a16:creationId xmlns:a16="http://schemas.microsoft.com/office/drawing/2014/main" id="{21D1E19D-9F6D-1BB1-CF4C-0A228895CAFF}"/>
              </a:ext>
            </a:extLst>
          </p:cNvPr>
          <p:cNvSpPr/>
          <p:nvPr/>
        </p:nvSpPr>
        <p:spPr>
          <a:xfrm>
            <a:off x="14277707" y="25712776"/>
            <a:ext cx="11292840" cy="795528"/>
          </a:xfrm>
          <a:prstGeom prst="rect">
            <a:avLst/>
          </a:prstGeom>
          <a:noFill/>
          <a:ln/>
        </p:spPr>
        <p:txBody>
          <a:bodyPr wrap="square" rtlCol="0" anchor="ctr"/>
          <a:lstStyle/>
          <a:p>
            <a:pPr marL="0" indent="0">
              <a:buNone/>
            </a:pPr>
            <a:r>
              <a:rPr lang="en-US" b="1" dirty="0">
                <a:solidFill>
                  <a:srgbClr val="D4AC0D"/>
                </a:solidFill>
                <a:latin typeface="Calibri" pitchFamily="34" charset="0"/>
                <a:ea typeface="Calibri" pitchFamily="34" charset="-122"/>
                <a:cs typeface="Calibri" pitchFamily="34" charset="-120"/>
              </a:rPr>
              <a:t>4 — Bonus combinaisons (±pts)  </a:t>
            </a:r>
            <a:r>
              <a:rPr lang="en-US" dirty="0">
                <a:solidFill>
                  <a:srgbClr val="1C2833"/>
                </a:solidFill>
                <a:latin typeface="Calibri" pitchFamily="34" charset="0"/>
                <a:ea typeface="Calibri" pitchFamily="34" charset="-122"/>
                <a:cs typeface="Calibri" pitchFamily="34" charset="-120"/>
              </a:rPr>
              <a:t>Combos points </a:t>
            </a:r>
            <a:r>
              <a:rPr lang="en-US" dirty="0" err="1">
                <a:solidFill>
                  <a:srgbClr val="1C2833"/>
                </a:solidFill>
                <a:latin typeface="Calibri" pitchFamily="34" charset="0"/>
                <a:ea typeface="Calibri" pitchFamily="34" charset="-122"/>
                <a:cs typeface="Calibri" pitchFamily="34" charset="-120"/>
              </a:rPr>
              <a:t>structurels</a:t>
            </a:r>
            <a:r>
              <a:rPr lang="en-US" dirty="0">
                <a:solidFill>
                  <a:srgbClr val="1C2833"/>
                </a:solidFill>
                <a:latin typeface="Calibri" pitchFamily="34" charset="0"/>
                <a:ea typeface="Calibri" pitchFamily="34" charset="-122"/>
                <a:cs typeface="Calibri" pitchFamily="34" charset="-120"/>
              </a:rPr>
              <a:t>. Multi-impact ≥6 pièces (+50pts). Seul le max retenu</a:t>
            </a:r>
            <a:endParaRPr lang="en-US" dirty="0"/>
          </a:p>
        </p:txBody>
      </p:sp>
      <p:sp>
        <p:nvSpPr>
          <p:cNvPr id="1141" name="Shape 114">
            <a:extLst>
              <a:ext uri="{FF2B5EF4-FFF2-40B4-BE49-F238E27FC236}">
                <a16:creationId xmlns:a16="http://schemas.microsoft.com/office/drawing/2014/main" id="{94001C2A-DD6E-5F08-2894-9BF807BE37A0}"/>
              </a:ext>
            </a:extLst>
          </p:cNvPr>
          <p:cNvSpPr/>
          <p:nvPr/>
        </p:nvSpPr>
        <p:spPr>
          <a:xfrm>
            <a:off x="14003387" y="26581456"/>
            <a:ext cx="11612880" cy="795528"/>
          </a:xfrm>
          <a:prstGeom prst="rect">
            <a:avLst/>
          </a:prstGeom>
          <a:solidFill>
            <a:srgbClr val="F4F7FC"/>
          </a:solidFill>
          <a:ln w="12700">
            <a:solidFill>
              <a:srgbClr val="C5D3E8"/>
            </a:solidFill>
            <a:prstDash val="solid"/>
          </a:ln>
        </p:spPr>
        <p:txBody>
          <a:bodyPr/>
          <a:lstStyle/>
          <a:p>
            <a:endParaRPr lang="fr-CA" sz="2400"/>
          </a:p>
        </p:txBody>
      </p:sp>
      <p:sp>
        <p:nvSpPr>
          <p:cNvPr id="1142" name="Shape 115">
            <a:extLst>
              <a:ext uri="{FF2B5EF4-FFF2-40B4-BE49-F238E27FC236}">
                <a16:creationId xmlns:a16="http://schemas.microsoft.com/office/drawing/2014/main" id="{2EB899D8-E511-AAE2-A203-0573471C5744}"/>
              </a:ext>
            </a:extLst>
          </p:cNvPr>
          <p:cNvSpPr/>
          <p:nvPr/>
        </p:nvSpPr>
        <p:spPr>
          <a:xfrm>
            <a:off x="14003387" y="26581456"/>
            <a:ext cx="201168" cy="795528"/>
          </a:xfrm>
          <a:prstGeom prst="rect">
            <a:avLst/>
          </a:prstGeom>
          <a:solidFill>
            <a:srgbClr val="D35400"/>
          </a:solidFill>
          <a:ln w="12700">
            <a:solidFill>
              <a:srgbClr val="D35400"/>
            </a:solidFill>
            <a:prstDash val="solid"/>
          </a:ln>
        </p:spPr>
        <p:txBody>
          <a:bodyPr/>
          <a:lstStyle/>
          <a:p>
            <a:endParaRPr lang="fr-CA" sz="2400"/>
          </a:p>
        </p:txBody>
      </p:sp>
      <p:sp>
        <p:nvSpPr>
          <p:cNvPr id="1143" name="Text 116">
            <a:extLst>
              <a:ext uri="{FF2B5EF4-FFF2-40B4-BE49-F238E27FC236}">
                <a16:creationId xmlns:a16="http://schemas.microsoft.com/office/drawing/2014/main" id="{70B24AFB-E3A5-2153-2944-A9146C9823F5}"/>
              </a:ext>
            </a:extLst>
          </p:cNvPr>
          <p:cNvSpPr/>
          <p:nvPr/>
        </p:nvSpPr>
        <p:spPr>
          <a:xfrm>
            <a:off x="14277707" y="26581456"/>
            <a:ext cx="11292840" cy="795528"/>
          </a:xfrm>
          <a:prstGeom prst="rect">
            <a:avLst/>
          </a:prstGeom>
          <a:noFill/>
          <a:ln/>
        </p:spPr>
        <p:txBody>
          <a:bodyPr wrap="square" rtlCol="0" anchor="ctr"/>
          <a:lstStyle/>
          <a:p>
            <a:pPr marL="0" indent="0">
              <a:buNone/>
            </a:pPr>
            <a:r>
              <a:rPr lang="en-US" b="1" dirty="0">
                <a:solidFill>
                  <a:srgbClr val="D35400"/>
                </a:solidFill>
                <a:latin typeface="Calibri" pitchFamily="34" charset="0"/>
                <a:ea typeface="Calibri" pitchFamily="34" charset="-122"/>
                <a:cs typeface="Calibri" pitchFamily="34" charset="-120"/>
              </a:rPr>
              <a:t>5 — Multiplicateur zone (×)  </a:t>
            </a:r>
            <a:r>
              <a:rPr lang="en-US" dirty="0">
                <a:solidFill>
                  <a:srgbClr val="1C2833"/>
                </a:solidFill>
                <a:latin typeface="Calibri" pitchFamily="34" charset="0"/>
                <a:ea typeface="Calibri" pitchFamily="34" charset="-122"/>
                <a:cs typeface="Calibri" pitchFamily="34" charset="-120"/>
              </a:rPr>
              <a:t>Avant = 1.35  ·  Arrière = 1.2  ·  </a:t>
            </a:r>
            <a:r>
              <a:rPr lang="en-US" dirty="0" err="1">
                <a:solidFill>
                  <a:srgbClr val="1C2833"/>
                </a:solidFill>
                <a:latin typeface="Calibri" pitchFamily="34" charset="0"/>
                <a:ea typeface="Calibri" pitchFamily="34" charset="-122"/>
                <a:cs typeface="Calibri" pitchFamily="34" charset="-120"/>
              </a:rPr>
              <a:t>Latérale</a:t>
            </a:r>
            <a:r>
              <a:rPr lang="en-US" dirty="0">
                <a:solidFill>
                  <a:srgbClr val="1C2833"/>
                </a:solidFill>
                <a:latin typeface="Calibri" pitchFamily="34" charset="0"/>
                <a:ea typeface="Calibri" pitchFamily="34" charset="-122"/>
                <a:cs typeface="Calibri" pitchFamily="34" charset="-120"/>
              </a:rPr>
              <a:t> = 1.1  ·  Coins = 1.4-1.6  ·  Saine = 0.0</a:t>
            </a:r>
            <a:endParaRPr lang="en-US" dirty="0"/>
          </a:p>
        </p:txBody>
      </p:sp>
      <p:sp>
        <p:nvSpPr>
          <p:cNvPr id="1144" name="Shape 117">
            <a:extLst>
              <a:ext uri="{FF2B5EF4-FFF2-40B4-BE49-F238E27FC236}">
                <a16:creationId xmlns:a16="http://schemas.microsoft.com/office/drawing/2014/main" id="{E92EA21E-1F79-7693-E7F2-217C9E292C82}"/>
              </a:ext>
            </a:extLst>
          </p:cNvPr>
          <p:cNvSpPr/>
          <p:nvPr/>
        </p:nvSpPr>
        <p:spPr>
          <a:xfrm>
            <a:off x="14003387" y="27495856"/>
            <a:ext cx="11612880" cy="566928"/>
          </a:xfrm>
          <a:prstGeom prst="rect">
            <a:avLst/>
          </a:prstGeom>
          <a:solidFill>
            <a:srgbClr val="1A2B5E"/>
          </a:solidFill>
          <a:ln w="12700">
            <a:solidFill>
              <a:srgbClr val="1A2B5E"/>
            </a:solidFill>
            <a:prstDash val="solid"/>
          </a:ln>
        </p:spPr>
        <p:txBody>
          <a:bodyPr/>
          <a:lstStyle/>
          <a:p>
            <a:endParaRPr lang="fr-CA"/>
          </a:p>
        </p:txBody>
      </p:sp>
      <p:sp>
        <p:nvSpPr>
          <p:cNvPr id="1145" name="Text 118">
            <a:extLst>
              <a:ext uri="{FF2B5EF4-FFF2-40B4-BE49-F238E27FC236}">
                <a16:creationId xmlns:a16="http://schemas.microsoft.com/office/drawing/2014/main" id="{06992EE9-5341-F812-168D-1BBBAB464C52}"/>
              </a:ext>
            </a:extLst>
          </p:cNvPr>
          <p:cNvSpPr/>
          <p:nvPr/>
        </p:nvSpPr>
        <p:spPr>
          <a:xfrm>
            <a:off x="14003387" y="27495856"/>
            <a:ext cx="11612880" cy="56692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Catégories finales : &lt; 35 = Léger  ·  35–70 = Modéré  ·  ≥ 70 = Sévère</a:t>
            </a:r>
            <a:endParaRPr lang="en-US" sz="1600" dirty="0"/>
          </a:p>
        </p:txBody>
      </p:sp>
      <p:sp>
        <p:nvSpPr>
          <p:cNvPr id="1154" name="Text 70">
            <a:extLst>
              <a:ext uri="{FF2B5EF4-FFF2-40B4-BE49-F238E27FC236}">
                <a16:creationId xmlns:a16="http://schemas.microsoft.com/office/drawing/2014/main" id="{2F1E01AC-B166-81C6-02E0-20B0FEBCF12B}"/>
              </a:ext>
            </a:extLst>
          </p:cNvPr>
          <p:cNvSpPr/>
          <p:nvPr/>
        </p:nvSpPr>
        <p:spPr>
          <a:xfrm rot="10800000">
            <a:off x="22512833" y="9357134"/>
            <a:ext cx="201168" cy="365760"/>
          </a:xfrm>
          <a:prstGeom prst="rect">
            <a:avLst/>
          </a:prstGeom>
          <a:noFill/>
          <a:ln/>
        </p:spPr>
        <p:txBody>
          <a:bodyPr wrap="square" rtlCol="0" anchor="ctr"/>
          <a:lstStyle/>
          <a:p>
            <a:pPr marL="0" indent="0" algn="ctr">
              <a:buNone/>
            </a:pPr>
            <a:endParaRPr lang="en-US" sz="2200" dirty="0"/>
          </a:p>
        </p:txBody>
      </p:sp>
      <p:sp>
        <p:nvSpPr>
          <p:cNvPr id="1155" name="Text 70">
            <a:extLst>
              <a:ext uri="{FF2B5EF4-FFF2-40B4-BE49-F238E27FC236}">
                <a16:creationId xmlns:a16="http://schemas.microsoft.com/office/drawing/2014/main" id="{257872CA-C6B3-D64A-859C-575AB9CCD76E}"/>
              </a:ext>
            </a:extLst>
          </p:cNvPr>
          <p:cNvSpPr/>
          <p:nvPr/>
        </p:nvSpPr>
        <p:spPr>
          <a:xfrm rot="10800000">
            <a:off x="19559321" y="9346685"/>
            <a:ext cx="201168" cy="365760"/>
          </a:xfrm>
          <a:prstGeom prst="rect">
            <a:avLst/>
          </a:prstGeom>
          <a:noFill/>
          <a:ln/>
        </p:spPr>
        <p:txBody>
          <a:bodyPr wrap="square" rtlCol="0" anchor="ctr"/>
          <a:lstStyle/>
          <a:p>
            <a:pPr marL="0" indent="0" algn="ctr">
              <a:buNone/>
            </a:pPr>
            <a:endParaRPr lang="en-US" sz="2200" dirty="0"/>
          </a:p>
        </p:txBody>
      </p:sp>
      <p:sp>
        <p:nvSpPr>
          <p:cNvPr id="1157" name="Flèche : chevron 1156">
            <a:extLst>
              <a:ext uri="{FF2B5EF4-FFF2-40B4-BE49-F238E27FC236}">
                <a16:creationId xmlns:a16="http://schemas.microsoft.com/office/drawing/2014/main" id="{0CBD6EEB-FD4C-9100-6D59-7F53D769D44E}"/>
              </a:ext>
            </a:extLst>
          </p:cNvPr>
          <p:cNvSpPr/>
          <p:nvPr/>
        </p:nvSpPr>
        <p:spPr>
          <a:xfrm>
            <a:off x="13911947" y="6770484"/>
            <a:ext cx="3209544" cy="1554480"/>
          </a:xfrm>
          <a:prstGeom prst="chevron">
            <a:avLst/>
          </a:prstGeom>
          <a:solidFill>
            <a:schemeClr val="tx1">
              <a:lumMod val="85000"/>
              <a:lumOff val="15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FFFFFF"/>
                </a:solidFill>
                <a:latin typeface="Calibri" pitchFamily="34" charset="0"/>
                <a:ea typeface="Calibri" pitchFamily="34" charset="-122"/>
                <a:cs typeface="Calibri" pitchFamily="34" charset="-120"/>
              </a:rPr>
              <a:t>Image </a:t>
            </a:r>
            <a:r>
              <a:rPr lang="en-US" sz="2000" b="1" dirty="0" err="1">
                <a:solidFill>
                  <a:srgbClr val="FFFFFF"/>
                </a:solidFill>
                <a:latin typeface="Calibri" pitchFamily="34" charset="0"/>
                <a:ea typeface="Calibri" pitchFamily="34" charset="-122"/>
                <a:cs typeface="Calibri" pitchFamily="34" charset="-120"/>
              </a:rPr>
              <a:t>d’entrée</a:t>
            </a:r>
            <a:endParaRPr lang="fr-CA" sz="2000" dirty="0">
              <a:solidFill>
                <a:schemeClr val="tx1"/>
              </a:solidFill>
            </a:endParaRPr>
          </a:p>
        </p:txBody>
      </p:sp>
      <p:sp>
        <p:nvSpPr>
          <p:cNvPr id="1160" name="Flèche : chevron 1159">
            <a:extLst>
              <a:ext uri="{FF2B5EF4-FFF2-40B4-BE49-F238E27FC236}">
                <a16:creationId xmlns:a16="http://schemas.microsoft.com/office/drawing/2014/main" id="{30FF01EC-01CA-D766-0E63-8ACF34E6E2D8}"/>
              </a:ext>
            </a:extLst>
          </p:cNvPr>
          <p:cNvSpPr/>
          <p:nvPr/>
        </p:nvSpPr>
        <p:spPr>
          <a:xfrm>
            <a:off x="16815167" y="6772516"/>
            <a:ext cx="3095244" cy="1554480"/>
          </a:xfrm>
          <a:prstGeom prst="chevron">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FFFFFF"/>
                </a:solidFill>
                <a:latin typeface="Calibri" pitchFamily="34" charset="0"/>
                <a:ea typeface="Calibri" pitchFamily="34" charset="-122"/>
                <a:cs typeface="Calibri" pitchFamily="34" charset="-120"/>
              </a:rPr>
              <a:t>YOLO11s v5</a:t>
            </a:r>
            <a:endParaRPr lang="en-US" sz="2000" dirty="0"/>
          </a:p>
          <a:p>
            <a:pPr algn="ctr"/>
            <a:r>
              <a:rPr lang="en-US" sz="2000" b="1" dirty="0">
                <a:solidFill>
                  <a:srgbClr val="FFFFFF"/>
                </a:solidFill>
                <a:latin typeface="Calibri" pitchFamily="34" charset="0"/>
                <a:ea typeface="Calibri" pitchFamily="34" charset="-122"/>
                <a:cs typeface="Calibri" pitchFamily="34" charset="-120"/>
              </a:rPr>
              <a:t>(17 classes)</a:t>
            </a:r>
            <a:endParaRPr lang="en-US" sz="2000" dirty="0"/>
          </a:p>
        </p:txBody>
      </p:sp>
      <p:sp>
        <p:nvSpPr>
          <p:cNvPr id="1164" name="Flèche : chevron 1163">
            <a:extLst>
              <a:ext uri="{FF2B5EF4-FFF2-40B4-BE49-F238E27FC236}">
                <a16:creationId xmlns:a16="http://schemas.microsoft.com/office/drawing/2014/main" id="{753EAB1A-9708-4B7C-787A-058A3AAD7CB5}"/>
              </a:ext>
            </a:extLst>
          </p:cNvPr>
          <p:cNvSpPr/>
          <p:nvPr/>
        </p:nvSpPr>
        <p:spPr>
          <a:xfrm>
            <a:off x="19672667" y="6748511"/>
            <a:ext cx="3095244" cy="1554480"/>
          </a:xfrm>
          <a:prstGeom prst="chevron">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FFFFFF"/>
                </a:solidFill>
                <a:latin typeface="Calibri" pitchFamily="34" charset="0"/>
                <a:ea typeface="Calibri" pitchFamily="34" charset="-122"/>
                <a:cs typeface="Calibri" pitchFamily="34" charset="-120"/>
              </a:rPr>
              <a:t>Vote </a:t>
            </a:r>
            <a:r>
              <a:rPr lang="en-US" sz="2000" b="1" dirty="0" err="1">
                <a:solidFill>
                  <a:srgbClr val="FFFFFF"/>
                </a:solidFill>
                <a:latin typeface="Calibri" pitchFamily="34" charset="0"/>
                <a:ea typeface="Calibri" pitchFamily="34" charset="-122"/>
                <a:cs typeface="Calibri" pitchFamily="34" charset="-120"/>
              </a:rPr>
              <a:t>pondéré</a:t>
            </a:r>
            <a:endParaRPr lang="en-US" sz="2000" dirty="0"/>
          </a:p>
          <a:p>
            <a:pPr algn="ctr"/>
            <a:r>
              <a:rPr lang="en-US" sz="2000" b="1" dirty="0">
                <a:solidFill>
                  <a:srgbClr val="FFFFFF"/>
                </a:solidFill>
                <a:latin typeface="Calibri" pitchFamily="34" charset="0"/>
                <a:ea typeface="Calibri" pitchFamily="34" charset="-122"/>
                <a:cs typeface="Calibri" pitchFamily="34" charset="-120"/>
              </a:rPr>
              <a:t>Zone </a:t>
            </a:r>
            <a:r>
              <a:rPr lang="en-US" sz="2000" b="1" dirty="0" err="1">
                <a:solidFill>
                  <a:srgbClr val="FFFFFF"/>
                </a:solidFill>
                <a:latin typeface="Calibri" pitchFamily="34" charset="0"/>
                <a:ea typeface="Calibri" pitchFamily="34" charset="-122"/>
                <a:cs typeface="Calibri" pitchFamily="34" charset="-120"/>
              </a:rPr>
              <a:t>d'impact</a:t>
            </a:r>
            <a:endParaRPr lang="en-US" sz="2000" dirty="0"/>
          </a:p>
        </p:txBody>
      </p:sp>
      <p:sp>
        <p:nvSpPr>
          <p:cNvPr id="1167" name="Flèche : chevron 1166">
            <a:extLst>
              <a:ext uri="{FF2B5EF4-FFF2-40B4-BE49-F238E27FC236}">
                <a16:creationId xmlns:a16="http://schemas.microsoft.com/office/drawing/2014/main" id="{A173DA98-254E-757B-73D0-6D257692CE26}"/>
              </a:ext>
            </a:extLst>
          </p:cNvPr>
          <p:cNvSpPr/>
          <p:nvPr/>
        </p:nvSpPr>
        <p:spPr>
          <a:xfrm>
            <a:off x="22479875" y="6777027"/>
            <a:ext cx="3191256" cy="1554480"/>
          </a:xfrm>
          <a:prstGeom prst="chevron">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err="1">
                <a:solidFill>
                  <a:srgbClr val="FFFFFF"/>
                </a:solidFill>
                <a:latin typeface="Calibri" pitchFamily="34" charset="0"/>
                <a:ea typeface="Calibri" pitchFamily="34" charset="-122"/>
                <a:cs typeface="Calibri" pitchFamily="34" charset="-120"/>
              </a:rPr>
              <a:t>Classificateur</a:t>
            </a:r>
            <a:endParaRPr lang="en-US" sz="2000" dirty="0"/>
          </a:p>
          <a:p>
            <a:pPr algn="ctr"/>
            <a:r>
              <a:rPr lang="en-US" sz="2000" b="1" dirty="0">
                <a:solidFill>
                  <a:srgbClr val="FFFFFF"/>
                </a:solidFill>
                <a:latin typeface="Calibri" pitchFamily="34" charset="0"/>
                <a:ea typeface="Calibri" pitchFamily="34" charset="-122"/>
                <a:cs typeface="Calibri" pitchFamily="34" charset="-120"/>
              </a:rPr>
              <a:t>zone v3</a:t>
            </a:r>
            <a:endParaRPr lang="en-US" sz="2000" dirty="0"/>
          </a:p>
        </p:txBody>
      </p:sp>
      <p:sp>
        <p:nvSpPr>
          <p:cNvPr id="1171" name="Flèche : chevron 1170">
            <a:extLst>
              <a:ext uri="{FF2B5EF4-FFF2-40B4-BE49-F238E27FC236}">
                <a16:creationId xmlns:a16="http://schemas.microsoft.com/office/drawing/2014/main" id="{32DD9C01-209C-E69D-0B17-75D1046FC15A}"/>
              </a:ext>
            </a:extLst>
          </p:cNvPr>
          <p:cNvSpPr/>
          <p:nvPr/>
        </p:nvSpPr>
        <p:spPr>
          <a:xfrm rot="10800000">
            <a:off x="22421393" y="8679646"/>
            <a:ext cx="3031236" cy="1630316"/>
          </a:xfrm>
          <a:prstGeom prst="chevron">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dirty="0">
              <a:solidFill>
                <a:schemeClr val="tx1"/>
              </a:solidFill>
            </a:endParaRPr>
          </a:p>
        </p:txBody>
      </p:sp>
      <p:sp>
        <p:nvSpPr>
          <p:cNvPr id="1172" name="ZoneTexte 1171">
            <a:extLst>
              <a:ext uri="{FF2B5EF4-FFF2-40B4-BE49-F238E27FC236}">
                <a16:creationId xmlns:a16="http://schemas.microsoft.com/office/drawing/2014/main" id="{96EF9573-C872-69DA-5A32-D58631A964CF}"/>
              </a:ext>
            </a:extLst>
          </p:cNvPr>
          <p:cNvSpPr txBox="1"/>
          <p:nvPr/>
        </p:nvSpPr>
        <p:spPr>
          <a:xfrm>
            <a:off x="22995350" y="9130870"/>
            <a:ext cx="1719618" cy="707886"/>
          </a:xfrm>
          <a:prstGeom prst="rect">
            <a:avLst/>
          </a:prstGeom>
          <a:noFill/>
        </p:spPr>
        <p:txBody>
          <a:bodyPr wrap="square" rtlCol="0">
            <a:spAutoFit/>
          </a:bodyPr>
          <a:lstStyle/>
          <a:p>
            <a:pPr algn="ctr"/>
            <a:r>
              <a:rPr lang="en-US" sz="2000" b="1" dirty="0" err="1">
                <a:solidFill>
                  <a:srgbClr val="FFFFFF"/>
                </a:solidFill>
                <a:latin typeface="Calibri" pitchFamily="34" charset="0"/>
                <a:ea typeface="Calibri" pitchFamily="34" charset="-122"/>
                <a:cs typeface="Calibri" pitchFamily="34" charset="-120"/>
              </a:rPr>
              <a:t>Modèle</a:t>
            </a:r>
            <a:r>
              <a:rPr lang="en-US" sz="2000" b="1" dirty="0">
                <a:solidFill>
                  <a:srgbClr val="FFFFFF"/>
                </a:solidFill>
                <a:latin typeface="Calibri" pitchFamily="34" charset="0"/>
                <a:ea typeface="Calibri" pitchFamily="34" charset="-122"/>
                <a:cs typeface="Calibri" pitchFamily="34" charset="-120"/>
              </a:rPr>
              <a:t> SEV</a:t>
            </a:r>
            <a:endParaRPr lang="en-US" sz="2000" dirty="0"/>
          </a:p>
          <a:p>
            <a:pPr algn="ctr"/>
            <a:r>
              <a:rPr lang="en-US" sz="2000" b="1" dirty="0" err="1">
                <a:solidFill>
                  <a:srgbClr val="FFFFFF"/>
                </a:solidFill>
                <a:latin typeface="Calibri" pitchFamily="34" charset="0"/>
                <a:ea typeface="Calibri" pitchFamily="34" charset="-122"/>
                <a:cs typeface="Calibri" pitchFamily="34" charset="-120"/>
              </a:rPr>
              <a:t>Sévérité</a:t>
            </a:r>
            <a:endParaRPr lang="en-US" sz="2000" dirty="0"/>
          </a:p>
        </p:txBody>
      </p:sp>
      <p:sp>
        <p:nvSpPr>
          <p:cNvPr id="1173" name="Flèche : chevron 1172">
            <a:extLst>
              <a:ext uri="{FF2B5EF4-FFF2-40B4-BE49-F238E27FC236}">
                <a16:creationId xmlns:a16="http://schemas.microsoft.com/office/drawing/2014/main" id="{B01F1B36-EDB1-DE1D-6833-0B3BD1648249}"/>
              </a:ext>
            </a:extLst>
          </p:cNvPr>
          <p:cNvSpPr/>
          <p:nvPr/>
        </p:nvSpPr>
        <p:spPr>
          <a:xfrm rot="10800000">
            <a:off x="19518173" y="8696301"/>
            <a:ext cx="3031236" cy="1621237"/>
          </a:xfrm>
          <a:prstGeom prst="chevron">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dirty="0">
              <a:solidFill>
                <a:schemeClr val="tx1"/>
              </a:solidFill>
            </a:endParaRPr>
          </a:p>
        </p:txBody>
      </p:sp>
      <p:sp>
        <p:nvSpPr>
          <p:cNvPr id="1175" name="ZoneTexte 1174">
            <a:extLst>
              <a:ext uri="{FF2B5EF4-FFF2-40B4-BE49-F238E27FC236}">
                <a16:creationId xmlns:a16="http://schemas.microsoft.com/office/drawing/2014/main" id="{CB259FF0-9AF4-C3BC-CD0B-F225E6F0C50B}"/>
              </a:ext>
            </a:extLst>
          </p:cNvPr>
          <p:cNvSpPr txBox="1"/>
          <p:nvPr/>
        </p:nvSpPr>
        <p:spPr>
          <a:xfrm>
            <a:off x="20050674" y="9150023"/>
            <a:ext cx="1774209" cy="707886"/>
          </a:xfrm>
          <a:prstGeom prst="rect">
            <a:avLst/>
          </a:prstGeom>
          <a:noFill/>
        </p:spPr>
        <p:txBody>
          <a:bodyPr wrap="square" rtlCol="0">
            <a:spAutoFit/>
          </a:bodyPr>
          <a:lstStyle/>
          <a:p>
            <a:pPr algn="ctr"/>
            <a:r>
              <a:rPr lang="en-US" sz="2000" b="1" dirty="0" err="1">
                <a:solidFill>
                  <a:srgbClr val="FFFFFF"/>
                </a:solidFill>
                <a:latin typeface="Calibri" pitchFamily="34" charset="0"/>
                <a:ea typeface="Calibri" pitchFamily="34" charset="-122"/>
                <a:cs typeface="Calibri" pitchFamily="34" charset="-120"/>
              </a:rPr>
              <a:t>Pointage</a:t>
            </a:r>
            <a:r>
              <a:rPr lang="en-US" sz="2000" b="1" dirty="0">
                <a:solidFill>
                  <a:srgbClr val="FFFFFF"/>
                </a:solidFill>
                <a:latin typeface="Calibri" pitchFamily="34" charset="0"/>
                <a:ea typeface="Calibri" pitchFamily="34" charset="-122"/>
                <a:cs typeface="Calibri" pitchFamily="34" charset="-120"/>
              </a:rPr>
              <a:t> par</a:t>
            </a:r>
            <a:endParaRPr lang="en-US" sz="2000" dirty="0"/>
          </a:p>
          <a:p>
            <a:pPr algn="ctr"/>
            <a:r>
              <a:rPr lang="en-US" sz="2000" b="1" dirty="0">
                <a:solidFill>
                  <a:srgbClr val="FFFFFF"/>
                </a:solidFill>
                <a:latin typeface="Calibri" pitchFamily="34" charset="0"/>
                <a:ea typeface="Calibri" pitchFamily="34" charset="-122"/>
                <a:cs typeface="Calibri" pitchFamily="34" charset="-120"/>
              </a:rPr>
              <a:t>composite</a:t>
            </a:r>
            <a:endParaRPr lang="en-US" sz="2000" dirty="0"/>
          </a:p>
        </p:txBody>
      </p:sp>
      <p:sp>
        <p:nvSpPr>
          <p:cNvPr id="1176" name="Flèche : chevron 1175">
            <a:extLst>
              <a:ext uri="{FF2B5EF4-FFF2-40B4-BE49-F238E27FC236}">
                <a16:creationId xmlns:a16="http://schemas.microsoft.com/office/drawing/2014/main" id="{997CDD97-E5DD-99EE-5353-438947A6EBEE}"/>
              </a:ext>
            </a:extLst>
          </p:cNvPr>
          <p:cNvSpPr/>
          <p:nvPr/>
        </p:nvSpPr>
        <p:spPr>
          <a:xfrm rot="10800000">
            <a:off x="16733825" y="8725678"/>
            <a:ext cx="3031236" cy="1621237"/>
          </a:xfrm>
          <a:prstGeom prst="chevron">
            <a:avLst/>
          </a:prstGeom>
          <a:solidFill>
            <a:srgbClr val="1A2B5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dirty="0">
              <a:solidFill>
                <a:schemeClr val="tx1"/>
              </a:solidFill>
            </a:endParaRPr>
          </a:p>
        </p:txBody>
      </p:sp>
      <p:sp>
        <p:nvSpPr>
          <p:cNvPr id="1177" name="ZoneTexte 1176">
            <a:extLst>
              <a:ext uri="{FF2B5EF4-FFF2-40B4-BE49-F238E27FC236}">
                <a16:creationId xmlns:a16="http://schemas.microsoft.com/office/drawing/2014/main" id="{D9BF42B6-C9BC-1918-E632-2971976116FE}"/>
              </a:ext>
            </a:extLst>
          </p:cNvPr>
          <p:cNvSpPr txBox="1"/>
          <p:nvPr/>
        </p:nvSpPr>
        <p:spPr>
          <a:xfrm>
            <a:off x="17235994" y="9102391"/>
            <a:ext cx="1692323" cy="984885"/>
          </a:xfrm>
          <a:prstGeom prst="rect">
            <a:avLst/>
          </a:prstGeom>
          <a:noFill/>
        </p:spPr>
        <p:txBody>
          <a:bodyPr wrap="square" rtlCol="0">
            <a:spAutoFit/>
          </a:bodyPr>
          <a:lstStyle/>
          <a:p>
            <a:pPr algn="ctr"/>
            <a:r>
              <a:rPr lang="en-US" sz="2000" b="1" dirty="0" err="1">
                <a:solidFill>
                  <a:srgbClr val="FFFFFF"/>
                </a:solidFill>
                <a:latin typeface="Calibri" pitchFamily="34" charset="0"/>
                <a:ea typeface="Calibri" pitchFamily="34" charset="-122"/>
                <a:cs typeface="Calibri" pitchFamily="34" charset="-120"/>
              </a:rPr>
              <a:t>Filtre</a:t>
            </a:r>
            <a:r>
              <a:rPr lang="en-US" sz="2000" b="1" dirty="0">
                <a:solidFill>
                  <a:srgbClr val="FFFFFF"/>
                </a:solidFill>
                <a:latin typeface="Calibri" pitchFamily="34" charset="0"/>
                <a:ea typeface="Calibri" pitchFamily="34" charset="-122"/>
                <a:cs typeface="Calibri" pitchFamily="34" charset="-120"/>
              </a:rPr>
              <a:t> multi-</a:t>
            </a:r>
            <a:endParaRPr lang="en-US" sz="2000" dirty="0"/>
          </a:p>
          <a:p>
            <a:pPr algn="ctr"/>
            <a:r>
              <a:rPr lang="en-US" sz="2000" b="1" dirty="0" err="1">
                <a:solidFill>
                  <a:srgbClr val="FFFFFF"/>
                </a:solidFill>
                <a:latin typeface="Calibri" pitchFamily="34" charset="0"/>
                <a:ea typeface="Calibri" pitchFamily="34" charset="-122"/>
                <a:cs typeface="Calibri" pitchFamily="34" charset="-120"/>
              </a:rPr>
              <a:t>véhicules</a:t>
            </a:r>
            <a:endParaRPr lang="en-US" sz="2000" dirty="0"/>
          </a:p>
          <a:p>
            <a:endParaRPr lang="fr-CA" dirty="0"/>
          </a:p>
        </p:txBody>
      </p:sp>
      <p:sp>
        <p:nvSpPr>
          <p:cNvPr id="1178" name="Flèche : chevron 1177">
            <a:extLst>
              <a:ext uri="{FF2B5EF4-FFF2-40B4-BE49-F238E27FC236}">
                <a16:creationId xmlns:a16="http://schemas.microsoft.com/office/drawing/2014/main" id="{BC70511C-6A91-2A35-35E6-762191A22429}"/>
              </a:ext>
            </a:extLst>
          </p:cNvPr>
          <p:cNvSpPr/>
          <p:nvPr/>
        </p:nvSpPr>
        <p:spPr>
          <a:xfrm rot="10800000">
            <a:off x="13957667" y="8740170"/>
            <a:ext cx="3031236" cy="1621237"/>
          </a:xfrm>
          <a:prstGeom prst="chevron">
            <a:avLst/>
          </a:prstGeom>
          <a:solidFill>
            <a:schemeClr val="tx1">
              <a:lumMod val="85000"/>
              <a:lumOff val="15000"/>
            </a:schemeClr>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dirty="0">
              <a:solidFill>
                <a:schemeClr val="tx1"/>
              </a:solidFill>
            </a:endParaRPr>
          </a:p>
        </p:txBody>
      </p:sp>
      <p:sp>
        <p:nvSpPr>
          <p:cNvPr id="1180" name="ZoneTexte 1179">
            <a:extLst>
              <a:ext uri="{FF2B5EF4-FFF2-40B4-BE49-F238E27FC236}">
                <a16:creationId xmlns:a16="http://schemas.microsoft.com/office/drawing/2014/main" id="{9CC5F53F-861B-117E-1C14-00362A21B0A2}"/>
              </a:ext>
            </a:extLst>
          </p:cNvPr>
          <p:cNvSpPr txBox="1"/>
          <p:nvPr/>
        </p:nvSpPr>
        <p:spPr>
          <a:xfrm>
            <a:off x="14410908" y="9292672"/>
            <a:ext cx="1765133" cy="400110"/>
          </a:xfrm>
          <a:prstGeom prst="rect">
            <a:avLst/>
          </a:prstGeom>
          <a:noFill/>
        </p:spPr>
        <p:txBody>
          <a:bodyPr wrap="square" rtlCol="0">
            <a:spAutoFit/>
          </a:bodyPr>
          <a:lstStyle/>
          <a:p>
            <a:pPr algn="ctr"/>
            <a:r>
              <a:rPr lang="en-CA" sz="2000" b="1" dirty="0">
                <a:solidFill>
                  <a:schemeClr val="bg1"/>
                </a:solidFill>
              </a:rPr>
              <a:t>Rapport</a:t>
            </a:r>
            <a:endParaRPr lang="fr-CA" b="1" dirty="0">
              <a:solidFill>
                <a:schemeClr val="bg1"/>
              </a:solidFill>
            </a:endParaRPr>
          </a:p>
        </p:txBody>
      </p:sp>
      <p:sp>
        <p:nvSpPr>
          <p:cNvPr id="14" name="Shape 123">
            <a:extLst>
              <a:ext uri="{FF2B5EF4-FFF2-40B4-BE49-F238E27FC236}">
                <a16:creationId xmlns:a16="http://schemas.microsoft.com/office/drawing/2014/main" id="{D90F9CF3-22D1-5422-617E-B2ACBDC2A140}"/>
              </a:ext>
            </a:extLst>
          </p:cNvPr>
          <p:cNvSpPr/>
          <p:nvPr/>
        </p:nvSpPr>
        <p:spPr>
          <a:xfrm>
            <a:off x="14158835" y="13095245"/>
            <a:ext cx="2651760" cy="1920240"/>
          </a:xfrm>
          <a:prstGeom prst="rect">
            <a:avLst/>
          </a:prstGeom>
          <a:solidFill>
            <a:srgbClr val="002060"/>
          </a:solidFill>
          <a:ln w="12700">
            <a:solidFill>
              <a:srgbClr val="002060"/>
            </a:solidFill>
            <a:prstDash val="solid"/>
          </a:ln>
          <a:effectLst>
            <a:outerShdw blurRad="63500" dist="25400" dir="8100000" algn="bl" rotWithShape="0">
              <a:srgbClr val="000000">
                <a:alpha val="10000"/>
              </a:srgbClr>
            </a:outerShdw>
          </a:effectLst>
        </p:spPr>
        <p:txBody>
          <a:bodyPr/>
          <a:lstStyle/>
          <a:p>
            <a:endParaRPr lang="fr-CA"/>
          </a:p>
        </p:txBody>
      </p:sp>
      <p:sp>
        <p:nvSpPr>
          <p:cNvPr id="15" name="Text 124">
            <a:extLst>
              <a:ext uri="{FF2B5EF4-FFF2-40B4-BE49-F238E27FC236}">
                <a16:creationId xmlns:a16="http://schemas.microsoft.com/office/drawing/2014/main" id="{FB6256C0-8C86-7D5B-BDF7-79266D43CA09}"/>
              </a:ext>
            </a:extLst>
          </p:cNvPr>
          <p:cNvSpPr/>
          <p:nvPr/>
        </p:nvSpPr>
        <p:spPr>
          <a:xfrm>
            <a:off x="14158835" y="13140965"/>
            <a:ext cx="2651760" cy="1113739"/>
          </a:xfrm>
          <a:prstGeom prst="rect">
            <a:avLst/>
          </a:prstGeom>
          <a:noFill/>
          <a:ln/>
        </p:spPr>
        <p:txBody>
          <a:bodyPr wrap="square" rtlCol="0" anchor="b"/>
          <a:lstStyle/>
          <a:p>
            <a:pPr marL="0" indent="0" algn="ctr">
              <a:buNone/>
            </a:pPr>
            <a:r>
              <a:rPr lang="en-US" sz="3400" b="1" dirty="0">
                <a:solidFill>
                  <a:srgbClr val="FFFFFF"/>
                </a:solidFill>
                <a:latin typeface="Calibri" pitchFamily="34" charset="0"/>
                <a:ea typeface="Calibri" pitchFamily="34" charset="-122"/>
                <a:cs typeface="Calibri" pitchFamily="34" charset="-120"/>
              </a:rPr>
              <a:t>0.769</a:t>
            </a:r>
            <a:endParaRPr lang="en-US" sz="3400" dirty="0"/>
          </a:p>
        </p:txBody>
      </p:sp>
      <p:sp>
        <p:nvSpPr>
          <p:cNvPr id="16" name="Text 125">
            <a:extLst>
              <a:ext uri="{FF2B5EF4-FFF2-40B4-BE49-F238E27FC236}">
                <a16:creationId xmlns:a16="http://schemas.microsoft.com/office/drawing/2014/main" id="{78B4D356-1441-C678-CACE-83F0257C3CDF}"/>
              </a:ext>
            </a:extLst>
          </p:cNvPr>
          <p:cNvSpPr/>
          <p:nvPr/>
        </p:nvSpPr>
        <p:spPr>
          <a:xfrm>
            <a:off x="14158835" y="14208984"/>
            <a:ext cx="2651760" cy="729691"/>
          </a:xfrm>
          <a:prstGeom prst="rect">
            <a:avLst/>
          </a:prstGeom>
          <a:noFill/>
          <a:ln/>
        </p:spPr>
        <p:txBody>
          <a:bodyPr wrap="square" rtlCol="0" anchor="t"/>
          <a:lstStyle/>
          <a:p>
            <a:pPr marL="0" indent="0" algn="ctr">
              <a:buNone/>
            </a:pPr>
            <a:r>
              <a:rPr lang="en-US" sz="2000" dirty="0">
                <a:solidFill>
                  <a:srgbClr val="FFFFFF"/>
                </a:solidFill>
                <a:latin typeface="Calibri" pitchFamily="34" charset="0"/>
                <a:ea typeface="Calibri" pitchFamily="34" charset="-122"/>
                <a:cs typeface="Calibri" pitchFamily="34" charset="-120"/>
              </a:rPr>
              <a:t>mAP@0.5 — V5</a:t>
            </a:r>
            <a:endParaRPr lang="en-US" sz="2000" dirty="0"/>
          </a:p>
        </p:txBody>
      </p:sp>
      <p:sp>
        <p:nvSpPr>
          <p:cNvPr id="17" name="Shape 126">
            <a:extLst>
              <a:ext uri="{FF2B5EF4-FFF2-40B4-BE49-F238E27FC236}">
                <a16:creationId xmlns:a16="http://schemas.microsoft.com/office/drawing/2014/main" id="{493A18B1-110D-5E55-74FE-AB1F32B6B18F}"/>
              </a:ext>
            </a:extLst>
          </p:cNvPr>
          <p:cNvSpPr/>
          <p:nvPr/>
        </p:nvSpPr>
        <p:spPr>
          <a:xfrm>
            <a:off x="16993475" y="13095245"/>
            <a:ext cx="2651760" cy="1920240"/>
          </a:xfrm>
          <a:prstGeom prst="rect">
            <a:avLst/>
          </a:prstGeom>
          <a:solidFill>
            <a:schemeClr val="accent1">
              <a:lumMod val="75000"/>
            </a:schemeClr>
          </a:solidFill>
          <a:ln w="12700">
            <a:solidFill>
              <a:schemeClr val="accent1">
                <a:lumMod val="75000"/>
              </a:schemeClr>
            </a:solidFill>
            <a:prstDash val="solid"/>
          </a:ln>
          <a:effectLst>
            <a:outerShdw blurRad="63500" dist="25400" dir="8100000" algn="bl" rotWithShape="0">
              <a:srgbClr val="000000">
                <a:alpha val="10000"/>
              </a:srgbClr>
            </a:outerShdw>
          </a:effectLst>
        </p:spPr>
        <p:txBody>
          <a:bodyPr/>
          <a:lstStyle/>
          <a:p>
            <a:endParaRPr lang="fr-CA"/>
          </a:p>
        </p:txBody>
      </p:sp>
      <p:sp>
        <p:nvSpPr>
          <p:cNvPr id="48" name="Text 127">
            <a:extLst>
              <a:ext uri="{FF2B5EF4-FFF2-40B4-BE49-F238E27FC236}">
                <a16:creationId xmlns:a16="http://schemas.microsoft.com/office/drawing/2014/main" id="{9AF1ECDD-7C1D-10E9-4CD0-87FA6EB162C5}"/>
              </a:ext>
            </a:extLst>
          </p:cNvPr>
          <p:cNvSpPr/>
          <p:nvPr/>
        </p:nvSpPr>
        <p:spPr>
          <a:xfrm>
            <a:off x="16993475" y="13140965"/>
            <a:ext cx="2651760" cy="1113739"/>
          </a:xfrm>
          <a:prstGeom prst="rect">
            <a:avLst/>
          </a:prstGeom>
          <a:noFill/>
          <a:ln/>
        </p:spPr>
        <p:txBody>
          <a:bodyPr wrap="square" rtlCol="0" anchor="b"/>
          <a:lstStyle/>
          <a:p>
            <a:pPr marL="0" indent="0" algn="ctr">
              <a:buNone/>
            </a:pPr>
            <a:r>
              <a:rPr lang="en-US" sz="3400" b="1" dirty="0">
                <a:solidFill>
                  <a:srgbClr val="FFFFFF"/>
                </a:solidFill>
                <a:latin typeface="Calibri" pitchFamily="34" charset="0"/>
                <a:ea typeface="Calibri" pitchFamily="34" charset="-122"/>
                <a:cs typeface="Calibri" pitchFamily="34" charset="-120"/>
              </a:rPr>
              <a:t>0.780</a:t>
            </a:r>
            <a:endParaRPr lang="en-US" sz="3400" dirty="0"/>
          </a:p>
        </p:txBody>
      </p:sp>
      <p:sp>
        <p:nvSpPr>
          <p:cNvPr id="52" name="Text 128">
            <a:extLst>
              <a:ext uri="{FF2B5EF4-FFF2-40B4-BE49-F238E27FC236}">
                <a16:creationId xmlns:a16="http://schemas.microsoft.com/office/drawing/2014/main" id="{A10FA86B-AB76-D3D5-E3F6-36D8D59B57FC}"/>
              </a:ext>
            </a:extLst>
          </p:cNvPr>
          <p:cNvSpPr/>
          <p:nvPr/>
        </p:nvSpPr>
        <p:spPr>
          <a:xfrm>
            <a:off x="16993475" y="14208984"/>
            <a:ext cx="2651760" cy="729691"/>
          </a:xfrm>
          <a:prstGeom prst="rect">
            <a:avLst/>
          </a:prstGeom>
          <a:noFill/>
          <a:ln/>
        </p:spPr>
        <p:txBody>
          <a:bodyPr wrap="square" rtlCol="0" anchor="t"/>
          <a:lstStyle/>
          <a:p>
            <a:pPr marL="0" indent="0" algn="ctr">
              <a:buNone/>
            </a:pPr>
            <a:r>
              <a:rPr lang="en-US" sz="2000" dirty="0">
                <a:solidFill>
                  <a:srgbClr val="FFFFFF"/>
                </a:solidFill>
                <a:latin typeface="Calibri" pitchFamily="34" charset="0"/>
                <a:ea typeface="Calibri" pitchFamily="34" charset="-122"/>
                <a:cs typeface="Calibri" pitchFamily="34" charset="-120"/>
              </a:rPr>
              <a:t>Précision globale</a:t>
            </a:r>
            <a:endParaRPr lang="en-US" sz="2000" dirty="0"/>
          </a:p>
        </p:txBody>
      </p:sp>
      <p:sp>
        <p:nvSpPr>
          <p:cNvPr id="55" name="Shape 129">
            <a:extLst>
              <a:ext uri="{FF2B5EF4-FFF2-40B4-BE49-F238E27FC236}">
                <a16:creationId xmlns:a16="http://schemas.microsoft.com/office/drawing/2014/main" id="{4A79E428-2757-8772-DD4D-C4AAE89AFE63}"/>
              </a:ext>
            </a:extLst>
          </p:cNvPr>
          <p:cNvSpPr/>
          <p:nvPr/>
        </p:nvSpPr>
        <p:spPr>
          <a:xfrm>
            <a:off x="19828115" y="13095245"/>
            <a:ext cx="2651760" cy="1920240"/>
          </a:xfrm>
          <a:prstGeom prst="rect">
            <a:avLst/>
          </a:prstGeom>
          <a:solidFill>
            <a:schemeClr val="accent5">
              <a:lumMod val="75000"/>
            </a:schemeClr>
          </a:solidFill>
          <a:ln w="12700">
            <a:solidFill>
              <a:schemeClr val="accent5">
                <a:lumMod val="75000"/>
              </a:schemeClr>
            </a:solidFill>
            <a:prstDash val="solid"/>
          </a:ln>
          <a:effectLst>
            <a:outerShdw blurRad="63500" dist="25400" dir="8100000" algn="bl" rotWithShape="0">
              <a:srgbClr val="000000">
                <a:alpha val="10000"/>
              </a:srgbClr>
            </a:outerShdw>
          </a:effectLst>
        </p:spPr>
        <p:txBody>
          <a:bodyPr/>
          <a:lstStyle/>
          <a:p>
            <a:endParaRPr lang="fr-CA"/>
          </a:p>
        </p:txBody>
      </p:sp>
      <p:sp>
        <p:nvSpPr>
          <p:cNvPr id="56" name="Text 130">
            <a:extLst>
              <a:ext uri="{FF2B5EF4-FFF2-40B4-BE49-F238E27FC236}">
                <a16:creationId xmlns:a16="http://schemas.microsoft.com/office/drawing/2014/main" id="{8C14E5D1-9DBF-58B9-6DAC-84CD01E0FC4B}"/>
              </a:ext>
            </a:extLst>
          </p:cNvPr>
          <p:cNvSpPr/>
          <p:nvPr/>
        </p:nvSpPr>
        <p:spPr>
          <a:xfrm>
            <a:off x="19828115" y="13140965"/>
            <a:ext cx="2651760" cy="1113739"/>
          </a:xfrm>
          <a:prstGeom prst="rect">
            <a:avLst/>
          </a:prstGeom>
          <a:noFill/>
          <a:ln/>
        </p:spPr>
        <p:txBody>
          <a:bodyPr wrap="square" rtlCol="0" anchor="b"/>
          <a:lstStyle/>
          <a:p>
            <a:pPr marL="0" indent="0" algn="ctr">
              <a:buNone/>
            </a:pPr>
            <a:r>
              <a:rPr lang="en-US" sz="3400" b="1" dirty="0">
                <a:solidFill>
                  <a:srgbClr val="FFFFFF"/>
                </a:solidFill>
                <a:latin typeface="Calibri" pitchFamily="34" charset="0"/>
                <a:ea typeface="Calibri" pitchFamily="34" charset="-122"/>
                <a:cs typeface="Calibri" pitchFamily="34" charset="-120"/>
              </a:rPr>
              <a:t>0.722</a:t>
            </a:r>
            <a:endParaRPr lang="en-US" sz="3400" dirty="0"/>
          </a:p>
        </p:txBody>
      </p:sp>
      <p:sp>
        <p:nvSpPr>
          <p:cNvPr id="57" name="Text 131">
            <a:extLst>
              <a:ext uri="{FF2B5EF4-FFF2-40B4-BE49-F238E27FC236}">
                <a16:creationId xmlns:a16="http://schemas.microsoft.com/office/drawing/2014/main" id="{53E806D0-F203-ACA2-0EAF-837AB5ED83BC}"/>
              </a:ext>
            </a:extLst>
          </p:cNvPr>
          <p:cNvSpPr/>
          <p:nvPr/>
        </p:nvSpPr>
        <p:spPr>
          <a:xfrm>
            <a:off x="19828115" y="14208984"/>
            <a:ext cx="2651760" cy="729691"/>
          </a:xfrm>
          <a:prstGeom prst="rect">
            <a:avLst/>
          </a:prstGeom>
          <a:noFill/>
          <a:ln/>
        </p:spPr>
        <p:txBody>
          <a:bodyPr wrap="square" rtlCol="0" anchor="t"/>
          <a:lstStyle/>
          <a:p>
            <a:pPr marL="0" indent="0" algn="ctr">
              <a:buNone/>
            </a:pPr>
            <a:r>
              <a:rPr lang="en-US" sz="2000" dirty="0">
                <a:solidFill>
                  <a:srgbClr val="FFFFFF"/>
                </a:solidFill>
                <a:latin typeface="Calibri" pitchFamily="34" charset="0"/>
                <a:ea typeface="Calibri" pitchFamily="34" charset="-122"/>
                <a:cs typeface="Calibri" pitchFamily="34" charset="-120"/>
              </a:rPr>
              <a:t>Rappel global</a:t>
            </a:r>
            <a:endParaRPr lang="en-US" sz="2000" dirty="0"/>
          </a:p>
        </p:txBody>
      </p:sp>
      <p:sp>
        <p:nvSpPr>
          <p:cNvPr id="58" name="Shape 132">
            <a:extLst>
              <a:ext uri="{FF2B5EF4-FFF2-40B4-BE49-F238E27FC236}">
                <a16:creationId xmlns:a16="http://schemas.microsoft.com/office/drawing/2014/main" id="{7DA4B1CF-0378-C0E2-4A66-0726101136B7}"/>
              </a:ext>
            </a:extLst>
          </p:cNvPr>
          <p:cNvSpPr/>
          <p:nvPr/>
        </p:nvSpPr>
        <p:spPr>
          <a:xfrm>
            <a:off x="22662755" y="13095245"/>
            <a:ext cx="2651760" cy="1920240"/>
          </a:xfrm>
          <a:prstGeom prst="rect">
            <a:avLst/>
          </a:prstGeom>
          <a:solidFill>
            <a:srgbClr val="00B0F0"/>
          </a:solidFill>
          <a:ln w="12700">
            <a:solidFill>
              <a:srgbClr val="00B0F0"/>
            </a:solidFill>
            <a:prstDash val="solid"/>
          </a:ln>
          <a:effectLst>
            <a:outerShdw blurRad="63500" dist="25400" dir="8100000" algn="bl" rotWithShape="0">
              <a:srgbClr val="000000">
                <a:alpha val="10000"/>
              </a:srgbClr>
            </a:outerShdw>
          </a:effectLst>
        </p:spPr>
        <p:txBody>
          <a:bodyPr/>
          <a:lstStyle/>
          <a:p>
            <a:endParaRPr lang="fr-CA"/>
          </a:p>
        </p:txBody>
      </p:sp>
      <p:sp>
        <p:nvSpPr>
          <p:cNvPr id="59" name="Text 133">
            <a:extLst>
              <a:ext uri="{FF2B5EF4-FFF2-40B4-BE49-F238E27FC236}">
                <a16:creationId xmlns:a16="http://schemas.microsoft.com/office/drawing/2014/main" id="{2A11A070-84B8-DF8D-7596-2F732B7B300C}"/>
              </a:ext>
            </a:extLst>
          </p:cNvPr>
          <p:cNvSpPr/>
          <p:nvPr/>
        </p:nvSpPr>
        <p:spPr>
          <a:xfrm>
            <a:off x="22662755" y="13140965"/>
            <a:ext cx="2651760" cy="1113739"/>
          </a:xfrm>
          <a:prstGeom prst="rect">
            <a:avLst/>
          </a:prstGeom>
          <a:noFill/>
          <a:ln/>
        </p:spPr>
        <p:txBody>
          <a:bodyPr wrap="square" rtlCol="0" anchor="b"/>
          <a:lstStyle/>
          <a:p>
            <a:pPr marL="0" indent="0" algn="ctr">
              <a:buNone/>
            </a:pPr>
            <a:r>
              <a:rPr lang="en-US" sz="3400" b="1" dirty="0">
                <a:solidFill>
                  <a:srgbClr val="FFFFFF"/>
                </a:solidFill>
                <a:latin typeface="Calibri" pitchFamily="34" charset="0"/>
                <a:ea typeface="Calibri" pitchFamily="34" charset="-122"/>
                <a:cs typeface="Calibri" pitchFamily="34" charset="-120"/>
              </a:rPr>
              <a:t>0.749</a:t>
            </a:r>
            <a:endParaRPr lang="en-US" sz="3400" dirty="0"/>
          </a:p>
        </p:txBody>
      </p:sp>
      <p:sp>
        <p:nvSpPr>
          <p:cNvPr id="60" name="Text 134">
            <a:extLst>
              <a:ext uri="{FF2B5EF4-FFF2-40B4-BE49-F238E27FC236}">
                <a16:creationId xmlns:a16="http://schemas.microsoft.com/office/drawing/2014/main" id="{BCE886E5-9DBA-174E-B5D0-6107FE6AEB87}"/>
              </a:ext>
            </a:extLst>
          </p:cNvPr>
          <p:cNvSpPr/>
          <p:nvPr/>
        </p:nvSpPr>
        <p:spPr>
          <a:xfrm>
            <a:off x="22662755" y="14208984"/>
            <a:ext cx="2651760" cy="729691"/>
          </a:xfrm>
          <a:prstGeom prst="rect">
            <a:avLst/>
          </a:prstGeom>
          <a:noFill/>
          <a:ln/>
        </p:spPr>
        <p:txBody>
          <a:bodyPr wrap="square" rtlCol="0" anchor="t"/>
          <a:lstStyle/>
          <a:p>
            <a:pPr marL="0" indent="0" algn="ctr">
              <a:buNone/>
            </a:pPr>
            <a:r>
              <a:rPr lang="en-US" sz="2000" dirty="0">
                <a:solidFill>
                  <a:srgbClr val="FFFFFF"/>
                </a:solidFill>
                <a:latin typeface="Calibri" pitchFamily="34" charset="0"/>
                <a:ea typeface="Calibri" pitchFamily="34" charset="-122"/>
                <a:cs typeface="Calibri" pitchFamily="34" charset="-120"/>
              </a:rPr>
              <a:t>F1 global</a:t>
            </a:r>
            <a:endParaRPr lang="en-US" sz="2000" dirty="0"/>
          </a:p>
        </p:txBody>
      </p:sp>
      <p:sp>
        <p:nvSpPr>
          <p:cNvPr id="1043" name="Shape 151">
            <a:extLst>
              <a:ext uri="{FF2B5EF4-FFF2-40B4-BE49-F238E27FC236}">
                <a16:creationId xmlns:a16="http://schemas.microsoft.com/office/drawing/2014/main" id="{E28332DC-9B1A-E16C-1C8C-63A806AF74AA}"/>
              </a:ext>
            </a:extLst>
          </p:cNvPr>
          <p:cNvSpPr/>
          <p:nvPr/>
        </p:nvSpPr>
        <p:spPr>
          <a:xfrm>
            <a:off x="23476878" y="15600256"/>
            <a:ext cx="2052213" cy="1217009"/>
          </a:xfrm>
          <a:prstGeom prst="rect">
            <a:avLst/>
          </a:prstGeom>
          <a:solidFill>
            <a:srgbClr val="1A2B5E"/>
          </a:solidFill>
          <a:ln w="12700">
            <a:solidFill>
              <a:srgbClr val="1A2B5E"/>
            </a:solidFill>
            <a:prstDash val="solid"/>
          </a:ln>
          <a:effectLst>
            <a:outerShdw blurRad="63500" dist="25400" dir="8100000" algn="bl" rotWithShape="0">
              <a:srgbClr val="000000">
                <a:alpha val="10000"/>
              </a:srgbClr>
            </a:outerShdw>
          </a:effectLst>
        </p:spPr>
        <p:txBody>
          <a:bodyPr/>
          <a:lstStyle/>
          <a:p>
            <a:endParaRPr lang="fr-CA"/>
          </a:p>
        </p:txBody>
      </p:sp>
      <p:sp>
        <p:nvSpPr>
          <p:cNvPr id="1044" name="Text 152">
            <a:extLst>
              <a:ext uri="{FF2B5EF4-FFF2-40B4-BE49-F238E27FC236}">
                <a16:creationId xmlns:a16="http://schemas.microsoft.com/office/drawing/2014/main" id="{58EBC20E-99D8-6428-0ED3-1646AF19573C}"/>
              </a:ext>
            </a:extLst>
          </p:cNvPr>
          <p:cNvSpPr/>
          <p:nvPr/>
        </p:nvSpPr>
        <p:spPr>
          <a:xfrm>
            <a:off x="23476878" y="15645976"/>
            <a:ext cx="2052213" cy="705865"/>
          </a:xfrm>
          <a:prstGeom prst="rect">
            <a:avLst/>
          </a:prstGeom>
          <a:noFill/>
          <a:ln/>
        </p:spPr>
        <p:txBody>
          <a:bodyPr wrap="square" rtlCol="0" anchor="b"/>
          <a:lstStyle/>
          <a:p>
            <a:pPr marL="0" indent="0" algn="ctr">
              <a:buNone/>
            </a:pPr>
            <a:r>
              <a:rPr lang="en-US" sz="3400" b="1" dirty="0">
                <a:solidFill>
                  <a:srgbClr val="FFFFFF"/>
                </a:solidFill>
                <a:latin typeface="Calibri" pitchFamily="34" charset="0"/>
                <a:ea typeface="Calibri" pitchFamily="34" charset="-122"/>
                <a:cs typeface="Calibri" pitchFamily="34" charset="-120"/>
              </a:rPr>
              <a:t>82.8%</a:t>
            </a:r>
            <a:endParaRPr lang="en-US" sz="3400" dirty="0"/>
          </a:p>
        </p:txBody>
      </p:sp>
      <p:sp>
        <p:nvSpPr>
          <p:cNvPr id="1045" name="Text 153">
            <a:extLst>
              <a:ext uri="{FF2B5EF4-FFF2-40B4-BE49-F238E27FC236}">
                <a16:creationId xmlns:a16="http://schemas.microsoft.com/office/drawing/2014/main" id="{91CC18DD-E288-8B76-37A1-91B976E256F4}"/>
              </a:ext>
            </a:extLst>
          </p:cNvPr>
          <p:cNvSpPr/>
          <p:nvPr/>
        </p:nvSpPr>
        <p:spPr>
          <a:xfrm>
            <a:off x="23476878" y="16340876"/>
            <a:ext cx="2052213" cy="462463"/>
          </a:xfrm>
          <a:prstGeom prst="rect">
            <a:avLst/>
          </a:prstGeom>
          <a:noFill/>
          <a:ln/>
        </p:spPr>
        <p:txBody>
          <a:bodyPr wrap="square" rtlCol="0" anchor="t"/>
          <a:lstStyle/>
          <a:p>
            <a:pPr marL="0" indent="0" algn="ctr">
              <a:buNone/>
            </a:pPr>
            <a:r>
              <a:rPr lang="en-US" sz="2000" dirty="0">
                <a:solidFill>
                  <a:srgbClr val="FFFFFF"/>
                </a:solidFill>
                <a:latin typeface="Calibri" pitchFamily="34" charset="0"/>
                <a:ea typeface="Calibri" pitchFamily="34" charset="-122"/>
                <a:cs typeface="Calibri" pitchFamily="34" charset="-120"/>
              </a:rPr>
              <a:t>Accuracy test</a:t>
            </a:r>
            <a:endParaRPr lang="en-US" sz="2000" dirty="0"/>
          </a:p>
        </p:txBody>
      </p:sp>
      <p:sp>
        <p:nvSpPr>
          <p:cNvPr id="1046" name="Shape 154">
            <a:extLst>
              <a:ext uri="{FF2B5EF4-FFF2-40B4-BE49-F238E27FC236}">
                <a16:creationId xmlns:a16="http://schemas.microsoft.com/office/drawing/2014/main" id="{C26D12F9-1FE9-CA0F-2823-2AC7A5F0753E}"/>
              </a:ext>
            </a:extLst>
          </p:cNvPr>
          <p:cNvSpPr/>
          <p:nvPr/>
        </p:nvSpPr>
        <p:spPr>
          <a:xfrm>
            <a:off x="23476878" y="16842874"/>
            <a:ext cx="2052213" cy="1217009"/>
          </a:xfrm>
          <a:prstGeom prst="rect">
            <a:avLst/>
          </a:prstGeom>
          <a:solidFill>
            <a:srgbClr val="00B0F0"/>
          </a:solidFill>
          <a:ln w="12700">
            <a:solidFill>
              <a:srgbClr val="00B0F0"/>
            </a:solidFill>
            <a:prstDash val="solid"/>
          </a:ln>
          <a:effectLst>
            <a:outerShdw blurRad="63500" dist="25400" dir="8100000" algn="bl" rotWithShape="0">
              <a:srgbClr val="000000">
                <a:alpha val="10000"/>
              </a:srgbClr>
            </a:outerShdw>
          </a:effectLst>
        </p:spPr>
        <p:txBody>
          <a:bodyPr/>
          <a:lstStyle/>
          <a:p>
            <a:endParaRPr lang="fr-CA"/>
          </a:p>
        </p:txBody>
      </p:sp>
      <p:sp>
        <p:nvSpPr>
          <p:cNvPr id="1047" name="Text 155">
            <a:extLst>
              <a:ext uri="{FF2B5EF4-FFF2-40B4-BE49-F238E27FC236}">
                <a16:creationId xmlns:a16="http://schemas.microsoft.com/office/drawing/2014/main" id="{2466F6BD-D51D-90C1-D9A1-00C0E07E55C6}"/>
              </a:ext>
            </a:extLst>
          </p:cNvPr>
          <p:cNvSpPr/>
          <p:nvPr/>
        </p:nvSpPr>
        <p:spPr>
          <a:xfrm>
            <a:off x="23476878" y="16888594"/>
            <a:ext cx="2052213" cy="705865"/>
          </a:xfrm>
          <a:prstGeom prst="rect">
            <a:avLst/>
          </a:prstGeom>
          <a:noFill/>
          <a:ln/>
        </p:spPr>
        <p:txBody>
          <a:bodyPr wrap="square" rtlCol="0" anchor="b"/>
          <a:lstStyle/>
          <a:p>
            <a:pPr marL="0" indent="0" algn="ctr">
              <a:buNone/>
            </a:pPr>
            <a:r>
              <a:rPr lang="en-US" sz="3400" b="1" dirty="0">
                <a:solidFill>
                  <a:srgbClr val="FFFFFF"/>
                </a:solidFill>
                <a:latin typeface="Calibri" pitchFamily="34" charset="0"/>
                <a:ea typeface="Calibri" pitchFamily="34" charset="-122"/>
                <a:cs typeface="Calibri" pitchFamily="34" charset="-120"/>
              </a:rPr>
              <a:t>0.820</a:t>
            </a:r>
            <a:endParaRPr lang="en-US" sz="3400" dirty="0"/>
          </a:p>
        </p:txBody>
      </p:sp>
      <p:sp>
        <p:nvSpPr>
          <p:cNvPr id="1048" name="Text 156">
            <a:extLst>
              <a:ext uri="{FF2B5EF4-FFF2-40B4-BE49-F238E27FC236}">
                <a16:creationId xmlns:a16="http://schemas.microsoft.com/office/drawing/2014/main" id="{1AD04467-7B86-23A8-AE2A-9984E8F42F44}"/>
              </a:ext>
            </a:extLst>
          </p:cNvPr>
          <p:cNvSpPr/>
          <p:nvPr/>
        </p:nvSpPr>
        <p:spPr>
          <a:xfrm>
            <a:off x="23476878" y="17581880"/>
            <a:ext cx="2052213" cy="462463"/>
          </a:xfrm>
          <a:prstGeom prst="rect">
            <a:avLst/>
          </a:prstGeom>
          <a:noFill/>
          <a:ln/>
        </p:spPr>
        <p:txBody>
          <a:bodyPr wrap="square" rtlCol="0" anchor="t"/>
          <a:lstStyle/>
          <a:p>
            <a:pPr algn="ctr"/>
            <a:r>
              <a:rPr lang="en-US" sz="2000" dirty="0">
                <a:solidFill>
                  <a:srgbClr val="FFFFFF"/>
                </a:solidFill>
                <a:latin typeface="Calibri" pitchFamily="34" charset="0"/>
                <a:ea typeface="Calibri" pitchFamily="34" charset="-122"/>
                <a:cs typeface="Calibri" pitchFamily="34" charset="-120"/>
              </a:rPr>
              <a:t>F1 global</a:t>
            </a:r>
            <a:endParaRPr lang="en-US" sz="2000" dirty="0"/>
          </a:p>
        </p:txBody>
      </p:sp>
      <p:sp>
        <p:nvSpPr>
          <p:cNvPr id="1056" name="Shape 165">
            <a:extLst>
              <a:ext uri="{FF2B5EF4-FFF2-40B4-BE49-F238E27FC236}">
                <a16:creationId xmlns:a16="http://schemas.microsoft.com/office/drawing/2014/main" id="{840C4037-97DD-2E07-64B0-1A41DA78CDB4}"/>
              </a:ext>
            </a:extLst>
          </p:cNvPr>
          <p:cNvSpPr/>
          <p:nvPr/>
        </p:nvSpPr>
        <p:spPr>
          <a:xfrm>
            <a:off x="23053243" y="19835558"/>
            <a:ext cx="1189506" cy="842213"/>
          </a:xfrm>
          <a:prstGeom prst="rect">
            <a:avLst/>
          </a:prstGeom>
          <a:solidFill>
            <a:srgbClr val="1A2B5E"/>
          </a:solidFill>
          <a:ln w="12700">
            <a:solidFill>
              <a:srgbClr val="1A2B5E"/>
            </a:solidFill>
            <a:prstDash val="solid"/>
          </a:ln>
          <a:effectLst>
            <a:outerShdw blurRad="63500" dist="25400" dir="8100000" algn="bl" rotWithShape="0">
              <a:srgbClr val="000000">
                <a:alpha val="10000"/>
              </a:srgbClr>
            </a:outerShdw>
          </a:effectLst>
        </p:spPr>
        <p:txBody>
          <a:bodyPr/>
          <a:lstStyle/>
          <a:p>
            <a:endParaRPr lang="fr-CA"/>
          </a:p>
        </p:txBody>
      </p:sp>
      <p:sp>
        <p:nvSpPr>
          <p:cNvPr id="1057" name="Text 166">
            <a:extLst>
              <a:ext uri="{FF2B5EF4-FFF2-40B4-BE49-F238E27FC236}">
                <a16:creationId xmlns:a16="http://schemas.microsoft.com/office/drawing/2014/main" id="{8E261F8E-2405-BADA-163B-C32A0930A286}"/>
              </a:ext>
            </a:extLst>
          </p:cNvPr>
          <p:cNvSpPr/>
          <p:nvPr/>
        </p:nvSpPr>
        <p:spPr>
          <a:xfrm>
            <a:off x="23053243" y="19881279"/>
            <a:ext cx="1189506" cy="488484"/>
          </a:xfrm>
          <a:prstGeom prst="rect">
            <a:avLst/>
          </a:prstGeom>
          <a:noFill/>
          <a:ln/>
        </p:spPr>
        <p:txBody>
          <a:bodyPr wrap="square" rtlCol="0" anchor="b"/>
          <a:lstStyle/>
          <a:p>
            <a:pPr marL="0" indent="0" algn="ctr">
              <a:buNone/>
            </a:pPr>
            <a:r>
              <a:rPr lang="en-US" sz="3400" b="1" dirty="0">
                <a:solidFill>
                  <a:srgbClr val="FFFFFF"/>
                </a:solidFill>
                <a:latin typeface="Calibri" pitchFamily="34" charset="0"/>
                <a:ea typeface="Calibri" pitchFamily="34" charset="-122"/>
                <a:cs typeface="Calibri" pitchFamily="34" charset="-120"/>
              </a:rPr>
              <a:t>0.994</a:t>
            </a:r>
            <a:endParaRPr lang="en-US" sz="3400" dirty="0"/>
          </a:p>
        </p:txBody>
      </p:sp>
      <p:sp>
        <p:nvSpPr>
          <p:cNvPr id="1058" name="Text 167">
            <a:extLst>
              <a:ext uri="{FF2B5EF4-FFF2-40B4-BE49-F238E27FC236}">
                <a16:creationId xmlns:a16="http://schemas.microsoft.com/office/drawing/2014/main" id="{7C6C5745-F247-DCD0-9E3D-73D413835B9E}"/>
              </a:ext>
            </a:extLst>
          </p:cNvPr>
          <p:cNvSpPr/>
          <p:nvPr/>
        </p:nvSpPr>
        <p:spPr>
          <a:xfrm>
            <a:off x="23053243" y="20245478"/>
            <a:ext cx="1189506" cy="320041"/>
          </a:xfrm>
          <a:prstGeom prst="rect">
            <a:avLst/>
          </a:prstGeom>
          <a:noFill/>
          <a:ln/>
        </p:spPr>
        <p:txBody>
          <a:bodyPr wrap="square" rtlCol="0" anchor="t"/>
          <a:lstStyle/>
          <a:p>
            <a:pPr marL="0" indent="0" algn="ctr">
              <a:buNone/>
            </a:pPr>
            <a:r>
              <a:rPr lang="en-US" sz="1400" dirty="0">
                <a:solidFill>
                  <a:srgbClr val="FFFFFF"/>
                </a:solidFill>
                <a:latin typeface="Calibri" pitchFamily="34" charset="0"/>
                <a:ea typeface="Calibri" pitchFamily="34" charset="-122"/>
                <a:cs typeface="Calibri" pitchFamily="34" charset="-120"/>
              </a:rPr>
              <a:t>Sain</a:t>
            </a:r>
            <a:endParaRPr lang="en-US" sz="1400" dirty="0"/>
          </a:p>
        </p:txBody>
      </p:sp>
      <p:sp>
        <p:nvSpPr>
          <p:cNvPr id="1059" name="Shape 168">
            <a:extLst>
              <a:ext uri="{FF2B5EF4-FFF2-40B4-BE49-F238E27FC236}">
                <a16:creationId xmlns:a16="http://schemas.microsoft.com/office/drawing/2014/main" id="{9C4B360E-0191-987A-7CBB-375A7EFCD765}"/>
              </a:ext>
            </a:extLst>
          </p:cNvPr>
          <p:cNvSpPr/>
          <p:nvPr/>
        </p:nvSpPr>
        <p:spPr>
          <a:xfrm>
            <a:off x="24253979" y="19835558"/>
            <a:ext cx="1189506" cy="842213"/>
          </a:xfrm>
          <a:prstGeom prst="rect">
            <a:avLst/>
          </a:prstGeom>
          <a:solidFill>
            <a:schemeClr val="accent1">
              <a:lumMod val="75000"/>
            </a:schemeClr>
          </a:solidFill>
          <a:ln w="12700">
            <a:solidFill>
              <a:schemeClr val="accent1">
                <a:lumMod val="75000"/>
              </a:schemeClr>
            </a:solidFill>
            <a:prstDash val="solid"/>
          </a:ln>
          <a:effectLst>
            <a:outerShdw blurRad="63500" dist="25400" dir="8100000" algn="bl" rotWithShape="0">
              <a:srgbClr val="000000">
                <a:alpha val="10000"/>
              </a:srgbClr>
            </a:outerShdw>
          </a:effectLst>
        </p:spPr>
        <p:txBody>
          <a:bodyPr/>
          <a:lstStyle/>
          <a:p>
            <a:endParaRPr lang="fr-CA"/>
          </a:p>
        </p:txBody>
      </p:sp>
      <p:sp>
        <p:nvSpPr>
          <p:cNvPr id="1060" name="Text 169">
            <a:extLst>
              <a:ext uri="{FF2B5EF4-FFF2-40B4-BE49-F238E27FC236}">
                <a16:creationId xmlns:a16="http://schemas.microsoft.com/office/drawing/2014/main" id="{8E905D5E-4064-BB91-3566-2C53CA18C1AC}"/>
              </a:ext>
            </a:extLst>
          </p:cNvPr>
          <p:cNvSpPr/>
          <p:nvPr/>
        </p:nvSpPr>
        <p:spPr>
          <a:xfrm>
            <a:off x="24253979" y="19881279"/>
            <a:ext cx="1189506" cy="488484"/>
          </a:xfrm>
          <a:prstGeom prst="rect">
            <a:avLst/>
          </a:prstGeom>
          <a:noFill/>
          <a:ln/>
        </p:spPr>
        <p:txBody>
          <a:bodyPr wrap="square" rtlCol="0" anchor="b"/>
          <a:lstStyle/>
          <a:p>
            <a:pPr marL="0" indent="0" algn="ctr">
              <a:buNone/>
            </a:pPr>
            <a:r>
              <a:rPr lang="en-US" sz="3400" b="1" dirty="0">
                <a:solidFill>
                  <a:srgbClr val="FFFFFF"/>
                </a:solidFill>
                <a:latin typeface="Calibri" pitchFamily="34" charset="0"/>
                <a:ea typeface="Calibri" pitchFamily="34" charset="-122"/>
                <a:cs typeface="Calibri" pitchFamily="34" charset="-120"/>
              </a:rPr>
              <a:t>0.814</a:t>
            </a:r>
            <a:endParaRPr lang="en-US" sz="3400" dirty="0"/>
          </a:p>
        </p:txBody>
      </p:sp>
      <p:sp>
        <p:nvSpPr>
          <p:cNvPr id="1061" name="Text 170">
            <a:extLst>
              <a:ext uri="{FF2B5EF4-FFF2-40B4-BE49-F238E27FC236}">
                <a16:creationId xmlns:a16="http://schemas.microsoft.com/office/drawing/2014/main" id="{6AC569E9-4FF5-E759-4912-42444CFBEA2D}"/>
              </a:ext>
            </a:extLst>
          </p:cNvPr>
          <p:cNvSpPr/>
          <p:nvPr/>
        </p:nvSpPr>
        <p:spPr>
          <a:xfrm>
            <a:off x="24253979" y="20245478"/>
            <a:ext cx="1189506" cy="320041"/>
          </a:xfrm>
          <a:prstGeom prst="rect">
            <a:avLst/>
          </a:prstGeom>
          <a:noFill/>
          <a:ln/>
        </p:spPr>
        <p:txBody>
          <a:bodyPr wrap="square" rtlCol="0" anchor="t"/>
          <a:lstStyle/>
          <a:p>
            <a:pPr marL="0" indent="0" algn="ctr">
              <a:buNone/>
            </a:pPr>
            <a:r>
              <a:rPr lang="en-US" sz="1400" dirty="0">
                <a:solidFill>
                  <a:srgbClr val="FFFFFF"/>
                </a:solidFill>
                <a:latin typeface="Calibri" pitchFamily="34" charset="0"/>
                <a:ea typeface="Calibri" pitchFamily="34" charset="-122"/>
                <a:cs typeface="Calibri" pitchFamily="34" charset="-120"/>
              </a:rPr>
              <a:t>Sévère</a:t>
            </a:r>
            <a:endParaRPr lang="en-US" sz="1400" dirty="0"/>
          </a:p>
        </p:txBody>
      </p:sp>
      <p:sp>
        <p:nvSpPr>
          <p:cNvPr id="1062" name="Shape 171">
            <a:extLst>
              <a:ext uri="{FF2B5EF4-FFF2-40B4-BE49-F238E27FC236}">
                <a16:creationId xmlns:a16="http://schemas.microsoft.com/office/drawing/2014/main" id="{640609E0-8B9D-9C0B-44AD-296CB98438B1}"/>
              </a:ext>
            </a:extLst>
          </p:cNvPr>
          <p:cNvSpPr/>
          <p:nvPr/>
        </p:nvSpPr>
        <p:spPr>
          <a:xfrm>
            <a:off x="23053243" y="20672458"/>
            <a:ext cx="1189506" cy="842213"/>
          </a:xfrm>
          <a:prstGeom prst="rect">
            <a:avLst/>
          </a:prstGeom>
          <a:solidFill>
            <a:schemeClr val="accent5">
              <a:lumMod val="75000"/>
            </a:schemeClr>
          </a:solidFill>
          <a:ln w="12700">
            <a:solidFill>
              <a:schemeClr val="accent5">
                <a:lumMod val="75000"/>
              </a:schemeClr>
            </a:solidFill>
            <a:prstDash val="solid"/>
          </a:ln>
          <a:effectLst>
            <a:outerShdw blurRad="63500" dist="25400" dir="8100000" algn="bl" rotWithShape="0">
              <a:srgbClr val="000000">
                <a:alpha val="10000"/>
              </a:srgbClr>
            </a:outerShdw>
          </a:effectLst>
        </p:spPr>
        <p:txBody>
          <a:bodyPr/>
          <a:lstStyle/>
          <a:p>
            <a:endParaRPr lang="fr-CA"/>
          </a:p>
        </p:txBody>
      </p:sp>
      <p:sp>
        <p:nvSpPr>
          <p:cNvPr id="1063" name="Text 172">
            <a:extLst>
              <a:ext uri="{FF2B5EF4-FFF2-40B4-BE49-F238E27FC236}">
                <a16:creationId xmlns:a16="http://schemas.microsoft.com/office/drawing/2014/main" id="{E8B94263-3B7C-9B8B-CCBA-62D6819E2F96}"/>
              </a:ext>
            </a:extLst>
          </p:cNvPr>
          <p:cNvSpPr/>
          <p:nvPr/>
        </p:nvSpPr>
        <p:spPr>
          <a:xfrm>
            <a:off x="23053243" y="20718179"/>
            <a:ext cx="1189506" cy="488484"/>
          </a:xfrm>
          <a:prstGeom prst="rect">
            <a:avLst/>
          </a:prstGeom>
          <a:noFill/>
          <a:ln/>
        </p:spPr>
        <p:txBody>
          <a:bodyPr wrap="square" rtlCol="0" anchor="b"/>
          <a:lstStyle/>
          <a:p>
            <a:pPr marL="0" indent="0" algn="ctr">
              <a:buNone/>
            </a:pPr>
            <a:r>
              <a:rPr lang="en-US" sz="3400" b="1" dirty="0">
                <a:solidFill>
                  <a:srgbClr val="FFFFFF"/>
                </a:solidFill>
                <a:latin typeface="Calibri" pitchFamily="34" charset="0"/>
                <a:ea typeface="Calibri" pitchFamily="34" charset="-122"/>
                <a:cs typeface="Calibri" pitchFamily="34" charset="-120"/>
              </a:rPr>
              <a:t>0.791</a:t>
            </a:r>
            <a:endParaRPr lang="en-US" sz="3400" dirty="0"/>
          </a:p>
        </p:txBody>
      </p:sp>
      <p:sp>
        <p:nvSpPr>
          <p:cNvPr id="1064" name="Text 173">
            <a:extLst>
              <a:ext uri="{FF2B5EF4-FFF2-40B4-BE49-F238E27FC236}">
                <a16:creationId xmlns:a16="http://schemas.microsoft.com/office/drawing/2014/main" id="{32799F80-903B-971C-57EC-D5BE2942B7FA}"/>
              </a:ext>
            </a:extLst>
          </p:cNvPr>
          <p:cNvSpPr/>
          <p:nvPr/>
        </p:nvSpPr>
        <p:spPr>
          <a:xfrm>
            <a:off x="23053243" y="21082378"/>
            <a:ext cx="1189506" cy="320041"/>
          </a:xfrm>
          <a:prstGeom prst="rect">
            <a:avLst/>
          </a:prstGeom>
          <a:noFill/>
          <a:ln/>
        </p:spPr>
        <p:txBody>
          <a:bodyPr wrap="square" rtlCol="0" anchor="t"/>
          <a:lstStyle/>
          <a:p>
            <a:pPr marL="0" indent="0" algn="ctr">
              <a:buNone/>
            </a:pPr>
            <a:r>
              <a:rPr lang="en-US" sz="1400" dirty="0">
                <a:solidFill>
                  <a:srgbClr val="FFFFFF"/>
                </a:solidFill>
                <a:latin typeface="Calibri" pitchFamily="34" charset="0"/>
                <a:ea typeface="Calibri" pitchFamily="34" charset="-122"/>
                <a:cs typeface="Calibri" pitchFamily="34" charset="-120"/>
              </a:rPr>
              <a:t>Léger</a:t>
            </a:r>
            <a:endParaRPr lang="en-US" sz="1400" dirty="0"/>
          </a:p>
        </p:txBody>
      </p:sp>
      <p:sp>
        <p:nvSpPr>
          <p:cNvPr id="1065" name="Shape 174">
            <a:extLst>
              <a:ext uri="{FF2B5EF4-FFF2-40B4-BE49-F238E27FC236}">
                <a16:creationId xmlns:a16="http://schemas.microsoft.com/office/drawing/2014/main" id="{1C86CADB-C354-1B64-2A9F-56A80243EF50}"/>
              </a:ext>
            </a:extLst>
          </p:cNvPr>
          <p:cNvSpPr/>
          <p:nvPr/>
        </p:nvSpPr>
        <p:spPr>
          <a:xfrm>
            <a:off x="24253979" y="20683188"/>
            <a:ext cx="1189506" cy="831483"/>
          </a:xfrm>
          <a:prstGeom prst="rect">
            <a:avLst/>
          </a:prstGeom>
          <a:solidFill>
            <a:srgbClr val="00B0F0"/>
          </a:solidFill>
          <a:ln w="12700">
            <a:solidFill>
              <a:srgbClr val="00B0F0"/>
            </a:solidFill>
            <a:prstDash val="solid"/>
          </a:ln>
          <a:effectLst>
            <a:outerShdw blurRad="63500" dist="25400" dir="8100000" algn="bl" rotWithShape="0">
              <a:srgbClr val="000000">
                <a:alpha val="10000"/>
              </a:srgbClr>
            </a:outerShdw>
          </a:effectLst>
        </p:spPr>
        <p:txBody>
          <a:bodyPr/>
          <a:lstStyle/>
          <a:p>
            <a:endParaRPr lang="fr-CA"/>
          </a:p>
        </p:txBody>
      </p:sp>
      <p:sp>
        <p:nvSpPr>
          <p:cNvPr id="1066" name="Text 175">
            <a:extLst>
              <a:ext uri="{FF2B5EF4-FFF2-40B4-BE49-F238E27FC236}">
                <a16:creationId xmlns:a16="http://schemas.microsoft.com/office/drawing/2014/main" id="{ABABB84B-32D8-BC1B-1ED9-A0B549CE7C0F}"/>
              </a:ext>
            </a:extLst>
          </p:cNvPr>
          <p:cNvSpPr/>
          <p:nvPr/>
        </p:nvSpPr>
        <p:spPr>
          <a:xfrm>
            <a:off x="24253979" y="20728909"/>
            <a:ext cx="1189506" cy="488484"/>
          </a:xfrm>
          <a:prstGeom prst="rect">
            <a:avLst/>
          </a:prstGeom>
          <a:noFill/>
          <a:ln/>
        </p:spPr>
        <p:txBody>
          <a:bodyPr wrap="square" rtlCol="0" anchor="b"/>
          <a:lstStyle/>
          <a:p>
            <a:pPr marL="0" indent="0" algn="ctr">
              <a:buNone/>
            </a:pPr>
            <a:r>
              <a:rPr lang="en-US" sz="3400" b="1" dirty="0">
                <a:solidFill>
                  <a:srgbClr val="FFFFFF"/>
                </a:solidFill>
                <a:latin typeface="Calibri" pitchFamily="34" charset="0"/>
                <a:ea typeface="Calibri" pitchFamily="34" charset="-122"/>
                <a:cs typeface="Calibri" pitchFamily="34" charset="-120"/>
              </a:rPr>
              <a:t>0.623</a:t>
            </a:r>
            <a:endParaRPr lang="en-US" sz="3400" dirty="0"/>
          </a:p>
        </p:txBody>
      </p:sp>
      <p:sp>
        <p:nvSpPr>
          <p:cNvPr id="1067" name="Text 176">
            <a:extLst>
              <a:ext uri="{FF2B5EF4-FFF2-40B4-BE49-F238E27FC236}">
                <a16:creationId xmlns:a16="http://schemas.microsoft.com/office/drawing/2014/main" id="{5CAE114E-D45B-7967-53A3-FCDC9B06C5BB}"/>
              </a:ext>
            </a:extLst>
          </p:cNvPr>
          <p:cNvSpPr/>
          <p:nvPr/>
        </p:nvSpPr>
        <p:spPr>
          <a:xfrm>
            <a:off x="24253979" y="21093108"/>
            <a:ext cx="1189506" cy="320041"/>
          </a:xfrm>
          <a:prstGeom prst="rect">
            <a:avLst/>
          </a:prstGeom>
          <a:noFill/>
          <a:ln/>
        </p:spPr>
        <p:txBody>
          <a:bodyPr wrap="square" rtlCol="0" anchor="t"/>
          <a:lstStyle/>
          <a:p>
            <a:pPr marL="0" indent="0" algn="ctr">
              <a:buNone/>
            </a:pPr>
            <a:r>
              <a:rPr lang="en-US" sz="1400" dirty="0">
                <a:solidFill>
                  <a:srgbClr val="FFFFFF"/>
                </a:solidFill>
                <a:latin typeface="Calibri" pitchFamily="34" charset="0"/>
                <a:ea typeface="Calibri" pitchFamily="34" charset="-122"/>
                <a:cs typeface="Calibri" pitchFamily="34" charset="-120"/>
              </a:rPr>
              <a:t>Modéré</a:t>
            </a:r>
            <a:endParaRPr lang="en-US" sz="1400" dirty="0"/>
          </a:p>
        </p:txBody>
      </p:sp>
      <p:sp>
        <p:nvSpPr>
          <p:cNvPr id="1068" name="ZoneTexte 1067">
            <a:extLst>
              <a:ext uri="{FF2B5EF4-FFF2-40B4-BE49-F238E27FC236}">
                <a16:creationId xmlns:a16="http://schemas.microsoft.com/office/drawing/2014/main" id="{0AF42CA8-B396-3F76-A881-34E96D7E1380}"/>
              </a:ext>
            </a:extLst>
          </p:cNvPr>
          <p:cNvSpPr txBox="1"/>
          <p:nvPr/>
        </p:nvSpPr>
        <p:spPr>
          <a:xfrm>
            <a:off x="21656594" y="19881279"/>
            <a:ext cx="1202757" cy="369332"/>
          </a:xfrm>
          <a:prstGeom prst="rect">
            <a:avLst/>
          </a:prstGeom>
          <a:noFill/>
        </p:spPr>
        <p:txBody>
          <a:bodyPr wrap="square" rtlCol="0">
            <a:spAutoFit/>
          </a:bodyPr>
          <a:lstStyle/>
          <a:p>
            <a:r>
              <a:rPr lang="en-CA" dirty="0"/>
              <a:t>mAP@0.5</a:t>
            </a:r>
            <a:endParaRPr lang="fr-CA" dirty="0"/>
          </a:p>
        </p:txBody>
      </p:sp>
      <p:sp>
        <p:nvSpPr>
          <p:cNvPr id="1081" name="Text 87">
            <a:extLst>
              <a:ext uri="{FF2B5EF4-FFF2-40B4-BE49-F238E27FC236}">
                <a16:creationId xmlns:a16="http://schemas.microsoft.com/office/drawing/2014/main" id="{5A83D88B-F88D-2C2F-62AE-AEBECD6EF634}"/>
              </a:ext>
            </a:extLst>
          </p:cNvPr>
          <p:cNvSpPr/>
          <p:nvPr/>
        </p:nvSpPr>
        <p:spPr>
          <a:xfrm>
            <a:off x="22753617" y="19884851"/>
            <a:ext cx="201168" cy="365760"/>
          </a:xfrm>
          <a:prstGeom prst="rect">
            <a:avLst/>
          </a:prstGeom>
          <a:noFill/>
          <a:ln/>
        </p:spPr>
        <p:txBody>
          <a:bodyPr wrap="square" rtlCol="0" anchor="ctr"/>
          <a:lstStyle/>
          <a:p>
            <a:pPr marL="0" indent="0" algn="ctr">
              <a:buNone/>
            </a:pPr>
            <a:r>
              <a:rPr lang="en-US" sz="2200" dirty="0">
                <a:solidFill>
                  <a:srgbClr val="566573"/>
                </a:solidFill>
              </a:rPr>
              <a:t>▶</a:t>
            </a:r>
            <a:endParaRPr lang="en-US" sz="2200" dirty="0"/>
          </a:p>
        </p:txBody>
      </p:sp>
      <p:sp>
        <p:nvSpPr>
          <p:cNvPr id="1085" name="ZoneTexte 1084">
            <a:extLst>
              <a:ext uri="{FF2B5EF4-FFF2-40B4-BE49-F238E27FC236}">
                <a16:creationId xmlns:a16="http://schemas.microsoft.com/office/drawing/2014/main" id="{5AE01ABD-18C2-1D70-DE69-6E73C6BA640A}"/>
              </a:ext>
            </a:extLst>
          </p:cNvPr>
          <p:cNvSpPr txBox="1"/>
          <p:nvPr/>
        </p:nvSpPr>
        <p:spPr>
          <a:xfrm>
            <a:off x="13957666" y="17801494"/>
            <a:ext cx="9367307" cy="461665"/>
          </a:xfrm>
          <a:prstGeom prst="rect">
            <a:avLst/>
          </a:prstGeom>
          <a:noFill/>
        </p:spPr>
        <p:txBody>
          <a:bodyPr wrap="square">
            <a:spAutoFit/>
          </a:bodyPr>
          <a:lstStyle/>
          <a:p>
            <a:pPr marL="0" indent="0">
              <a:buNone/>
            </a:pPr>
            <a:r>
              <a:rPr lang="en-US" sz="2400" b="1" dirty="0">
                <a:solidFill>
                  <a:srgbClr val="27AE60"/>
                </a:solidFill>
                <a:latin typeface="Calibri" pitchFamily="34" charset="0"/>
                <a:ea typeface="Calibri" pitchFamily="34" charset="-122"/>
                <a:cs typeface="Calibri" pitchFamily="34" charset="-120"/>
              </a:rPr>
              <a:t>Vote </a:t>
            </a:r>
            <a:r>
              <a:rPr lang="en-US" sz="2400" b="1" dirty="0" err="1">
                <a:solidFill>
                  <a:srgbClr val="27AE60"/>
                </a:solidFill>
                <a:latin typeface="Calibri" pitchFamily="34" charset="0"/>
                <a:ea typeface="Calibri" pitchFamily="34" charset="-122"/>
                <a:cs typeface="Calibri" pitchFamily="34" charset="-120"/>
              </a:rPr>
              <a:t>pondéré</a:t>
            </a:r>
            <a:endParaRPr lang="en-US" sz="2400" dirty="0"/>
          </a:p>
        </p:txBody>
      </p:sp>
      <p:sp>
        <p:nvSpPr>
          <p:cNvPr id="1097" name="Shape 108">
            <a:extLst>
              <a:ext uri="{FF2B5EF4-FFF2-40B4-BE49-F238E27FC236}">
                <a16:creationId xmlns:a16="http://schemas.microsoft.com/office/drawing/2014/main" id="{AB5C4DE5-C1C1-3F69-AF92-0790C894F30A}"/>
              </a:ext>
            </a:extLst>
          </p:cNvPr>
          <p:cNvSpPr/>
          <p:nvPr/>
        </p:nvSpPr>
        <p:spPr>
          <a:xfrm>
            <a:off x="13966811" y="18263159"/>
            <a:ext cx="11612880" cy="1157445"/>
          </a:xfrm>
          <a:prstGeom prst="rect">
            <a:avLst/>
          </a:prstGeom>
          <a:solidFill>
            <a:srgbClr val="F4F7FC"/>
          </a:solidFill>
          <a:ln w="12700">
            <a:solidFill>
              <a:srgbClr val="C5D3E8"/>
            </a:solidFill>
            <a:prstDash val="solid"/>
          </a:ln>
        </p:spPr>
        <p:txBody>
          <a:bodyPr/>
          <a:lstStyle/>
          <a:p>
            <a:endParaRPr lang="fr-CA"/>
          </a:p>
        </p:txBody>
      </p:sp>
      <p:sp>
        <p:nvSpPr>
          <p:cNvPr id="1099" name="Shape 109">
            <a:extLst>
              <a:ext uri="{FF2B5EF4-FFF2-40B4-BE49-F238E27FC236}">
                <a16:creationId xmlns:a16="http://schemas.microsoft.com/office/drawing/2014/main" id="{A8D654BE-6123-77D5-0433-177837A8338F}"/>
              </a:ext>
            </a:extLst>
          </p:cNvPr>
          <p:cNvSpPr/>
          <p:nvPr/>
        </p:nvSpPr>
        <p:spPr>
          <a:xfrm>
            <a:off x="13966811" y="18263159"/>
            <a:ext cx="201168" cy="1157445"/>
          </a:xfrm>
          <a:prstGeom prst="rect">
            <a:avLst/>
          </a:prstGeom>
          <a:solidFill>
            <a:srgbClr val="27AE60"/>
          </a:solidFill>
          <a:ln w="12700">
            <a:solidFill>
              <a:srgbClr val="27AE60"/>
            </a:solidFill>
            <a:prstDash val="solid"/>
          </a:ln>
        </p:spPr>
        <p:txBody>
          <a:bodyPr/>
          <a:lstStyle/>
          <a:p>
            <a:endParaRPr lang="fr-CA"/>
          </a:p>
        </p:txBody>
      </p:sp>
      <p:sp>
        <p:nvSpPr>
          <p:cNvPr id="1100" name="Text 110">
            <a:extLst>
              <a:ext uri="{FF2B5EF4-FFF2-40B4-BE49-F238E27FC236}">
                <a16:creationId xmlns:a16="http://schemas.microsoft.com/office/drawing/2014/main" id="{A3474D94-8C93-9DD7-7A66-299058259A7A}"/>
              </a:ext>
            </a:extLst>
          </p:cNvPr>
          <p:cNvSpPr/>
          <p:nvPr/>
        </p:nvSpPr>
        <p:spPr>
          <a:xfrm>
            <a:off x="14204555" y="18253197"/>
            <a:ext cx="11292840" cy="1179726"/>
          </a:xfrm>
          <a:prstGeom prst="rect">
            <a:avLst/>
          </a:prstGeom>
          <a:noFill/>
          <a:ln/>
        </p:spPr>
        <p:txBody>
          <a:bodyPr wrap="square" rtlCol="0" anchor="ctr"/>
          <a:lstStyle/>
          <a:p>
            <a:r>
              <a:rPr lang="fr-CA" sz="1600" dirty="0"/>
              <a:t>Un système de règles expertes associe chaque pièce détectée à une ou plusieurs zones du véhicule via des poids de confiance. La zone d'impact est déterminée par accumulation pondérée des votes : les pièces structurelles primaires (capot, coffre, portes) ont un poids de 3, les pièces secondaires (phares, ailes) renforcent le signal avec un poids de 1. La zone cumulant le plus de votes est retenue comme zone d'impact.</a:t>
            </a:r>
            <a:endParaRPr lang="en-US" sz="1500" dirty="0"/>
          </a:p>
        </p:txBody>
      </p:sp>
      <p:sp>
        <p:nvSpPr>
          <p:cNvPr id="1103" name="Shape 28">
            <a:extLst>
              <a:ext uri="{FF2B5EF4-FFF2-40B4-BE49-F238E27FC236}">
                <a16:creationId xmlns:a16="http://schemas.microsoft.com/office/drawing/2014/main" id="{A2545187-E1F1-BC39-7895-CC2AA71528DC}"/>
              </a:ext>
            </a:extLst>
          </p:cNvPr>
          <p:cNvSpPr/>
          <p:nvPr/>
        </p:nvSpPr>
        <p:spPr>
          <a:xfrm>
            <a:off x="475488" y="15011400"/>
            <a:ext cx="12070080" cy="5486400"/>
          </a:xfrm>
          <a:prstGeom prst="rect">
            <a:avLst/>
          </a:prstGeom>
          <a:solidFill>
            <a:srgbClr val="FFFFFF"/>
          </a:solidFill>
          <a:ln w="12700">
            <a:solidFill>
              <a:srgbClr val="C5D3E8"/>
            </a:solidFill>
            <a:prstDash val="solid"/>
          </a:ln>
          <a:effectLst>
            <a:outerShdw blurRad="63500" dist="25400" dir="8100000" algn="bl" rotWithShape="0">
              <a:srgbClr val="000000">
                <a:alpha val="10000"/>
              </a:srgbClr>
            </a:outerShdw>
          </a:effectLst>
        </p:spPr>
        <p:txBody>
          <a:bodyPr/>
          <a:lstStyle/>
          <a:p>
            <a:endParaRPr lang="fr-CA"/>
          </a:p>
        </p:txBody>
      </p:sp>
      <p:sp>
        <p:nvSpPr>
          <p:cNvPr id="1105" name="Shape 29">
            <a:extLst>
              <a:ext uri="{FF2B5EF4-FFF2-40B4-BE49-F238E27FC236}">
                <a16:creationId xmlns:a16="http://schemas.microsoft.com/office/drawing/2014/main" id="{5822F8A8-D22D-71E2-E2BC-E813E97204A0}"/>
              </a:ext>
            </a:extLst>
          </p:cNvPr>
          <p:cNvSpPr/>
          <p:nvPr/>
        </p:nvSpPr>
        <p:spPr>
          <a:xfrm>
            <a:off x="475488" y="15011400"/>
            <a:ext cx="12070080" cy="1234440"/>
          </a:xfrm>
          <a:prstGeom prst="rect">
            <a:avLst/>
          </a:prstGeom>
          <a:solidFill>
            <a:srgbClr val="1A2B5E"/>
          </a:solidFill>
          <a:ln w="12700">
            <a:solidFill>
              <a:srgbClr val="243575"/>
            </a:solidFill>
            <a:prstDash val="solid"/>
          </a:ln>
        </p:spPr>
        <p:txBody>
          <a:bodyPr/>
          <a:lstStyle/>
          <a:p>
            <a:endParaRPr lang="fr-CA"/>
          </a:p>
        </p:txBody>
      </p:sp>
      <p:sp>
        <p:nvSpPr>
          <p:cNvPr id="1107" name="Text 30">
            <a:extLst>
              <a:ext uri="{FF2B5EF4-FFF2-40B4-BE49-F238E27FC236}">
                <a16:creationId xmlns:a16="http://schemas.microsoft.com/office/drawing/2014/main" id="{FF1CB090-4A7E-743A-D2C0-3FEDCDE6D21B}"/>
              </a:ext>
            </a:extLst>
          </p:cNvPr>
          <p:cNvSpPr/>
          <p:nvPr/>
        </p:nvSpPr>
        <p:spPr>
          <a:xfrm>
            <a:off x="704088" y="15011400"/>
            <a:ext cx="11612880" cy="1234440"/>
          </a:xfrm>
          <a:prstGeom prst="rect">
            <a:avLst/>
          </a:prstGeom>
          <a:noFill/>
          <a:ln/>
        </p:spPr>
        <p:txBody>
          <a:bodyPr wrap="square"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Jeu de données et annotations</a:t>
            </a:r>
            <a:endParaRPr lang="en-US" sz="4000" dirty="0"/>
          </a:p>
        </p:txBody>
      </p:sp>
      <p:sp>
        <p:nvSpPr>
          <p:cNvPr id="1108" name="Shape 31">
            <a:extLst>
              <a:ext uri="{FF2B5EF4-FFF2-40B4-BE49-F238E27FC236}">
                <a16:creationId xmlns:a16="http://schemas.microsoft.com/office/drawing/2014/main" id="{DB415833-092C-0DC8-ACEB-70AE9A4D1BD4}"/>
              </a:ext>
            </a:extLst>
          </p:cNvPr>
          <p:cNvSpPr/>
          <p:nvPr/>
        </p:nvSpPr>
        <p:spPr>
          <a:xfrm>
            <a:off x="1005840" y="16474440"/>
            <a:ext cx="2560320" cy="1828800"/>
          </a:xfrm>
          <a:prstGeom prst="rect">
            <a:avLst/>
          </a:prstGeom>
          <a:solidFill>
            <a:srgbClr val="1A2B5E"/>
          </a:solidFill>
          <a:ln w="12700">
            <a:solidFill>
              <a:srgbClr val="002060"/>
            </a:solidFill>
            <a:prstDash val="solid"/>
          </a:ln>
          <a:effectLst>
            <a:outerShdw blurRad="63500" dist="25400" dir="8100000" algn="bl" rotWithShape="0">
              <a:srgbClr val="000000">
                <a:alpha val="10000"/>
              </a:srgbClr>
            </a:outerShdw>
          </a:effectLst>
        </p:spPr>
        <p:txBody>
          <a:bodyPr/>
          <a:lstStyle/>
          <a:p>
            <a:endParaRPr lang="fr-CA"/>
          </a:p>
        </p:txBody>
      </p:sp>
      <p:sp>
        <p:nvSpPr>
          <p:cNvPr id="1110" name="Text 32">
            <a:extLst>
              <a:ext uri="{FF2B5EF4-FFF2-40B4-BE49-F238E27FC236}">
                <a16:creationId xmlns:a16="http://schemas.microsoft.com/office/drawing/2014/main" id="{3C1EEAF5-7F5E-220B-8BCD-FE2460C9DD7F}"/>
              </a:ext>
            </a:extLst>
          </p:cNvPr>
          <p:cNvSpPr/>
          <p:nvPr/>
        </p:nvSpPr>
        <p:spPr>
          <a:xfrm>
            <a:off x="1005840" y="16520160"/>
            <a:ext cx="2560320" cy="1060704"/>
          </a:xfrm>
          <a:prstGeom prst="rect">
            <a:avLst/>
          </a:prstGeom>
          <a:noFill/>
          <a:ln/>
        </p:spPr>
        <p:txBody>
          <a:bodyPr wrap="square" rtlCol="0" anchor="b"/>
          <a:lstStyle/>
          <a:p>
            <a:pPr marL="0" indent="0" algn="ctr">
              <a:buNone/>
            </a:pPr>
            <a:r>
              <a:rPr lang="en-US" sz="3400" b="1" dirty="0">
                <a:solidFill>
                  <a:srgbClr val="FFFFFF"/>
                </a:solidFill>
                <a:latin typeface="Calibri" pitchFamily="34" charset="0"/>
                <a:ea typeface="Calibri" pitchFamily="34" charset="-122"/>
                <a:cs typeface="Calibri" pitchFamily="34" charset="-120"/>
              </a:rPr>
              <a:t>800</a:t>
            </a:r>
            <a:endParaRPr lang="en-US" sz="3400" dirty="0"/>
          </a:p>
        </p:txBody>
      </p:sp>
      <p:sp>
        <p:nvSpPr>
          <p:cNvPr id="1111" name="Text 33">
            <a:extLst>
              <a:ext uri="{FF2B5EF4-FFF2-40B4-BE49-F238E27FC236}">
                <a16:creationId xmlns:a16="http://schemas.microsoft.com/office/drawing/2014/main" id="{EF82B553-29EB-6F80-D54E-9450D510A81D}"/>
              </a:ext>
            </a:extLst>
          </p:cNvPr>
          <p:cNvSpPr/>
          <p:nvPr/>
        </p:nvSpPr>
        <p:spPr>
          <a:xfrm>
            <a:off x="1005840" y="17535144"/>
            <a:ext cx="2560320" cy="694944"/>
          </a:xfrm>
          <a:prstGeom prst="rect">
            <a:avLst/>
          </a:prstGeom>
          <a:noFill/>
          <a:ln/>
        </p:spPr>
        <p:txBody>
          <a:bodyPr wrap="square" rtlCol="0" anchor="t"/>
          <a:lstStyle/>
          <a:p>
            <a:pPr marL="0" indent="0" algn="ctr">
              <a:buNone/>
            </a:pPr>
            <a:r>
              <a:rPr lang="en-US" sz="2000" dirty="0">
                <a:solidFill>
                  <a:srgbClr val="FFFFFF"/>
                </a:solidFill>
                <a:latin typeface="Calibri" pitchFamily="34" charset="0"/>
                <a:ea typeface="Calibri" pitchFamily="34" charset="-122"/>
                <a:cs typeface="Calibri" pitchFamily="34" charset="-120"/>
              </a:rPr>
              <a:t>images annotées</a:t>
            </a:r>
            <a:endParaRPr lang="en-US" sz="2000" dirty="0"/>
          </a:p>
        </p:txBody>
      </p:sp>
      <p:sp>
        <p:nvSpPr>
          <p:cNvPr id="1114" name="Shape 34">
            <a:extLst>
              <a:ext uri="{FF2B5EF4-FFF2-40B4-BE49-F238E27FC236}">
                <a16:creationId xmlns:a16="http://schemas.microsoft.com/office/drawing/2014/main" id="{14F5CBC1-75C0-33E2-BF81-301E464BE823}"/>
              </a:ext>
            </a:extLst>
          </p:cNvPr>
          <p:cNvSpPr/>
          <p:nvPr/>
        </p:nvSpPr>
        <p:spPr>
          <a:xfrm>
            <a:off x="3749040" y="16474440"/>
            <a:ext cx="2560320" cy="1828800"/>
          </a:xfrm>
          <a:prstGeom prst="rect">
            <a:avLst/>
          </a:prstGeom>
          <a:solidFill>
            <a:schemeClr val="accent1">
              <a:lumMod val="75000"/>
            </a:schemeClr>
          </a:solidFill>
          <a:ln w="12700">
            <a:solidFill>
              <a:schemeClr val="accent1">
                <a:lumMod val="75000"/>
              </a:schemeClr>
            </a:solidFill>
            <a:prstDash val="solid"/>
          </a:ln>
          <a:effectLst>
            <a:outerShdw blurRad="63500" dist="25400" dir="8100000" algn="bl" rotWithShape="0">
              <a:srgbClr val="000000">
                <a:alpha val="10000"/>
              </a:srgbClr>
            </a:outerShdw>
          </a:effectLst>
        </p:spPr>
        <p:txBody>
          <a:bodyPr/>
          <a:lstStyle/>
          <a:p>
            <a:endParaRPr lang="fr-CA"/>
          </a:p>
        </p:txBody>
      </p:sp>
      <p:sp>
        <p:nvSpPr>
          <p:cNvPr id="1116" name="Text 35">
            <a:extLst>
              <a:ext uri="{FF2B5EF4-FFF2-40B4-BE49-F238E27FC236}">
                <a16:creationId xmlns:a16="http://schemas.microsoft.com/office/drawing/2014/main" id="{B8BC4E76-6CB8-98D0-9987-E58EB9B55AA5}"/>
              </a:ext>
            </a:extLst>
          </p:cNvPr>
          <p:cNvSpPr/>
          <p:nvPr/>
        </p:nvSpPr>
        <p:spPr>
          <a:xfrm>
            <a:off x="3749040" y="16520160"/>
            <a:ext cx="2560320" cy="1060704"/>
          </a:xfrm>
          <a:prstGeom prst="rect">
            <a:avLst/>
          </a:prstGeom>
          <a:noFill/>
          <a:ln/>
        </p:spPr>
        <p:txBody>
          <a:bodyPr wrap="square" rtlCol="0" anchor="b"/>
          <a:lstStyle/>
          <a:p>
            <a:pPr marL="0" indent="0" algn="ctr">
              <a:buNone/>
            </a:pPr>
            <a:r>
              <a:rPr lang="en-US" sz="3400" b="1" dirty="0">
                <a:solidFill>
                  <a:srgbClr val="FFFFFF"/>
                </a:solidFill>
                <a:latin typeface="Calibri" pitchFamily="34" charset="0"/>
                <a:ea typeface="Calibri" pitchFamily="34" charset="-122"/>
                <a:cs typeface="Calibri" pitchFamily="34" charset="-120"/>
              </a:rPr>
              <a:t>17</a:t>
            </a:r>
            <a:endParaRPr lang="en-US" sz="3400" dirty="0"/>
          </a:p>
        </p:txBody>
      </p:sp>
      <p:sp>
        <p:nvSpPr>
          <p:cNvPr id="1120" name="Text 36">
            <a:extLst>
              <a:ext uri="{FF2B5EF4-FFF2-40B4-BE49-F238E27FC236}">
                <a16:creationId xmlns:a16="http://schemas.microsoft.com/office/drawing/2014/main" id="{F255EB0A-8F17-3A4C-B5D0-708B6455AD59}"/>
              </a:ext>
            </a:extLst>
          </p:cNvPr>
          <p:cNvSpPr/>
          <p:nvPr/>
        </p:nvSpPr>
        <p:spPr>
          <a:xfrm>
            <a:off x="3749040" y="17535144"/>
            <a:ext cx="2560320" cy="694944"/>
          </a:xfrm>
          <a:prstGeom prst="rect">
            <a:avLst/>
          </a:prstGeom>
          <a:noFill/>
          <a:ln/>
        </p:spPr>
        <p:txBody>
          <a:bodyPr wrap="square" rtlCol="0" anchor="t"/>
          <a:lstStyle/>
          <a:p>
            <a:pPr marL="0" indent="0" algn="ctr">
              <a:buNone/>
            </a:pPr>
            <a:r>
              <a:rPr lang="en-US" sz="2400" dirty="0">
                <a:solidFill>
                  <a:srgbClr val="FFFFFF"/>
                </a:solidFill>
                <a:latin typeface="Calibri" pitchFamily="34" charset="0"/>
                <a:ea typeface="Calibri" pitchFamily="34" charset="-122"/>
                <a:cs typeface="Calibri" pitchFamily="34" charset="-120"/>
              </a:rPr>
              <a:t>classes</a:t>
            </a:r>
            <a:endParaRPr lang="en-US" sz="1400" dirty="0"/>
          </a:p>
        </p:txBody>
      </p:sp>
      <p:sp>
        <p:nvSpPr>
          <p:cNvPr id="1121" name="Shape 37">
            <a:extLst>
              <a:ext uri="{FF2B5EF4-FFF2-40B4-BE49-F238E27FC236}">
                <a16:creationId xmlns:a16="http://schemas.microsoft.com/office/drawing/2014/main" id="{BC7D3934-C780-E6E7-5508-8D57B011907E}"/>
              </a:ext>
            </a:extLst>
          </p:cNvPr>
          <p:cNvSpPr/>
          <p:nvPr/>
        </p:nvSpPr>
        <p:spPr>
          <a:xfrm>
            <a:off x="6492240" y="16474440"/>
            <a:ext cx="2560320" cy="1828800"/>
          </a:xfrm>
          <a:prstGeom prst="rect">
            <a:avLst/>
          </a:prstGeom>
          <a:solidFill>
            <a:schemeClr val="accent5">
              <a:lumMod val="75000"/>
            </a:schemeClr>
          </a:solidFill>
          <a:ln w="12700">
            <a:solidFill>
              <a:schemeClr val="accent5">
                <a:lumMod val="75000"/>
              </a:schemeClr>
            </a:solidFill>
            <a:prstDash val="solid"/>
          </a:ln>
          <a:effectLst>
            <a:outerShdw blurRad="63500" dist="25400" dir="8100000" algn="bl" rotWithShape="0">
              <a:srgbClr val="000000">
                <a:alpha val="10000"/>
              </a:srgbClr>
            </a:outerShdw>
          </a:effectLst>
        </p:spPr>
        <p:txBody>
          <a:bodyPr/>
          <a:lstStyle/>
          <a:p>
            <a:endParaRPr lang="fr-CA"/>
          </a:p>
        </p:txBody>
      </p:sp>
      <p:sp>
        <p:nvSpPr>
          <p:cNvPr id="1148" name="Text 38">
            <a:extLst>
              <a:ext uri="{FF2B5EF4-FFF2-40B4-BE49-F238E27FC236}">
                <a16:creationId xmlns:a16="http://schemas.microsoft.com/office/drawing/2014/main" id="{C19850F1-C704-C7CB-B275-2E06E4E3F324}"/>
              </a:ext>
            </a:extLst>
          </p:cNvPr>
          <p:cNvSpPr/>
          <p:nvPr/>
        </p:nvSpPr>
        <p:spPr>
          <a:xfrm>
            <a:off x="6492240" y="16520160"/>
            <a:ext cx="2560320" cy="1060704"/>
          </a:xfrm>
          <a:prstGeom prst="rect">
            <a:avLst/>
          </a:prstGeom>
          <a:noFill/>
          <a:ln/>
        </p:spPr>
        <p:txBody>
          <a:bodyPr wrap="square" rtlCol="0" anchor="b"/>
          <a:lstStyle/>
          <a:p>
            <a:pPr marL="0" indent="0" algn="ctr">
              <a:buNone/>
            </a:pPr>
            <a:r>
              <a:rPr lang="en-US" sz="3400" b="1" dirty="0">
                <a:solidFill>
                  <a:srgbClr val="FFFFFF"/>
                </a:solidFill>
                <a:latin typeface="Calibri" pitchFamily="34" charset="0"/>
                <a:ea typeface="Calibri" pitchFamily="34" charset="-122"/>
                <a:cs typeface="Calibri" pitchFamily="34" charset="-120"/>
              </a:rPr>
              <a:t>60%</a:t>
            </a:r>
            <a:endParaRPr lang="en-US" sz="3400" dirty="0"/>
          </a:p>
        </p:txBody>
      </p:sp>
      <p:sp>
        <p:nvSpPr>
          <p:cNvPr id="1149" name="Text 39">
            <a:extLst>
              <a:ext uri="{FF2B5EF4-FFF2-40B4-BE49-F238E27FC236}">
                <a16:creationId xmlns:a16="http://schemas.microsoft.com/office/drawing/2014/main" id="{DD418993-4DB4-B91B-6677-F6032AA84C6A}"/>
              </a:ext>
            </a:extLst>
          </p:cNvPr>
          <p:cNvSpPr/>
          <p:nvPr/>
        </p:nvSpPr>
        <p:spPr>
          <a:xfrm>
            <a:off x="6492240" y="17535144"/>
            <a:ext cx="2560320" cy="694944"/>
          </a:xfrm>
          <a:prstGeom prst="rect">
            <a:avLst/>
          </a:prstGeom>
          <a:noFill/>
          <a:ln/>
        </p:spPr>
        <p:txBody>
          <a:bodyPr wrap="square" rtlCol="0" anchor="t"/>
          <a:lstStyle/>
          <a:p>
            <a:pPr marL="0" indent="0" algn="ctr">
              <a:buNone/>
            </a:pPr>
            <a:r>
              <a:rPr lang="en-US" sz="2000" dirty="0">
                <a:solidFill>
                  <a:srgbClr val="FFFFFF"/>
                </a:solidFill>
                <a:latin typeface="Calibri" pitchFamily="34" charset="0"/>
                <a:ea typeface="Calibri" pitchFamily="34" charset="-122"/>
                <a:cs typeface="Calibri" pitchFamily="34" charset="-120"/>
              </a:rPr>
              <a:t>train</a:t>
            </a:r>
            <a:endParaRPr lang="en-US" sz="1400" dirty="0"/>
          </a:p>
        </p:txBody>
      </p:sp>
      <p:sp>
        <p:nvSpPr>
          <p:cNvPr id="1150" name="Shape 40">
            <a:extLst>
              <a:ext uri="{FF2B5EF4-FFF2-40B4-BE49-F238E27FC236}">
                <a16:creationId xmlns:a16="http://schemas.microsoft.com/office/drawing/2014/main" id="{5FA67F2D-B0F2-2253-4358-DAA96E18A9AF}"/>
              </a:ext>
            </a:extLst>
          </p:cNvPr>
          <p:cNvSpPr/>
          <p:nvPr/>
        </p:nvSpPr>
        <p:spPr>
          <a:xfrm>
            <a:off x="9235440" y="16474440"/>
            <a:ext cx="2560320" cy="1828800"/>
          </a:xfrm>
          <a:prstGeom prst="rect">
            <a:avLst/>
          </a:prstGeom>
          <a:solidFill>
            <a:srgbClr val="00B0F0"/>
          </a:solidFill>
          <a:ln w="12700">
            <a:solidFill>
              <a:srgbClr val="00B0F0"/>
            </a:solidFill>
            <a:prstDash val="solid"/>
          </a:ln>
          <a:effectLst>
            <a:outerShdw blurRad="63500" dist="25400" dir="8100000" algn="bl" rotWithShape="0">
              <a:srgbClr val="000000">
                <a:alpha val="10000"/>
              </a:srgbClr>
            </a:outerShdw>
          </a:effectLst>
        </p:spPr>
        <p:txBody>
          <a:bodyPr/>
          <a:lstStyle/>
          <a:p>
            <a:endParaRPr lang="fr-CA"/>
          </a:p>
        </p:txBody>
      </p:sp>
      <p:sp>
        <p:nvSpPr>
          <p:cNvPr id="1151" name="Text 41">
            <a:extLst>
              <a:ext uri="{FF2B5EF4-FFF2-40B4-BE49-F238E27FC236}">
                <a16:creationId xmlns:a16="http://schemas.microsoft.com/office/drawing/2014/main" id="{E65D16F6-433F-03E8-717B-5FF562D15617}"/>
              </a:ext>
            </a:extLst>
          </p:cNvPr>
          <p:cNvSpPr/>
          <p:nvPr/>
        </p:nvSpPr>
        <p:spPr>
          <a:xfrm>
            <a:off x="9235440" y="16520160"/>
            <a:ext cx="2560320" cy="1060704"/>
          </a:xfrm>
          <a:prstGeom prst="rect">
            <a:avLst/>
          </a:prstGeom>
          <a:noFill/>
          <a:ln/>
        </p:spPr>
        <p:txBody>
          <a:bodyPr wrap="square" rtlCol="0" anchor="b"/>
          <a:lstStyle/>
          <a:p>
            <a:pPr marL="0" indent="0" algn="ctr">
              <a:buNone/>
            </a:pPr>
            <a:r>
              <a:rPr lang="en-US" sz="3400" b="1" dirty="0">
                <a:solidFill>
                  <a:srgbClr val="FFFFFF"/>
                </a:solidFill>
                <a:latin typeface="Calibri" pitchFamily="34" charset="0"/>
                <a:ea typeface="Calibri" pitchFamily="34" charset="-122"/>
                <a:cs typeface="Calibri" pitchFamily="34" charset="-120"/>
              </a:rPr>
              <a:t>20%</a:t>
            </a:r>
            <a:endParaRPr lang="en-US" sz="3400" dirty="0"/>
          </a:p>
        </p:txBody>
      </p:sp>
      <p:sp>
        <p:nvSpPr>
          <p:cNvPr id="1152" name="Text 42">
            <a:extLst>
              <a:ext uri="{FF2B5EF4-FFF2-40B4-BE49-F238E27FC236}">
                <a16:creationId xmlns:a16="http://schemas.microsoft.com/office/drawing/2014/main" id="{598A390D-0F52-8966-7876-9601388F0652}"/>
              </a:ext>
            </a:extLst>
          </p:cNvPr>
          <p:cNvSpPr/>
          <p:nvPr/>
        </p:nvSpPr>
        <p:spPr>
          <a:xfrm>
            <a:off x="9235440" y="17535144"/>
            <a:ext cx="2560320" cy="694944"/>
          </a:xfrm>
          <a:prstGeom prst="rect">
            <a:avLst/>
          </a:prstGeom>
          <a:noFill/>
          <a:ln/>
        </p:spPr>
        <p:txBody>
          <a:bodyPr wrap="square" rtlCol="0" anchor="t"/>
          <a:lstStyle/>
          <a:p>
            <a:pPr marL="0" indent="0" algn="ctr">
              <a:buNone/>
            </a:pPr>
            <a:r>
              <a:rPr lang="en-US" sz="2000" dirty="0">
                <a:solidFill>
                  <a:srgbClr val="FFFFFF"/>
                </a:solidFill>
                <a:latin typeface="Calibri" pitchFamily="34" charset="0"/>
                <a:ea typeface="Calibri" pitchFamily="34" charset="-122"/>
                <a:cs typeface="Calibri" pitchFamily="34" charset="-120"/>
              </a:rPr>
              <a:t>test/</a:t>
            </a:r>
            <a:r>
              <a:rPr lang="en-US" sz="2000" dirty="0" err="1">
                <a:solidFill>
                  <a:srgbClr val="FFFFFF"/>
                </a:solidFill>
                <a:latin typeface="Calibri" pitchFamily="34" charset="0"/>
                <a:ea typeface="Calibri" pitchFamily="34" charset="-122"/>
                <a:cs typeface="Calibri" pitchFamily="34" charset="-120"/>
              </a:rPr>
              <a:t>val</a:t>
            </a:r>
            <a:endParaRPr lang="en-US" sz="2000" dirty="0"/>
          </a:p>
        </p:txBody>
      </p:sp>
      <p:sp>
        <p:nvSpPr>
          <p:cNvPr id="1153" name="Text 43">
            <a:extLst>
              <a:ext uri="{FF2B5EF4-FFF2-40B4-BE49-F238E27FC236}">
                <a16:creationId xmlns:a16="http://schemas.microsoft.com/office/drawing/2014/main" id="{7250C186-38A6-3BD9-BCA0-D6482488BA51}"/>
              </a:ext>
            </a:extLst>
          </p:cNvPr>
          <p:cNvSpPr/>
          <p:nvPr/>
        </p:nvSpPr>
        <p:spPr>
          <a:xfrm>
            <a:off x="704088" y="18486120"/>
            <a:ext cx="11612880" cy="548640"/>
          </a:xfrm>
          <a:prstGeom prst="rect">
            <a:avLst/>
          </a:prstGeom>
          <a:noFill/>
          <a:ln/>
        </p:spPr>
        <p:txBody>
          <a:bodyPr wrap="square" rtlCol="0" anchor="ctr"/>
          <a:lstStyle/>
          <a:p>
            <a:pPr marL="0" indent="0">
              <a:buNone/>
            </a:pPr>
            <a:r>
              <a:rPr lang="en-US" sz="2000" b="1" dirty="0">
                <a:solidFill>
                  <a:srgbClr val="566573"/>
                </a:solidFill>
                <a:latin typeface="Calibri" pitchFamily="34" charset="0"/>
                <a:ea typeface="Calibri" pitchFamily="34" charset="-122"/>
                <a:cs typeface="Calibri" pitchFamily="34" charset="-120"/>
              </a:rPr>
              <a:t>Outil : </a:t>
            </a:r>
            <a:r>
              <a:rPr lang="en-US" sz="2000" dirty="0">
                <a:solidFill>
                  <a:srgbClr val="566573"/>
                </a:solidFill>
                <a:latin typeface="Calibri" pitchFamily="34" charset="0"/>
                <a:ea typeface="Calibri" pitchFamily="34" charset="-122"/>
                <a:cs typeface="Calibri" pitchFamily="34" charset="-120"/>
              </a:rPr>
              <a:t>Roboflow (polygones → bbox YOLO)  ·  Split </a:t>
            </a:r>
            <a:r>
              <a:rPr lang="en-US" sz="2000" dirty="0" err="1">
                <a:solidFill>
                  <a:srgbClr val="566573"/>
                </a:solidFill>
                <a:latin typeface="Calibri" pitchFamily="34" charset="0"/>
                <a:ea typeface="Calibri" pitchFamily="34" charset="-122"/>
                <a:cs typeface="Calibri" pitchFamily="34" charset="-120"/>
              </a:rPr>
              <a:t>stratifié</a:t>
            </a:r>
            <a:r>
              <a:rPr lang="en-US" sz="2000" dirty="0">
                <a:solidFill>
                  <a:srgbClr val="566573"/>
                </a:solidFill>
                <a:latin typeface="Calibri" pitchFamily="34" charset="0"/>
                <a:ea typeface="Calibri" pitchFamily="34" charset="-122"/>
                <a:cs typeface="Calibri" pitchFamily="34" charset="-120"/>
              </a:rPr>
              <a:t> multi-label pour </a:t>
            </a:r>
            <a:r>
              <a:rPr lang="en-US" sz="2000" dirty="0" err="1">
                <a:solidFill>
                  <a:srgbClr val="566573"/>
                </a:solidFill>
                <a:latin typeface="Calibri" pitchFamily="34" charset="0"/>
                <a:ea typeface="Calibri" pitchFamily="34" charset="-122"/>
                <a:cs typeface="Calibri" pitchFamily="34" charset="-120"/>
              </a:rPr>
              <a:t>séparation</a:t>
            </a:r>
            <a:r>
              <a:rPr lang="en-US" sz="2000" dirty="0">
                <a:solidFill>
                  <a:srgbClr val="566573"/>
                </a:solidFill>
                <a:latin typeface="Calibri" pitchFamily="34" charset="0"/>
                <a:ea typeface="Calibri" pitchFamily="34" charset="-122"/>
                <a:cs typeface="Calibri" pitchFamily="34" charset="-120"/>
              </a:rPr>
              <a:t> des données </a:t>
            </a:r>
            <a:endParaRPr lang="en-US" sz="2000" dirty="0"/>
          </a:p>
        </p:txBody>
      </p:sp>
      <p:sp>
        <p:nvSpPr>
          <p:cNvPr id="1156" name="Text 44">
            <a:extLst>
              <a:ext uri="{FF2B5EF4-FFF2-40B4-BE49-F238E27FC236}">
                <a16:creationId xmlns:a16="http://schemas.microsoft.com/office/drawing/2014/main" id="{E7C72164-D6FF-5D31-0310-9F06424B1742}"/>
              </a:ext>
            </a:extLst>
          </p:cNvPr>
          <p:cNvSpPr/>
          <p:nvPr/>
        </p:nvSpPr>
        <p:spPr>
          <a:xfrm>
            <a:off x="704088" y="19080480"/>
            <a:ext cx="11612880" cy="1280160"/>
          </a:xfrm>
          <a:prstGeom prst="rect">
            <a:avLst/>
          </a:prstGeom>
          <a:noFill/>
          <a:ln/>
        </p:spPr>
        <p:txBody>
          <a:bodyPr wrap="square" rtlCol="0" anchor="t"/>
          <a:lstStyle/>
          <a:p>
            <a:pPr marL="0" indent="0">
              <a:buNone/>
            </a:pPr>
            <a:r>
              <a:rPr lang="en-US" sz="2000" b="1" dirty="0">
                <a:solidFill>
                  <a:srgbClr val="C0392B"/>
                </a:solidFill>
                <a:latin typeface="Calibri" pitchFamily="34" charset="0"/>
                <a:ea typeface="Calibri" pitchFamily="34" charset="-122"/>
                <a:cs typeface="Calibri" pitchFamily="34" charset="-120"/>
              </a:rPr>
              <a:t>Classes endommagées (×8) : </a:t>
            </a:r>
            <a:r>
              <a:rPr lang="en-US" sz="2000" dirty="0">
                <a:solidFill>
                  <a:srgbClr val="1C2833"/>
                </a:solidFill>
                <a:latin typeface="Calibri" pitchFamily="34" charset="0"/>
                <a:ea typeface="Calibri" pitchFamily="34" charset="-122"/>
                <a:cs typeface="Calibri" pitchFamily="34" charset="-120"/>
              </a:rPr>
              <a:t>aile, capot, coffre, parechoc, phare, porte_droite, porte_gauche, retroviseur
</a:t>
            </a:r>
            <a:r>
              <a:rPr lang="en-US" sz="2000" b="1" dirty="0">
                <a:solidFill>
                  <a:srgbClr val="27AE60"/>
                </a:solidFill>
                <a:latin typeface="Calibri" pitchFamily="34" charset="0"/>
                <a:ea typeface="Calibri" pitchFamily="34" charset="-122"/>
                <a:cs typeface="Calibri" pitchFamily="34" charset="-120"/>
              </a:rPr>
              <a:t>Classes saines (×8 + voiture) : </a:t>
            </a:r>
            <a:r>
              <a:rPr lang="en-US" sz="2000" dirty="0">
                <a:solidFill>
                  <a:srgbClr val="1C2833"/>
                </a:solidFill>
                <a:latin typeface="Calibri" pitchFamily="34" charset="0"/>
                <a:ea typeface="Calibri" pitchFamily="34" charset="-122"/>
                <a:cs typeface="Calibri" pitchFamily="34" charset="-120"/>
              </a:rPr>
              <a:t>mêmes pièces en état intact + classe voiture générale</a:t>
            </a:r>
            <a:endParaRPr lang="en-US" sz="2000" dirty="0"/>
          </a:p>
        </p:txBody>
      </p:sp>
      <p:sp>
        <p:nvSpPr>
          <p:cNvPr id="1158" name="Shape 119">
            <a:extLst>
              <a:ext uri="{FF2B5EF4-FFF2-40B4-BE49-F238E27FC236}">
                <a16:creationId xmlns:a16="http://schemas.microsoft.com/office/drawing/2014/main" id="{C3C0E06B-FE19-50AB-D811-AE65C44FB1A6}"/>
              </a:ext>
            </a:extLst>
          </p:cNvPr>
          <p:cNvSpPr/>
          <p:nvPr/>
        </p:nvSpPr>
        <p:spPr>
          <a:xfrm>
            <a:off x="26982646" y="4664065"/>
            <a:ext cx="12070080" cy="23716118"/>
          </a:xfrm>
          <a:prstGeom prst="rect">
            <a:avLst/>
          </a:prstGeom>
          <a:solidFill>
            <a:srgbClr val="FFFFFF"/>
          </a:solidFill>
          <a:ln w="12700">
            <a:solidFill>
              <a:srgbClr val="C5D3E8"/>
            </a:solidFill>
            <a:prstDash val="solid"/>
          </a:ln>
          <a:effectLst>
            <a:outerShdw blurRad="63500" dist="25400" dir="8100000" algn="bl" rotWithShape="0">
              <a:srgbClr val="000000">
                <a:alpha val="10000"/>
              </a:srgbClr>
            </a:outerShdw>
          </a:effectLst>
        </p:spPr>
        <p:txBody>
          <a:bodyPr/>
          <a:lstStyle/>
          <a:p>
            <a:endParaRPr lang="fr-CA"/>
          </a:p>
        </p:txBody>
      </p:sp>
      <p:sp>
        <p:nvSpPr>
          <p:cNvPr id="1159" name="Shape 120">
            <a:extLst>
              <a:ext uri="{FF2B5EF4-FFF2-40B4-BE49-F238E27FC236}">
                <a16:creationId xmlns:a16="http://schemas.microsoft.com/office/drawing/2014/main" id="{D6DD5AB5-627E-567B-D00F-7F275129AE32}"/>
              </a:ext>
            </a:extLst>
          </p:cNvPr>
          <p:cNvSpPr/>
          <p:nvPr/>
        </p:nvSpPr>
        <p:spPr>
          <a:xfrm>
            <a:off x="26982646" y="4664065"/>
            <a:ext cx="12070080" cy="1234440"/>
          </a:xfrm>
          <a:prstGeom prst="rect">
            <a:avLst/>
          </a:prstGeom>
          <a:solidFill>
            <a:srgbClr val="1A2B5E"/>
          </a:solidFill>
          <a:ln w="12700">
            <a:solidFill>
              <a:srgbClr val="1A2B5E"/>
            </a:solidFill>
            <a:prstDash val="solid"/>
          </a:ln>
        </p:spPr>
        <p:txBody>
          <a:bodyPr/>
          <a:lstStyle/>
          <a:p>
            <a:endParaRPr lang="fr-CA"/>
          </a:p>
        </p:txBody>
      </p:sp>
      <p:sp>
        <p:nvSpPr>
          <p:cNvPr id="1161" name="Text 121">
            <a:extLst>
              <a:ext uri="{FF2B5EF4-FFF2-40B4-BE49-F238E27FC236}">
                <a16:creationId xmlns:a16="http://schemas.microsoft.com/office/drawing/2014/main" id="{A42238BF-304C-C185-7F88-D29544DB7F68}"/>
              </a:ext>
            </a:extLst>
          </p:cNvPr>
          <p:cNvSpPr/>
          <p:nvPr/>
        </p:nvSpPr>
        <p:spPr>
          <a:xfrm>
            <a:off x="27211246" y="4664065"/>
            <a:ext cx="11612880" cy="1234440"/>
          </a:xfrm>
          <a:prstGeom prst="rect">
            <a:avLst/>
          </a:prstGeom>
          <a:noFill/>
          <a:ln/>
        </p:spPr>
        <p:txBody>
          <a:bodyPr wrap="square"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Résultats</a:t>
            </a:r>
            <a:endParaRPr lang="en-US" sz="2600" dirty="0"/>
          </a:p>
        </p:txBody>
      </p:sp>
      <p:sp>
        <p:nvSpPr>
          <p:cNvPr id="1245" name="Shape 195">
            <a:extLst>
              <a:ext uri="{FF2B5EF4-FFF2-40B4-BE49-F238E27FC236}">
                <a16:creationId xmlns:a16="http://schemas.microsoft.com/office/drawing/2014/main" id="{9E6F5F0F-EC1F-5E54-7713-381448026C88}"/>
              </a:ext>
            </a:extLst>
          </p:cNvPr>
          <p:cNvSpPr/>
          <p:nvPr/>
        </p:nvSpPr>
        <p:spPr>
          <a:xfrm>
            <a:off x="27194427" y="15115736"/>
            <a:ext cx="11612880" cy="54864"/>
          </a:xfrm>
          <a:prstGeom prst="rect">
            <a:avLst/>
          </a:prstGeom>
          <a:solidFill>
            <a:srgbClr val="B8D0F0"/>
          </a:solidFill>
          <a:ln w="12700">
            <a:solidFill>
              <a:srgbClr val="B8D0F0"/>
            </a:solidFill>
            <a:prstDash val="solid"/>
          </a:ln>
        </p:spPr>
        <p:txBody>
          <a:bodyPr/>
          <a:lstStyle/>
          <a:p>
            <a:endParaRPr lang="fr-CA"/>
          </a:p>
        </p:txBody>
      </p:sp>
      <p:sp>
        <p:nvSpPr>
          <p:cNvPr id="1246" name="Text 196">
            <a:extLst>
              <a:ext uri="{FF2B5EF4-FFF2-40B4-BE49-F238E27FC236}">
                <a16:creationId xmlns:a16="http://schemas.microsoft.com/office/drawing/2014/main" id="{72DFAEE0-EBD2-E378-B833-73C0BF286323}"/>
              </a:ext>
            </a:extLst>
          </p:cNvPr>
          <p:cNvSpPr/>
          <p:nvPr/>
        </p:nvSpPr>
        <p:spPr>
          <a:xfrm>
            <a:off x="27199882" y="21331255"/>
            <a:ext cx="11612880" cy="640080"/>
          </a:xfrm>
          <a:prstGeom prst="rect">
            <a:avLst/>
          </a:prstGeom>
          <a:noFill/>
          <a:ln/>
        </p:spPr>
        <p:txBody>
          <a:bodyPr wrap="square" rtlCol="0" anchor="ctr"/>
          <a:lstStyle/>
          <a:p>
            <a:pPr marL="0" indent="0">
              <a:buNone/>
            </a:pPr>
            <a:r>
              <a:rPr lang="en-US" sz="2400" b="1" dirty="0">
                <a:solidFill>
                  <a:srgbClr val="1A2B5E"/>
                </a:solidFill>
                <a:latin typeface="Calibri" pitchFamily="34" charset="0"/>
                <a:ea typeface="Calibri" pitchFamily="34" charset="-122"/>
                <a:cs typeface="Calibri" pitchFamily="34" charset="-120"/>
              </a:rPr>
              <a:t>Conclusion et travaux futurs</a:t>
            </a:r>
            <a:endParaRPr lang="en-US" sz="2400" b="1" dirty="0"/>
          </a:p>
        </p:txBody>
      </p:sp>
      <p:sp>
        <p:nvSpPr>
          <p:cNvPr id="1247" name="Shape 197">
            <a:extLst>
              <a:ext uri="{FF2B5EF4-FFF2-40B4-BE49-F238E27FC236}">
                <a16:creationId xmlns:a16="http://schemas.microsoft.com/office/drawing/2014/main" id="{051EEC44-518D-75A3-3EFD-6A704469E7B7}"/>
              </a:ext>
            </a:extLst>
          </p:cNvPr>
          <p:cNvSpPr/>
          <p:nvPr/>
        </p:nvSpPr>
        <p:spPr>
          <a:xfrm>
            <a:off x="27199882" y="22108495"/>
            <a:ext cx="11612880" cy="1920240"/>
          </a:xfrm>
          <a:prstGeom prst="rect">
            <a:avLst/>
          </a:prstGeom>
          <a:solidFill>
            <a:srgbClr val="E8F5E9"/>
          </a:solidFill>
          <a:ln w="12700">
            <a:solidFill>
              <a:srgbClr val="27AE60"/>
            </a:solidFill>
            <a:prstDash val="solid"/>
          </a:ln>
        </p:spPr>
        <p:txBody>
          <a:bodyPr/>
          <a:lstStyle/>
          <a:p>
            <a:endParaRPr lang="fr-CA"/>
          </a:p>
        </p:txBody>
      </p:sp>
      <p:sp>
        <p:nvSpPr>
          <p:cNvPr id="1248" name="Text 198">
            <a:extLst>
              <a:ext uri="{FF2B5EF4-FFF2-40B4-BE49-F238E27FC236}">
                <a16:creationId xmlns:a16="http://schemas.microsoft.com/office/drawing/2014/main" id="{6355D1FF-0DB0-37FD-5AE3-7E02A662DB49}"/>
              </a:ext>
            </a:extLst>
          </p:cNvPr>
          <p:cNvSpPr/>
          <p:nvPr/>
        </p:nvSpPr>
        <p:spPr>
          <a:xfrm>
            <a:off x="27337042" y="22108495"/>
            <a:ext cx="11475720" cy="1920240"/>
          </a:xfrm>
          <a:prstGeom prst="rect">
            <a:avLst/>
          </a:prstGeom>
          <a:noFill/>
          <a:ln/>
        </p:spPr>
        <p:txBody>
          <a:bodyPr wrap="square" rtlCol="0" anchor="ctr"/>
          <a:lstStyle/>
          <a:p>
            <a:r>
              <a:rPr lang="en-US" sz="2000" b="1" dirty="0">
                <a:solidFill>
                  <a:srgbClr val="27AE60"/>
                </a:solidFill>
                <a:latin typeface="Calibri" panose="020F0502020204030204" pitchFamily="34" charset="0"/>
                <a:ea typeface="Calibri" panose="020F0502020204030204" pitchFamily="34" charset="0"/>
                <a:cs typeface="Calibri" panose="020F0502020204030204" pitchFamily="34" charset="0"/>
              </a:rPr>
              <a:t>Objectifs atteints :
</a:t>
            </a:r>
            <a:r>
              <a:rPr lang="en-US" sz="2000" dirty="0">
                <a:solidFill>
                  <a:srgbClr val="1C2833"/>
                </a:solidFill>
                <a:latin typeface="Calibri" panose="020F0502020204030204" pitchFamily="34" charset="0"/>
                <a:ea typeface="Calibri" panose="020F0502020204030204" pitchFamily="34" charset="0"/>
                <a:cs typeface="Calibri" panose="020F0502020204030204" pitchFamily="34" charset="0"/>
              </a:rPr>
              <a:t>Pipeline complet · 3 </a:t>
            </a:r>
            <a:r>
              <a:rPr lang="en-US" sz="2000" dirty="0" err="1">
                <a:solidFill>
                  <a:srgbClr val="1C2833"/>
                </a:solidFill>
                <a:latin typeface="Calibri" panose="020F0502020204030204" pitchFamily="34" charset="0"/>
                <a:ea typeface="Calibri" panose="020F0502020204030204" pitchFamily="34" charset="0"/>
                <a:cs typeface="Calibri" panose="020F0502020204030204" pitchFamily="34" charset="0"/>
              </a:rPr>
              <a:t>modèles</a:t>
            </a:r>
            <a:r>
              <a:rPr lang="en-US" sz="2000" dirty="0">
                <a:solidFill>
                  <a:srgbClr val="1C2833"/>
                </a:solidFill>
                <a:latin typeface="Calibri" panose="020F0502020204030204" pitchFamily="34" charset="0"/>
                <a:ea typeface="Calibri" panose="020F0502020204030204" pitchFamily="34" charset="0"/>
                <a:cs typeface="Calibri" panose="020F0502020204030204" pitchFamily="34" charset="0"/>
              </a:rPr>
              <a:t> </a:t>
            </a:r>
            <a:r>
              <a:rPr lang="en-US" sz="2000" dirty="0" err="1">
                <a:solidFill>
                  <a:srgbClr val="1C2833"/>
                </a:solidFill>
                <a:latin typeface="Calibri" panose="020F0502020204030204" pitchFamily="34" charset="0"/>
                <a:ea typeface="Calibri" panose="020F0502020204030204" pitchFamily="34" charset="0"/>
                <a:cs typeface="Calibri" panose="020F0502020204030204" pitchFamily="34" charset="0"/>
              </a:rPr>
              <a:t>d’apprentissage</a:t>
            </a:r>
            <a:r>
              <a:rPr lang="en-US" sz="2000" dirty="0">
                <a:solidFill>
                  <a:srgbClr val="1C2833"/>
                </a:solidFill>
                <a:latin typeface="Calibri" panose="020F0502020204030204" pitchFamily="34" charset="0"/>
                <a:ea typeface="Calibri" panose="020F0502020204030204" pitchFamily="34" charset="0"/>
                <a:cs typeface="Calibri" panose="020F0502020204030204" pitchFamily="34" charset="0"/>
              </a:rPr>
              <a:t> </a:t>
            </a:r>
            <a:r>
              <a:rPr lang="en-US" sz="2000" dirty="0" err="1">
                <a:solidFill>
                  <a:srgbClr val="1C2833"/>
                </a:solidFill>
                <a:latin typeface="Calibri" panose="020F0502020204030204" pitchFamily="34" charset="0"/>
                <a:ea typeface="Calibri" panose="020F0502020204030204" pitchFamily="34" charset="0"/>
                <a:cs typeface="Calibri" panose="020F0502020204030204" pitchFamily="34" charset="0"/>
              </a:rPr>
              <a:t>profond</a:t>
            </a:r>
            <a:r>
              <a:rPr lang="en-US" sz="2000" dirty="0">
                <a:solidFill>
                  <a:srgbClr val="1C2833"/>
                </a:solidFill>
                <a:latin typeface="Calibri" panose="020F0502020204030204" pitchFamily="34" charset="0"/>
                <a:ea typeface="Calibri" panose="020F0502020204030204" pitchFamily="34" charset="0"/>
                <a:cs typeface="Calibri" panose="020F0502020204030204" pitchFamily="34" charset="0"/>
              </a:rPr>
              <a:t> qui </a:t>
            </a:r>
            <a:r>
              <a:rPr lang="en-US" sz="2000" dirty="0" err="1">
                <a:solidFill>
                  <a:srgbClr val="1C2833"/>
                </a:solidFill>
                <a:latin typeface="Calibri" panose="020F0502020204030204" pitchFamily="34" charset="0"/>
                <a:ea typeface="Calibri" panose="020F0502020204030204" pitchFamily="34" charset="0"/>
                <a:cs typeface="Calibri" panose="020F0502020204030204" pitchFamily="34" charset="0"/>
              </a:rPr>
              <a:t>performent</a:t>
            </a:r>
            <a:r>
              <a:rPr lang="en-US" sz="2000" dirty="0">
                <a:solidFill>
                  <a:srgbClr val="1C2833"/>
                </a:solidFill>
                <a:latin typeface="Calibri" panose="020F0502020204030204" pitchFamily="34" charset="0"/>
                <a:ea typeface="Calibri" panose="020F0502020204030204" pitchFamily="34" charset="0"/>
                <a:cs typeface="Calibri" panose="020F0502020204030204" pitchFamily="34" charset="0"/>
              </a:rPr>
              <a:t> très bien · </a:t>
            </a:r>
            <a:r>
              <a:rPr lang="fr-CA" sz="2000" dirty="0">
                <a:solidFill>
                  <a:srgbClr val="1C2833"/>
                </a:solidFill>
                <a:latin typeface="Calibri" panose="020F0502020204030204" pitchFamily="34" charset="0"/>
                <a:ea typeface="Calibri" panose="020F0502020204030204" pitchFamily="34" charset="0"/>
                <a:cs typeface="Calibri" panose="020F0502020204030204" pitchFamily="34" charset="0"/>
              </a:rPr>
              <a:t>1 système de règles expertes  </a:t>
            </a:r>
            <a:r>
              <a:rPr lang="en-US" sz="2000" dirty="0">
                <a:solidFill>
                  <a:srgbClr val="1C2833"/>
                </a:solidFill>
                <a:latin typeface="Calibri" panose="020F0502020204030204" pitchFamily="34" charset="0"/>
                <a:ea typeface="Calibri" panose="020F0502020204030204" pitchFamily="34" charset="0"/>
                <a:cs typeface="Calibri" panose="020F0502020204030204" pitchFamily="34" charset="0"/>
              </a:rPr>
              <a:t> ·  </a:t>
            </a:r>
            <a:r>
              <a:rPr lang="fr-CA" sz="2000" dirty="0">
                <a:solidFill>
                  <a:srgbClr val="1C2833"/>
                </a:solidFill>
                <a:latin typeface="Calibri" panose="020F0502020204030204" pitchFamily="34" charset="0"/>
                <a:ea typeface="Calibri" panose="020F0502020204030204" pitchFamily="34" charset="0"/>
                <a:cs typeface="Calibri" panose="020F0502020204030204" pitchFamily="34" charset="0"/>
              </a:rPr>
              <a:t>1 module de score analytique </a:t>
            </a:r>
            <a:r>
              <a:rPr lang="en-US" sz="2000" dirty="0">
                <a:solidFill>
                  <a:srgbClr val="1C2833"/>
                </a:solidFill>
                <a:latin typeface="Calibri" panose="020F0502020204030204" pitchFamily="34" charset="0"/>
                <a:ea typeface="Calibri" panose="020F0502020204030204" pitchFamily="34" charset="0"/>
                <a:cs typeface="Calibri" panose="020F0502020204030204" pitchFamily="34" charset="0"/>
              </a:rPr>
              <a:t> · </a:t>
            </a:r>
            <a:r>
              <a:rPr lang="fr-CA" sz="2000" dirty="0">
                <a:solidFill>
                  <a:srgbClr val="1C2833"/>
                </a:solidFill>
                <a:latin typeface="Calibri" panose="020F0502020204030204" pitchFamily="34" charset="0"/>
                <a:ea typeface="Calibri" panose="020F0502020204030204" pitchFamily="34" charset="0"/>
                <a:cs typeface="Calibri" panose="020F0502020204030204" pitchFamily="34" charset="0"/>
              </a:rPr>
              <a:t> </a:t>
            </a:r>
            <a:r>
              <a:rPr lang="en-US" sz="2000" dirty="0" err="1">
                <a:solidFill>
                  <a:srgbClr val="1C2833"/>
                </a:solidFill>
                <a:latin typeface="Calibri" panose="020F0502020204030204" pitchFamily="34" charset="0"/>
                <a:ea typeface="Calibri" panose="020F0502020204030204" pitchFamily="34" charset="0"/>
                <a:cs typeface="Calibri" panose="020F0502020204030204" pitchFamily="34" charset="0"/>
              </a:rPr>
              <a:t>Traçabilité</a:t>
            </a:r>
            <a:r>
              <a:rPr lang="en-US" sz="2000" dirty="0">
                <a:solidFill>
                  <a:srgbClr val="1C2833"/>
                </a:solidFill>
                <a:latin typeface="Calibri" panose="020F0502020204030204" pitchFamily="34" charset="0"/>
                <a:ea typeface="Calibri" panose="020F0502020204030204" pitchFamily="34" charset="0"/>
                <a:cs typeface="Calibri" panose="020F0502020204030204" pitchFamily="34" charset="0"/>
              </a:rPr>
              <a:t> </a:t>
            </a:r>
            <a:r>
              <a:rPr lang="en-US" sz="2000" dirty="0" err="1">
                <a:solidFill>
                  <a:srgbClr val="1C2833"/>
                </a:solidFill>
                <a:latin typeface="Calibri" panose="020F0502020204030204" pitchFamily="34" charset="0"/>
                <a:ea typeface="Calibri" panose="020F0502020204030204" pitchFamily="34" charset="0"/>
                <a:cs typeface="Calibri" panose="020F0502020204030204" pitchFamily="34" charset="0"/>
              </a:rPr>
              <a:t>complète</a:t>
            </a:r>
            <a:r>
              <a:rPr lang="en-US" sz="2000" dirty="0">
                <a:solidFill>
                  <a:srgbClr val="1C2833"/>
                </a:solidFill>
                <a:latin typeface="Calibri" panose="020F0502020204030204" pitchFamily="34" charset="0"/>
                <a:ea typeface="Calibri" panose="020F0502020204030204" pitchFamily="34" charset="0"/>
                <a:cs typeface="Calibri" panose="020F0502020204030204" pitchFamily="34" charset="0"/>
              </a:rPr>
              <a:t> · </a:t>
            </a:r>
            <a:r>
              <a:rPr lang="en-US" sz="2000" dirty="0" err="1">
                <a:solidFill>
                  <a:srgbClr val="1C2833"/>
                </a:solidFill>
                <a:latin typeface="Calibri" panose="020F0502020204030204" pitchFamily="34" charset="0"/>
                <a:ea typeface="Calibri" panose="020F0502020204030204" pitchFamily="34" charset="0"/>
                <a:cs typeface="Calibri" panose="020F0502020204030204" pitchFamily="34" charset="0"/>
              </a:rPr>
              <a:t>Toutes</a:t>
            </a:r>
            <a:r>
              <a:rPr lang="en-US" sz="2000" dirty="0">
                <a:solidFill>
                  <a:srgbClr val="1C2833"/>
                </a:solidFill>
                <a:latin typeface="Calibri" panose="020F0502020204030204" pitchFamily="34" charset="0"/>
                <a:ea typeface="Calibri" panose="020F0502020204030204" pitchFamily="34" charset="0"/>
                <a:cs typeface="Calibri" panose="020F0502020204030204" pitchFamily="34" charset="0"/>
              </a:rPr>
              <a:t> les exigence du </a:t>
            </a:r>
            <a:r>
              <a:rPr lang="en-US" sz="2000" dirty="0" err="1">
                <a:solidFill>
                  <a:srgbClr val="1C2833"/>
                </a:solidFill>
                <a:latin typeface="Calibri" panose="020F0502020204030204" pitchFamily="34" charset="0"/>
                <a:ea typeface="Calibri" panose="020F0502020204030204" pitchFamily="34" charset="0"/>
                <a:cs typeface="Calibri" panose="020F0502020204030204" pitchFamily="34" charset="0"/>
              </a:rPr>
              <a:t>projet</a:t>
            </a:r>
            <a:r>
              <a:rPr lang="en-US" sz="2000" dirty="0">
                <a:solidFill>
                  <a:srgbClr val="1C2833"/>
                </a:solidFill>
                <a:latin typeface="Calibri" panose="020F0502020204030204" pitchFamily="34" charset="0"/>
                <a:ea typeface="Calibri" panose="020F0502020204030204" pitchFamily="34" charset="0"/>
                <a:cs typeface="Calibri" panose="020F0502020204030204" pitchFamily="34" charset="0"/>
              </a:rPr>
              <a:t> </a:t>
            </a:r>
            <a:r>
              <a:rPr lang="en-US" sz="2000">
                <a:solidFill>
                  <a:srgbClr val="1C2833"/>
                </a:solidFill>
                <a:latin typeface="Calibri" panose="020F0502020204030204" pitchFamily="34" charset="0"/>
                <a:ea typeface="Calibri" panose="020F0502020204030204" pitchFamily="34" charset="0"/>
                <a:cs typeface="Calibri" panose="020F0502020204030204" pitchFamily="34" charset="0"/>
              </a:rPr>
              <a:t>atteintes </a:t>
            </a:r>
            <a:endParaRPr lang="en-US" sz="2000" dirty="0">
              <a:solidFill>
                <a:srgbClr val="1C2833"/>
              </a:solidFill>
              <a:latin typeface="Calibri" panose="020F0502020204030204" pitchFamily="34" charset="0"/>
              <a:ea typeface="Calibri" panose="020F0502020204030204" pitchFamily="34" charset="0"/>
              <a:cs typeface="Calibri" panose="020F0502020204030204" pitchFamily="34" charset="0"/>
            </a:endParaRPr>
          </a:p>
          <a:p>
            <a:r>
              <a:rPr lang="en-US" sz="2000" dirty="0">
                <a:solidFill>
                  <a:srgbClr val="1C2833"/>
                </a:solidFill>
                <a:latin typeface="Calibri" panose="020F0502020204030204" pitchFamily="34" charset="0"/>
                <a:ea typeface="Calibri" panose="020F0502020204030204" pitchFamily="34" charset="0"/>
                <a:cs typeface="Calibri" panose="020F0502020204030204" pitchFamily="34" charset="0"/>
              </a:rPr>
              <a:t>YOLO11s v5 mAP@0.5=0.769 · Zone impact 82.8% · </a:t>
            </a:r>
            <a:r>
              <a:rPr lang="en-US" sz="2000" dirty="0" err="1">
                <a:solidFill>
                  <a:srgbClr val="1C2833"/>
                </a:solidFill>
                <a:latin typeface="Calibri" panose="020F0502020204030204" pitchFamily="34" charset="0"/>
                <a:ea typeface="Calibri" panose="020F0502020204030204" pitchFamily="34" charset="0"/>
                <a:cs typeface="Calibri" panose="020F0502020204030204" pitchFamily="34" charset="0"/>
              </a:rPr>
              <a:t>Sévérité</a:t>
            </a:r>
            <a:r>
              <a:rPr lang="en-US" sz="2000" dirty="0">
                <a:solidFill>
                  <a:srgbClr val="1C2833"/>
                </a:solidFill>
                <a:latin typeface="Calibri" panose="020F0502020204030204" pitchFamily="34" charset="0"/>
                <a:ea typeface="Calibri" panose="020F0502020204030204" pitchFamily="34" charset="0"/>
                <a:cs typeface="Calibri" panose="020F0502020204030204" pitchFamily="34" charset="0"/>
              </a:rPr>
              <a:t> mAP@0.5=0.806 · Filtre multi-véhicules · Rapport Markdown automatique</a:t>
            </a: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
        <p:nvSpPr>
          <p:cNvPr id="1249" name="Text 199">
            <a:extLst>
              <a:ext uri="{FF2B5EF4-FFF2-40B4-BE49-F238E27FC236}">
                <a16:creationId xmlns:a16="http://schemas.microsoft.com/office/drawing/2014/main" id="{847919C6-EE23-D1B3-5D5A-6C64C6E771F5}"/>
              </a:ext>
            </a:extLst>
          </p:cNvPr>
          <p:cNvSpPr/>
          <p:nvPr/>
        </p:nvSpPr>
        <p:spPr>
          <a:xfrm>
            <a:off x="27199882" y="24211615"/>
            <a:ext cx="11612880" cy="548640"/>
          </a:xfrm>
          <a:prstGeom prst="rect">
            <a:avLst/>
          </a:prstGeom>
          <a:noFill/>
          <a:ln/>
        </p:spPr>
        <p:txBody>
          <a:bodyPr wrap="square" rtlCol="0" anchor="ctr"/>
          <a:lstStyle/>
          <a:p>
            <a:pPr marL="0" indent="0">
              <a:buNone/>
            </a:pPr>
            <a:r>
              <a:rPr lang="en-US" sz="2400" b="1" dirty="0">
                <a:solidFill>
                  <a:srgbClr val="1A2B5E"/>
                </a:solidFill>
                <a:latin typeface="Calibri" pitchFamily="34" charset="0"/>
                <a:ea typeface="Calibri" pitchFamily="34" charset="-122"/>
                <a:cs typeface="Calibri" pitchFamily="34" charset="-120"/>
              </a:rPr>
              <a:t>Travaux futurs — 3 priorités :</a:t>
            </a:r>
            <a:endParaRPr lang="en-US" sz="2400" dirty="0"/>
          </a:p>
        </p:txBody>
      </p:sp>
      <p:sp>
        <p:nvSpPr>
          <p:cNvPr id="1250" name="Shape 200">
            <a:extLst>
              <a:ext uri="{FF2B5EF4-FFF2-40B4-BE49-F238E27FC236}">
                <a16:creationId xmlns:a16="http://schemas.microsoft.com/office/drawing/2014/main" id="{1D2E75FD-4599-963F-10E7-7AB634C73944}"/>
              </a:ext>
            </a:extLst>
          </p:cNvPr>
          <p:cNvSpPr/>
          <p:nvPr/>
        </p:nvSpPr>
        <p:spPr>
          <a:xfrm>
            <a:off x="27199882" y="24897415"/>
            <a:ext cx="11612880" cy="1005840"/>
          </a:xfrm>
          <a:prstGeom prst="rect">
            <a:avLst/>
          </a:prstGeom>
          <a:solidFill>
            <a:srgbClr val="F4F7FC"/>
          </a:solidFill>
          <a:ln w="12700">
            <a:solidFill>
              <a:srgbClr val="C5D3E8"/>
            </a:solidFill>
            <a:prstDash val="solid"/>
          </a:ln>
          <a:effectLst>
            <a:outerShdw blurRad="63500" dist="25400" dir="8100000" algn="bl" rotWithShape="0">
              <a:srgbClr val="000000">
                <a:alpha val="10000"/>
              </a:srgbClr>
            </a:outerShdw>
          </a:effectLst>
        </p:spPr>
        <p:txBody>
          <a:bodyPr/>
          <a:lstStyle/>
          <a:p>
            <a:endParaRPr lang="fr-CA" sz="2200"/>
          </a:p>
        </p:txBody>
      </p:sp>
      <p:sp>
        <p:nvSpPr>
          <p:cNvPr id="1251" name="Shape 201">
            <a:extLst>
              <a:ext uri="{FF2B5EF4-FFF2-40B4-BE49-F238E27FC236}">
                <a16:creationId xmlns:a16="http://schemas.microsoft.com/office/drawing/2014/main" id="{CB54E3D7-EBD8-1DE6-B33C-666A7C7244FB}"/>
              </a:ext>
            </a:extLst>
          </p:cNvPr>
          <p:cNvSpPr/>
          <p:nvPr/>
        </p:nvSpPr>
        <p:spPr>
          <a:xfrm>
            <a:off x="27199882" y="24897415"/>
            <a:ext cx="182880" cy="1005840"/>
          </a:xfrm>
          <a:prstGeom prst="rect">
            <a:avLst/>
          </a:prstGeom>
          <a:solidFill>
            <a:srgbClr val="1A2B5E"/>
          </a:solidFill>
          <a:ln w="12700">
            <a:solidFill>
              <a:srgbClr val="1A2B5E"/>
            </a:solidFill>
            <a:prstDash val="solid"/>
          </a:ln>
        </p:spPr>
        <p:txBody>
          <a:bodyPr/>
          <a:lstStyle/>
          <a:p>
            <a:endParaRPr lang="fr-CA" sz="2200"/>
          </a:p>
        </p:txBody>
      </p:sp>
      <p:sp>
        <p:nvSpPr>
          <p:cNvPr id="1252" name="Text 202">
            <a:extLst>
              <a:ext uri="{FF2B5EF4-FFF2-40B4-BE49-F238E27FC236}">
                <a16:creationId xmlns:a16="http://schemas.microsoft.com/office/drawing/2014/main" id="{5C35FE06-C2CF-9B9C-CBF6-3C540AC100ED}"/>
              </a:ext>
            </a:extLst>
          </p:cNvPr>
          <p:cNvSpPr/>
          <p:nvPr/>
        </p:nvSpPr>
        <p:spPr>
          <a:xfrm>
            <a:off x="27474202" y="24961423"/>
            <a:ext cx="11247120" cy="457200"/>
          </a:xfrm>
          <a:prstGeom prst="rect">
            <a:avLst/>
          </a:prstGeom>
          <a:noFill/>
          <a:ln/>
        </p:spPr>
        <p:txBody>
          <a:bodyPr wrap="square" rtlCol="0" anchor="ctr"/>
          <a:lstStyle/>
          <a:p>
            <a:pPr marL="0" indent="0">
              <a:buNone/>
            </a:pPr>
            <a:r>
              <a:rPr lang="en-US" sz="2200" b="1" dirty="0">
                <a:solidFill>
                  <a:srgbClr val="1A2B5E"/>
                </a:solidFill>
                <a:latin typeface="Calibri" pitchFamily="34" charset="0"/>
                <a:ea typeface="Calibri" pitchFamily="34" charset="-122"/>
                <a:cs typeface="Calibri" pitchFamily="34" charset="-120"/>
              </a:rPr>
              <a:t>1. Plus de données ciblées</a:t>
            </a:r>
            <a:endParaRPr lang="en-US" sz="2200" dirty="0"/>
          </a:p>
        </p:txBody>
      </p:sp>
      <p:sp>
        <p:nvSpPr>
          <p:cNvPr id="1253" name="Text 203">
            <a:extLst>
              <a:ext uri="{FF2B5EF4-FFF2-40B4-BE49-F238E27FC236}">
                <a16:creationId xmlns:a16="http://schemas.microsoft.com/office/drawing/2014/main" id="{C9E1F214-0524-FF79-A392-6504C5AE673C}"/>
              </a:ext>
            </a:extLst>
          </p:cNvPr>
          <p:cNvSpPr/>
          <p:nvPr/>
        </p:nvSpPr>
        <p:spPr>
          <a:xfrm>
            <a:off x="27474202" y="25418623"/>
            <a:ext cx="11247120" cy="411480"/>
          </a:xfrm>
          <a:prstGeom prst="rect">
            <a:avLst/>
          </a:prstGeom>
          <a:noFill/>
          <a:ln/>
        </p:spPr>
        <p:txBody>
          <a:bodyPr wrap="square" rtlCol="0" anchor="t"/>
          <a:lstStyle/>
          <a:p>
            <a:r>
              <a:rPr lang="en-US" sz="2200" dirty="0">
                <a:solidFill>
                  <a:srgbClr val="1C2833"/>
                </a:solidFill>
                <a:latin typeface="Calibri" pitchFamily="34" charset="0"/>
                <a:ea typeface="Calibri" pitchFamily="34" charset="-122"/>
                <a:cs typeface="Calibri" pitchFamily="34" charset="-120"/>
              </a:rPr>
              <a:t>150-200 images de plus par </a:t>
            </a:r>
            <a:r>
              <a:rPr lang="en-US" sz="2200" dirty="0" err="1">
                <a:solidFill>
                  <a:srgbClr val="1C2833"/>
                </a:solidFill>
                <a:latin typeface="Calibri" pitchFamily="34" charset="0"/>
                <a:ea typeface="Calibri" pitchFamily="34" charset="-122"/>
                <a:cs typeface="Calibri" pitchFamily="34" charset="-120"/>
              </a:rPr>
              <a:t>classe</a:t>
            </a:r>
            <a:r>
              <a:rPr lang="en-US" sz="2200" dirty="0">
                <a:solidFill>
                  <a:srgbClr val="1C2833"/>
                </a:solidFill>
                <a:latin typeface="Calibri" pitchFamily="34" charset="0"/>
                <a:ea typeface="Calibri" pitchFamily="34" charset="-122"/>
                <a:cs typeface="Calibri" pitchFamily="34" charset="-120"/>
              </a:rPr>
              <a:t> </a:t>
            </a:r>
            <a:r>
              <a:rPr lang="en-US" sz="2200" dirty="0" err="1">
                <a:solidFill>
                  <a:srgbClr val="1C2833"/>
                </a:solidFill>
                <a:latin typeface="Calibri" pitchFamily="34" charset="0"/>
                <a:ea typeface="Calibri" pitchFamily="34" charset="-122"/>
                <a:cs typeface="Calibri" pitchFamily="34" charset="-120"/>
              </a:rPr>
              <a:t>faible</a:t>
            </a:r>
            <a:r>
              <a:rPr lang="en-US" sz="2200" dirty="0">
                <a:solidFill>
                  <a:srgbClr val="1C2833"/>
                </a:solidFill>
                <a:latin typeface="Calibri" pitchFamily="34" charset="0"/>
                <a:ea typeface="Calibri" pitchFamily="34" charset="-122"/>
                <a:cs typeface="Calibri" pitchFamily="34" charset="-120"/>
              </a:rPr>
              <a:t> → phare, capot, rétroviseur en priorité</a:t>
            </a:r>
            <a:endParaRPr lang="en-US" sz="2200" dirty="0"/>
          </a:p>
        </p:txBody>
      </p:sp>
      <p:sp>
        <p:nvSpPr>
          <p:cNvPr id="1254" name="Shape 204">
            <a:extLst>
              <a:ext uri="{FF2B5EF4-FFF2-40B4-BE49-F238E27FC236}">
                <a16:creationId xmlns:a16="http://schemas.microsoft.com/office/drawing/2014/main" id="{B2A1152B-4DAF-81EA-E188-798D6F852B2A}"/>
              </a:ext>
            </a:extLst>
          </p:cNvPr>
          <p:cNvSpPr/>
          <p:nvPr/>
        </p:nvSpPr>
        <p:spPr>
          <a:xfrm>
            <a:off x="27199882" y="26012983"/>
            <a:ext cx="11612880" cy="1005840"/>
          </a:xfrm>
          <a:prstGeom prst="rect">
            <a:avLst/>
          </a:prstGeom>
          <a:solidFill>
            <a:srgbClr val="F4F7FC"/>
          </a:solidFill>
          <a:ln w="12700">
            <a:solidFill>
              <a:srgbClr val="C5D3E8"/>
            </a:solidFill>
            <a:prstDash val="solid"/>
          </a:ln>
          <a:effectLst>
            <a:outerShdw blurRad="63500" dist="25400" dir="8100000" algn="bl" rotWithShape="0">
              <a:srgbClr val="000000">
                <a:alpha val="10000"/>
              </a:srgbClr>
            </a:outerShdw>
          </a:effectLst>
        </p:spPr>
        <p:txBody>
          <a:bodyPr/>
          <a:lstStyle/>
          <a:p>
            <a:endParaRPr lang="fr-CA" sz="2200"/>
          </a:p>
        </p:txBody>
      </p:sp>
      <p:sp>
        <p:nvSpPr>
          <p:cNvPr id="1255" name="Shape 205">
            <a:extLst>
              <a:ext uri="{FF2B5EF4-FFF2-40B4-BE49-F238E27FC236}">
                <a16:creationId xmlns:a16="http://schemas.microsoft.com/office/drawing/2014/main" id="{69695541-E841-C0C9-5F20-2BD832F44FF9}"/>
              </a:ext>
            </a:extLst>
          </p:cNvPr>
          <p:cNvSpPr/>
          <p:nvPr/>
        </p:nvSpPr>
        <p:spPr>
          <a:xfrm>
            <a:off x="27199882" y="26012983"/>
            <a:ext cx="182880" cy="1005840"/>
          </a:xfrm>
          <a:prstGeom prst="rect">
            <a:avLst/>
          </a:prstGeom>
          <a:solidFill>
            <a:srgbClr val="2E86C1"/>
          </a:solidFill>
          <a:ln w="12700">
            <a:solidFill>
              <a:srgbClr val="2E86C1"/>
            </a:solidFill>
            <a:prstDash val="solid"/>
          </a:ln>
        </p:spPr>
        <p:txBody>
          <a:bodyPr/>
          <a:lstStyle/>
          <a:p>
            <a:endParaRPr lang="fr-CA" sz="2200"/>
          </a:p>
        </p:txBody>
      </p:sp>
      <p:sp>
        <p:nvSpPr>
          <p:cNvPr id="1256" name="Text 206">
            <a:extLst>
              <a:ext uri="{FF2B5EF4-FFF2-40B4-BE49-F238E27FC236}">
                <a16:creationId xmlns:a16="http://schemas.microsoft.com/office/drawing/2014/main" id="{0D8874FA-BA7A-B82C-5F78-8CB266CCDADA}"/>
              </a:ext>
            </a:extLst>
          </p:cNvPr>
          <p:cNvSpPr/>
          <p:nvPr/>
        </p:nvSpPr>
        <p:spPr>
          <a:xfrm>
            <a:off x="27474202" y="26076991"/>
            <a:ext cx="11247120" cy="457200"/>
          </a:xfrm>
          <a:prstGeom prst="rect">
            <a:avLst/>
          </a:prstGeom>
          <a:noFill/>
          <a:ln/>
        </p:spPr>
        <p:txBody>
          <a:bodyPr wrap="square" rtlCol="0" anchor="ctr"/>
          <a:lstStyle/>
          <a:p>
            <a:pPr marL="0" indent="0">
              <a:buNone/>
            </a:pPr>
            <a:r>
              <a:rPr lang="en-US" sz="2200" b="1" dirty="0">
                <a:solidFill>
                  <a:srgbClr val="2E86C1"/>
                </a:solidFill>
                <a:latin typeface="Calibri" pitchFamily="34" charset="0"/>
                <a:ea typeface="Calibri" pitchFamily="34" charset="-122"/>
                <a:cs typeface="Calibri" pitchFamily="34" charset="-120"/>
              </a:rPr>
              <a:t>2. YOLO11s-seg (segmentation)</a:t>
            </a:r>
            <a:endParaRPr lang="en-US" sz="2200" dirty="0"/>
          </a:p>
        </p:txBody>
      </p:sp>
      <p:sp>
        <p:nvSpPr>
          <p:cNvPr id="1257" name="Text 207">
            <a:extLst>
              <a:ext uri="{FF2B5EF4-FFF2-40B4-BE49-F238E27FC236}">
                <a16:creationId xmlns:a16="http://schemas.microsoft.com/office/drawing/2014/main" id="{9A4189FF-BF9B-9243-7F9C-4C60B4C8E62E}"/>
              </a:ext>
            </a:extLst>
          </p:cNvPr>
          <p:cNvSpPr/>
          <p:nvPr/>
        </p:nvSpPr>
        <p:spPr>
          <a:xfrm>
            <a:off x="27474202" y="26534191"/>
            <a:ext cx="11247120" cy="411480"/>
          </a:xfrm>
          <a:prstGeom prst="rect">
            <a:avLst/>
          </a:prstGeom>
          <a:noFill/>
          <a:ln/>
        </p:spPr>
        <p:txBody>
          <a:bodyPr wrap="square" rtlCol="0" anchor="t"/>
          <a:lstStyle/>
          <a:p>
            <a:pPr marL="0" indent="0">
              <a:buNone/>
            </a:pPr>
            <a:r>
              <a:rPr lang="en-US" sz="2200" dirty="0">
                <a:solidFill>
                  <a:srgbClr val="1C2833"/>
                </a:solidFill>
                <a:latin typeface="Calibri" pitchFamily="34" charset="0"/>
                <a:ea typeface="Calibri" pitchFamily="34" charset="-122"/>
                <a:cs typeface="Calibri" pitchFamily="34" charset="-120"/>
              </a:rPr>
              <a:t>Masques de pixels → filtrage plus précis + surface réelle des dommages</a:t>
            </a:r>
            <a:endParaRPr lang="en-US" sz="2200" dirty="0"/>
          </a:p>
        </p:txBody>
      </p:sp>
      <p:sp>
        <p:nvSpPr>
          <p:cNvPr id="1258" name="Shape 208">
            <a:extLst>
              <a:ext uri="{FF2B5EF4-FFF2-40B4-BE49-F238E27FC236}">
                <a16:creationId xmlns:a16="http://schemas.microsoft.com/office/drawing/2014/main" id="{E5818506-7D6F-5851-0687-772F0504F3CB}"/>
              </a:ext>
            </a:extLst>
          </p:cNvPr>
          <p:cNvSpPr/>
          <p:nvPr/>
        </p:nvSpPr>
        <p:spPr>
          <a:xfrm>
            <a:off x="27199882" y="27128551"/>
            <a:ext cx="11612880" cy="1005840"/>
          </a:xfrm>
          <a:prstGeom prst="rect">
            <a:avLst/>
          </a:prstGeom>
          <a:solidFill>
            <a:srgbClr val="F4F7FC"/>
          </a:solidFill>
          <a:ln w="12700">
            <a:solidFill>
              <a:srgbClr val="C5D3E8"/>
            </a:solidFill>
            <a:prstDash val="solid"/>
          </a:ln>
          <a:effectLst>
            <a:outerShdw blurRad="63500" dist="25400" dir="8100000" algn="bl" rotWithShape="0">
              <a:srgbClr val="000000">
                <a:alpha val="10000"/>
              </a:srgbClr>
            </a:outerShdw>
          </a:effectLst>
        </p:spPr>
        <p:txBody>
          <a:bodyPr/>
          <a:lstStyle/>
          <a:p>
            <a:endParaRPr lang="fr-CA" sz="2200"/>
          </a:p>
        </p:txBody>
      </p:sp>
      <p:sp>
        <p:nvSpPr>
          <p:cNvPr id="1259" name="Shape 209">
            <a:extLst>
              <a:ext uri="{FF2B5EF4-FFF2-40B4-BE49-F238E27FC236}">
                <a16:creationId xmlns:a16="http://schemas.microsoft.com/office/drawing/2014/main" id="{0598E41E-D066-9F53-E9CD-B7A06C77BCE9}"/>
              </a:ext>
            </a:extLst>
          </p:cNvPr>
          <p:cNvSpPr/>
          <p:nvPr/>
        </p:nvSpPr>
        <p:spPr>
          <a:xfrm>
            <a:off x="27199882" y="27128551"/>
            <a:ext cx="182880" cy="1005840"/>
          </a:xfrm>
          <a:prstGeom prst="rect">
            <a:avLst/>
          </a:prstGeom>
          <a:solidFill>
            <a:srgbClr val="27AE60"/>
          </a:solidFill>
          <a:ln w="12700">
            <a:solidFill>
              <a:srgbClr val="27AE60"/>
            </a:solidFill>
            <a:prstDash val="solid"/>
          </a:ln>
        </p:spPr>
        <p:txBody>
          <a:bodyPr/>
          <a:lstStyle/>
          <a:p>
            <a:endParaRPr lang="fr-CA" sz="2200"/>
          </a:p>
        </p:txBody>
      </p:sp>
      <p:sp>
        <p:nvSpPr>
          <p:cNvPr id="1260" name="Text 210">
            <a:extLst>
              <a:ext uri="{FF2B5EF4-FFF2-40B4-BE49-F238E27FC236}">
                <a16:creationId xmlns:a16="http://schemas.microsoft.com/office/drawing/2014/main" id="{37C74464-9C89-50C7-7AAB-F2CAE3F55495}"/>
              </a:ext>
            </a:extLst>
          </p:cNvPr>
          <p:cNvSpPr/>
          <p:nvPr/>
        </p:nvSpPr>
        <p:spPr>
          <a:xfrm>
            <a:off x="27474202" y="27192559"/>
            <a:ext cx="11247120" cy="457200"/>
          </a:xfrm>
          <a:prstGeom prst="rect">
            <a:avLst/>
          </a:prstGeom>
          <a:noFill/>
          <a:ln/>
        </p:spPr>
        <p:txBody>
          <a:bodyPr wrap="square" rtlCol="0" anchor="ctr"/>
          <a:lstStyle/>
          <a:p>
            <a:pPr marL="0" indent="0">
              <a:buNone/>
            </a:pPr>
            <a:r>
              <a:rPr lang="en-US" sz="2200" b="1" dirty="0">
                <a:solidFill>
                  <a:srgbClr val="27AE60"/>
                </a:solidFill>
                <a:latin typeface="Calibri" pitchFamily="34" charset="0"/>
                <a:ea typeface="Calibri" pitchFamily="34" charset="-122"/>
                <a:cs typeface="Calibri" pitchFamily="34" charset="-120"/>
              </a:rPr>
              <a:t>3. Régression sur embeddings</a:t>
            </a:r>
            <a:endParaRPr lang="en-US" sz="2200" dirty="0"/>
          </a:p>
        </p:txBody>
      </p:sp>
      <p:sp>
        <p:nvSpPr>
          <p:cNvPr id="1261" name="Text 211">
            <a:extLst>
              <a:ext uri="{FF2B5EF4-FFF2-40B4-BE49-F238E27FC236}">
                <a16:creationId xmlns:a16="http://schemas.microsoft.com/office/drawing/2014/main" id="{CE912D19-46A9-04D3-13D5-54243A524B68}"/>
              </a:ext>
            </a:extLst>
          </p:cNvPr>
          <p:cNvSpPr/>
          <p:nvPr/>
        </p:nvSpPr>
        <p:spPr>
          <a:xfrm>
            <a:off x="27474202" y="27649759"/>
            <a:ext cx="11247120" cy="411480"/>
          </a:xfrm>
          <a:prstGeom prst="rect">
            <a:avLst/>
          </a:prstGeom>
          <a:noFill/>
          <a:ln/>
        </p:spPr>
        <p:txBody>
          <a:bodyPr wrap="square" rtlCol="0" anchor="t"/>
          <a:lstStyle/>
          <a:p>
            <a:pPr marL="0" indent="0">
              <a:buNone/>
            </a:pPr>
            <a:r>
              <a:rPr lang="en-US" sz="2200" dirty="0" err="1">
                <a:solidFill>
                  <a:srgbClr val="1C2833"/>
                </a:solidFill>
                <a:latin typeface="Calibri" pitchFamily="34" charset="0"/>
                <a:ea typeface="Calibri" pitchFamily="34" charset="-122"/>
                <a:cs typeface="Calibri" pitchFamily="34" charset="-120"/>
              </a:rPr>
              <a:t>Composantes</a:t>
            </a:r>
            <a:r>
              <a:rPr lang="en-US" sz="2200" dirty="0">
                <a:solidFill>
                  <a:srgbClr val="1C2833"/>
                </a:solidFill>
                <a:latin typeface="Calibri" pitchFamily="34" charset="0"/>
                <a:ea typeface="Calibri" pitchFamily="34" charset="-122"/>
                <a:cs typeface="Calibri" pitchFamily="34" charset="-120"/>
              </a:rPr>
              <a:t> C2PSA (512 dims) + Random Forest → texture des dommages capturée</a:t>
            </a:r>
            <a:endParaRPr lang="en-US" sz="2200" dirty="0"/>
          </a:p>
        </p:txBody>
      </p:sp>
      <p:sp>
        <p:nvSpPr>
          <p:cNvPr id="1263" name="Text 220">
            <a:extLst>
              <a:ext uri="{FF2B5EF4-FFF2-40B4-BE49-F238E27FC236}">
                <a16:creationId xmlns:a16="http://schemas.microsoft.com/office/drawing/2014/main" id="{05528C7C-6DC1-8326-1EE2-361F4840C1D8}"/>
              </a:ext>
            </a:extLst>
          </p:cNvPr>
          <p:cNvSpPr/>
          <p:nvPr/>
        </p:nvSpPr>
        <p:spPr>
          <a:xfrm>
            <a:off x="25443485" y="29130859"/>
            <a:ext cx="5734251" cy="2285879"/>
          </a:xfrm>
          <a:prstGeom prst="rect">
            <a:avLst/>
          </a:prstGeom>
          <a:noFill/>
          <a:ln/>
        </p:spPr>
        <p:txBody>
          <a:bodyPr wrap="square" rtlCol="0" anchor="t"/>
          <a:lstStyle/>
          <a:p>
            <a:pPr algn="ctr"/>
            <a:r>
              <a:rPr lang="en-US" sz="4000" b="1" dirty="0">
                <a:solidFill>
                  <a:srgbClr val="D9E8F8"/>
                </a:solidFill>
                <a:latin typeface="Calibri" pitchFamily="34" charset="0"/>
                <a:ea typeface="Calibri" pitchFamily="34" charset="-122"/>
                <a:cs typeface="Calibri" pitchFamily="34" charset="-120"/>
              </a:rPr>
              <a:t>Contact</a:t>
            </a:r>
            <a:endParaRPr lang="en-US" sz="4000" dirty="0"/>
          </a:p>
          <a:p>
            <a:pPr algn="ctr"/>
            <a:endParaRPr lang="en-US" sz="2400" dirty="0">
              <a:solidFill>
                <a:srgbClr val="D9E8F8"/>
              </a:solidFill>
              <a:latin typeface="Calibri" pitchFamily="34" charset="0"/>
              <a:ea typeface="Calibri" pitchFamily="34" charset="-122"/>
              <a:cs typeface="Calibri" pitchFamily="34" charset="-120"/>
            </a:endParaRPr>
          </a:p>
          <a:p>
            <a:pPr algn="ctr"/>
            <a:r>
              <a:rPr lang="en-US" sz="2400" dirty="0">
                <a:solidFill>
                  <a:srgbClr val="D9E8F8"/>
                </a:solidFill>
                <a:latin typeface="Calibri" pitchFamily="34" charset="0"/>
                <a:ea typeface="Calibri" pitchFamily="34" charset="-122"/>
                <a:cs typeface="Calibri" pitchFamily="34" charset="-120"/>
              </a:rPr>
              <a:t>Yannick Poirier
Yannick.Poirier@uqtr.ca
INF1022 — </a:t>
            </a:r>
            <a:r>
              <a:rPr lang="en-US" sz="2400" dirty="0" err="1">
                <a:solidFill>
                  <a:srgbClr val="D9E8F8"/>
                </a:solidFill>
                <a:latin typeface="Calibri" pitchFamily="34" charset="0"/>
                <a:ea typeface="Calibri" pitchFamily="34" charset="-122"/>
                <a:cs typeface="Calibri" pitchFamily="34" charset="-120"/>
              </a:rPr>
              <a:t>Projet</a:t>
            </a:r>
            <a:r>
              <a:rPr lang="en-US" sz="2400" dirty="0">
                <a:solidFill>
                  <a:srgbClr val="D9E8F8"/>
                </a:solidFill>
                <a:latin typeface="Calibri" pitchFamily="34" charset="0"/>
                <a:ea typeface="Calibri" pitchFamily="34" charset="-122"/>
                <a:cs typeface="Calibri" pitchFamily="34" charset="-120"/>
              </a:rPr>
              <a:t> de </a:t>
            </a:r>
            <a:r>
              <a:rPr lang="en-US" sz="2400" dirty="0" err="1">
                <a:solidFill>
                  <a:srgbClr val="D9E8F8"/>
                </a:solidFill>
                <a:latin typeface="Calibri" pitchFamily="34" charset="0"/>
                <a:ea typeface="Calibri" pitchFamily="34" charset="-122"/>
                <a:cs typeface="Calibri" pitchFamily="34" charset="-120"/>
              </a:rPr>
              <a:t>synthèse</a:t>
            </a:r>
            <a:r>
              <a:rPr lang="en-US" sz="2400" dirty="0">
                <a:solidFill>
                  <a:srgbClr val="D9E8F8"/>
                </a:solidFill>
                <a:latin typeface="Calibri" pitchFamily="34" charset="0"/>
                <a:ea typeface="Calibri" pitchFamily="34" charset="-122"/>
                <a:cs typeface="Calibri" pitchFamily="34" charset="-120"/>
              </a:rPr>
              <a:t>
Université du Québec à Trois-Rivières
Département Math-Info (DMI)</a:t>
            </a:r>
          </a:p>
          <a:p>
            <a:pPr algn="ctr"/>
            <a:r>
              <a:rPr lang="en-US" sz="2400" dirty="0">
                <a:solidFill>
                  <a:srgbClr val="D9E8F8"/>
                </a:solidFill>
                <a:latin typeface="Calibri" pitchFamily="34" charset="0"/>
                <a:ea typeface="Calibri" pitchFamily="34" charset="-122"/>
                <a:cs typeface="Calibri" pitchFamily="34" charset="-120"/>
              </a:rPr>
              <a:t>Hiver 2026</a:t>
            </a:r>
            <a:endParaRPr lang="en-US" sz="2400" dirty="0"/>
          </a:p>
        </p:txBody>
      </p:sp>
      <p:sp>
        <p:nvSpPr>
          <p:cNvPr id="1264" name="Text 222">
            <a:extLst>
              <a:ext uri="{FF2B5EF4-FFF2-40B4-BE49-F238E27FC236}">
                <a16:creationId xmlns:a16="http://schemas.microsoft.com/office/drawing/2014/main" id="{1C50A7A3-3DB2-0708-9472-FB775F34A121}"/>
              </a:ext>
            </a:extLst>
          </p:cNvPr>
          <p:cNvSpPr/>
          <p:nvPr/>
        </p:nvSpPr>
        <p:spPr>
          <a:xfrm>
            <a:off x="34645723" y="29252088"/>
            <a:ext cx="4714123" cy="2558034"/>
          </a:xfrm>
          <a:prstGeom prst="rect">
            <a:avLst/>
          </a:prstGeom>
          <a:noFill/>
          <a:ln/>
        </p:spPr>
        <p:txBody>
          <a:bodyPr wrap="square"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Code &amp; Notebook</a:t>
            </a:r>
          </a:p>
          <a:p>
            <a:pPr marL="0" indent="0" algn="ctr">
              <a:buNone/>
            </a:pPr>
            <a:r>
              <a:rPr lang="en-US" sz="2800" b="1" dirty="0">
                <a:solidFill>
                  <a:srgbClr val="FFFFFF"/>
                </a:solidFill>
                <a:latin typeface="Calibri" pitchFamily="34" charset="0"/>
                <a:ea typeface="Calibri" pitchFamily="34" charset="-122"/>
                <a:cs typeface="Calibri" pitchFamily="34" charset="-120"/>
              </a:rPr>
              <a:t>
</a:t>
            </a:r>
            <a:r>
              <a:rPr lang="en-US" sz="2400" dirty="0">
                <a:solidFill>
                  <a:srgbClr val="FFFFFF"/>
                </a:solidFill>
                <a:latin typeface="Calibri" pitchFamily="34" charset="0"/>
                <a:ea typeface="Calibri" pitchFamily="34" charset="-122"/>
                <a:cs typeface="Calibri" pitchFamily="34" charset="-120"/>
              </a:rPr>
              <a:t>Google </a:t>
            </a:r>
            <a:r>
              <a:rPr lang="en-US" sz="2400" dirty="0" err="1">
                <a:solidFill>
                  <a:srgbClr val="FFFFFF"/>
                </a:solidFill>
                <a:latin typeface="Calibri" pitchFamily="34" charset="0"/>
                <a:ea typeface="Calibri" pitchFamily="34" charset="-122"/>
                <a:cs typeface="Calibri" pitchFamily="34" charset="-120"/>
              </a:rPr>
              <a:t>Colab</a:t>
            </a:r>
            <a:endParaRPr lang="en-US" sz="2400" dirty="0">
              <a:solidFill>
                <a:srgbClr val="FFFFFF"/>
              </a:solidFill>
              <a:latin typeface="Calibri" pitchFamily="34" charset="0"/>
              <a:ea typeface="Calibri" pitchFamily="34" charset="-122"/>
              <a:cs typeface="Calibri" pitchFamily="34" charset="-120"/>
            </a:endParaRPr>
          </a:p>
          <a:p>
            <a:pPr marL="0" indent="0" algn="ctr">
              <a:buNone/>
            </a:pPr>
            <a:r>
              <a:rPr lang="en-US" sz="2400" dirty="0">
                <a:solidFill>
                  <a:srgbClr val="FFFFFF"/>
                </a:solidFill>
                <a:latin typeface="Calibri" pitchFamily="34" charset="0"/>
                <a:ea typeface="Calibri" pitchFamily="34" charset="-122"/>
                <a:cs typeface="Calibri" pitchFamily="34" charset="-120"/>
              </a:rPr>
              <a:t>Rapport </a:t>
            </a:r>
            <a:r>
              <a:rPr lang="en-US" sz="2400" dirty="0" err="1">
                <a:solidFill>
                  <a:srgbClr val="FFFFFF"/>
                </a:solidFill>
                <a:latin typeface="Calibri" pitchFamily="34" charset="0"/>
                <a:ea typeface="Calibri" pitchFamily="34" charset="-122"/>
                <a:cs typeface="Calibri" pitchFamily="34" charset="-120"/>
              </a:rPr>
              <a:t>complet</a:t>
            </a:r>
            <a:r>
              <a:rPr lang="en-US" sz="2800" i="1" dirty="0">
                <a:solidFill>
                  <a:srgbClr val="FFFFFF"/>
                </a:solidFill>
                <a:latin typeface="Calibri" pitchFamily="34" charset="0"/>
                <a:ea typeface="Calibri" pitchFamily="34" charset="-122"/>
                <a:cs typeface="Calibri" pitchFamily="34" charset="-120"/>
              </a:rPr>
              <a:t>
</a:t>
            </a:r>
            <a:r>
              <a:rPr lang="en-US" sz="2400" dirty="0">
                <a:solidFill>
                  <a:srgbClr val="FFFFFF"/>
                </a:solidFill>
                <a:latin typeface="Calibri" pitchFamily="34" charset="0"/>
                <a:ea typeface="Calibri" pitchFamily="34" charset="-122"/>
                <a:cs typeface="Calibri" pitchFamily="34" charset="-120"/>
              </a:rPr>
              <a:t>Pipeline complet documenté</a:t>
            </a:r>
            <a:endParaRPr lang="en-US" sz="3200" dirty="0"/>
          </a:p>
          <a:p>
            <a:pPr marL="0" indent="0" algn="ctr">
              <a:buNone/>
            </a:pPr>
            <a:r>
              <a:rPr lang="en-US" sz="2400" dirty="0">
                <a:solidFill>
                  <a:srgbClr val="FFFFFF"/>
                </a:solidFill>
                <a:latin typeface="Calibri" pitchFamily="34" charset="0"/>
                <a:ea typeface="Calibri" pitchFamily="34" charset="-122"/>
                <a:cs typeface="Calibri" pitchFamily="34" charset="-120"/>
              </a:rPr>
              <a:t>3 modèles + filtre spatial</a:t>
            </a:r>
            <a:endParaRPr lang="en-US" sz="3200" dirty="0"/>
          </a:p>
          <a:p>
            <a:pPr marL="0" indent="0" algn="ctr">
              <a:buNone/>
            </a:pPr>
            <a:r>
              <a:rPr lang="en-US" sz="2400" dirty="0">
                <a:solidFill>
                  <a:srgbClr val="FFFFFF"/>
                </a:solidFill>
                <a:latin typeface="Calibri" pitchFamily="34" charset="0"/>
                <a:ea typeface="Calibri" pitchFamily="34" charset="-122"/>
                <a:cs typeface="Calibri" pitchFamily="34" charset="-120"/>
              </a:rPr>
              <a:t>+ rapport Markdown auto</a:t>
            </a:r>
            <a:endParaRPr lang="en-US" sz="3200" dirty="0"/>
          </a:p>
        </p:txBody>
      </p:sp>
      <p:sp>
        <p:nvSpPr>
          <p:cNvPr id="1305" name="Shape 20">
            <a:extLst>
              <a:ext uri="{FF2B5EF4-FFF2-40B4-BE49-F238E27FC236}">
                <a16:creationId xmlns:a16="http://schemas.microsoft.com/office/drawing/2014/main" id="{2346EB4F-6175-B331-638D-708C89D51092}"/>
              </a:ext>
            </a:extLst>
          </p:cNvPr>
          <p:cNvSpPr/>
          <p:nvPr/>
        </p:nvSpPr>
        <p:spPr>
          <a:xfrm>
            <a:off x="27081029" y="10439575"/>
            <a:ext cx="5798594" cy="1763260"/>
          </a:xfrm>
          <a:prstGeom prst="rect">
            <a:avLst/>
          </a:prstGeom>
          <a:solidFill>
            <a:srgbClr val="E8F5E9"/>
          </a:solidFill>
          <a:ln w="12700">
            <a:solidFill>
              <a:srgbClr val="27AE60"/>
            </a:solidFill>
            <a:prstDash val="solid"/>
          </a:ln>
        </p:spPr>
        <p:txBody>
          <a:bodyPr/>
          <a:lstStyle/>
          <a:p>
            <a:endParaRPr lang="fr-CA" sz="2200">
              <a:latin typeface="Calibri" panose="020F0502020204030204" pitchFamily="34" charset="0"/>
              <a:ea typeface="Calibri" panose="020F0502020204030204" pitchFamily="34" charset="0"/>
              <a:cs typeface="Calibri" panose="020F0502020204030204" pitchFamily="34" charset="0"/>
            </a:endParaRPr>
          </a:p>
        </p:txBody>
      </p:sp>
      <p:sp>
        <p:nvSpPr>
          <p:cNvPr id="1306" name="Shape 21">
            <a:extLst>
              <a:ext uri="{FF2B5EF4-FFF2-40B4-BE49-F238E27FC236}">
                <a16:creationId xmlns:a16="http://schemas.microsoft.com/office/drawing/2014/main" id="{2F60B1FF-71AD-53F2-3380-57EA325DEC5D}"/>
              </a:ext>
            </a:extLst>
          </p:cNvPr>
          <p:cNvSpPr/>
          <p:nvPr/>
        </p:nvSpPr>
        <p:spPr>
          <a:xfrm>
            <a:off x="27081029" y="10439575"/>
            <a:ext cx="90200" cy="1763260"/>
          </a:xfrm>
          <a:prstGeom prst="rect">
            <a:avLst/>
          </a:prstGeom>
          <a:solidFill>
            <a:srgbClr val="27AE60"/>
          </a:solidFill>
          <a:ln w="12700">
            <a:solidFill>
              <a:srgbClr val="27AE60"/>
            </a:solidFill>
            <a:prstDash val="solid"/>
          </a:ln>
        </p:spPr>
        <p:txBody>
          <a:bodyPr/>
          <a:lstStyle/>
          <a:p>
            <a:endParaRPr lang="fr-CA" sz="2200">
              <a:latin typeface="Calibri" panose="020F0502020204030204" pitchFamily="34" charset="0"/>
              <a:ea typeface="Calibri" panose="020F0502020204030204" pitchFamily="34" charset="0"/>
              <a:cs typeface="Calibri" panose="020F0502020204030204" pitchFamily="34" charset="0"/>
            </a:endParaRPr>
          </a:p>
        </p:txBody>
      </p:sp>
      <p:sp>
        <p:nvSpPr>
          <p:cNvPr id="1307" name="Text 22">
            <a:extLst>
              <a:ext uri="{FF2B5EF4-FFF2-40B4-BE49-F238E27FC236}">
                <a16:creationId xmlns:a16="http://schemas.microsoft.com/office/drawing/2014/main" id="{7CC1DEC2-7F04-988E-1728-0478FFEBCCD7}"/>
              </a:ext>
            </a:extLst>
          </p:cNvPr>
          <p:cNvSpPr/>
          <p:nvPr/>
        </p:nvSpPr>
        <p:spPr>
          <a:xfrm>
            <a:off x="27218189" y="10439575"/>
            <a:ext cx="5476450" cy="613308"/>
          </a:xfrm>
          <a:prstGeom prst="rect">
            <a:avLst/>
          </a:prstGeom>
          <a:noFill/>
          <a:ln/>
        </p:spPr>
        <p:txBody>
          <a:bodyPr wrap="square" rtlCol="0" anchor="ctr"/>
          <a:lstStyle/>
          <a:p>
            <a:pPr marL="0" indent="0">
              <a:buNone/>
            </a:pPr>
            <a:r>
              <a:rPr lang="en-US" sz="2200" b="1" dirty="0">
                <a:solidFill>
                  <a:srgbClr val="27AE60"/>
                </a:solidFill>
                <a:latin typeface="Calibri" panose="020F0502020204030204" pitchFamily="34" charset="0"/>
                <a:ea typeface="Calibri" panose="020F0502020204030204" pitchFamily="34" charset="0"/>
                <a:cs typeface="Calibri" panose="020F0502020204030204" pitchFamily="34" charset="0"/>
              </a:rPr>
              <a:t>✓  Vote </a:t>
            </a:r>
            <a:r>
              <a:rPr lang="en-US" sz="2200" b="1" dirty="0" err="1">
                <a:solidFill>
                  <a:srgbClr val="27AE60"/>
                </a:solidFill>
                <a:latin typeface="Calibri" panose="020F0502020204030204" pitchFamily="34" charset="0"/>
                <a:ea typeface="Calibri" panose="020F0502020204030204" pitchFamily="34" charset="0"/>
                <a:cs typeface="Calibri" panose="020F0502020204030204" pitchFamily="34" charset="0"/>
              </a:rPr>
              <a:t>pondéré</a:t>
            </a:r>
            <a:r>
              <a:rPr lang="en-US" sz="2200" b="1" dirty="0">
                <a:solidFill>
                  <a:srgbClr val="27AE60"/>
                </a:solidFill>
                <a:latin typeface="Calibri" panose="020F0502020204030204" pitchFamily="34" charset="0"/>
                <a:ea typeface="Calibri" panose="020F0502020204030204" pitchFamily="34" charset="0"/>
                <a:cs typeface="Calibri" panose="020F0502020204030204" pitchFamily="34" charset="0"/>
              </a:rPr>
              <a:t> + </a:t>
            </a:r>
            <a:r>
              <a:rPr lang="en-US" sz="2200" b="1" dirty="0" err="1">
                <a:solidFill>
                  <a:srgbClr val="27AE60"/>
                </a:solidFill>
                <a:latin typeface="Calibri" panose="020F0502020204030204" pitchFamily="34" charset="0"/>
                <a:ea typeface="Calibri" panose="020F0502020204030204" pitchFamily="34" charset="0"/>
                <a:cs typeface="Calibri" panose="020F0502020204030204" pitchFamily="34" charset="0"/>
              </a:rPr>
              <a:t>classificateur</a:t>
            </a:r>
            <a:r>
              <a:rPr lang="en-US" sz="2200" b="1" dirty="0">
                <a:solidFill>
                  <a:srgbClr val="27AE60"/>
                </a:solidFill>
                <a:latin typeface="Calibri" panose="020F0502020204030204" pitchFamily="34" charset="0"/>
                <a:ea typeface="Calibri" panose="020F0502020204030204" pitchFamily="34" charset="0"/>
                <a:cs typeface="Calibri" panose="020F0502020204030204" pitchFamily="34" charset="0"/>
              </a:rPr>
              <a:t> </a:t>
            </a:r>
            <a:r>
              <a:rPr lang="en-US" sz="2200" b="1" dirty="0" err="1">
                <a:solidFill>
                  <a:srgbClr val="27AE60"/>
                </a:solidFill>
                <a:latin typeface="Calibri" panose="020F0502020204030204" pitchFamily="34" charset="0"/>
                <a:ea typeface="Calibri" panose="020F0502020204030204" pitchFamily="34" charset="0"/>
                <a:cs typeface="Calibri" panose="020F0502020204030204" pitchFamily="34" charset="0"/>
              </a:rPr>
              <a:t>visuel</a:t>
            </a:r>
            <a:r>
              <a:rPr lang="en-US" sz="2200" b="1" dirty="0">
                <a:solidFill>
                  <a:srgbClr val="27AE60"/>
                </a:solidFill>
                <a:latin typeface="Calibri" panose="020F0502020204030204" pitchFamily="34" charset="0"/>
                <a:ea typeface="Calibri" panose="020F0502020204030204" pitchFamily="34" charset="0"/>
                <a:cs typeface="Calibri" panose="020F0502020204030204" pitchFamily="34" charset="0"/>
              </a:rPr>
              <a:t> </a:t>
            </a:r>
            <a:endParaRPr lang="en-US" sz="2200" dirty="0">
              <a:latin typeface="Calibri" panose="020F0502020204030204" pitchFamily="34" charset="0"/>
              <a:ea typeface="Calibri" panose="020F0502020204030204" pitchFamily="34" charset="0"/>
              <a:cs typeface="Calibri" panose="020F0502020204030204" pitchFamily="34" charset="0"/>
            </a:endParaRPr>
          </a:p>
        </p:txBody>
      </p:sp>
      <p:sp>
        <p:nvSpPr>
          <p:cNvPr id="1308" name="Text 23">
            <a:extLst>
              <a:ext uri="{FF2B5EF4-FFF2-40B4-BE49-F238E27FC236}">
                <a16:creationId xmlns:a16="http://schemas.microsoft.com/office/drawing/2014/main" id="{164C343F-356C-4411-65BC-091151FB9427}"/>
              </a:ext>
            </a:extLst>
          </p:cNvPr>
          <p:cNvSpPr/>
          <p:nvPr/>
        </p:nvSpPr>
        <p:spPr>
          <a:xfrm>
            <a:off x="27211002" y="10922303"/>
            <a:ext cx="5476450" cy="1073289"/>
          </a:xfrm>
          <a:prstGeom prst="rect">
            <a:avLst/>
          </a:prstGeom>
          <a:noFill/>
          <a:ln/>
        </p:spPr>
        <p:txBody>
          <a:bodyPr wrap="square" rtlCol="0" anchor="t"/>
          <a:lstStyle/>
          <a:p>
            <a:pPr marL="0" indent="0">
              <a:buNone/>
            </a:pPr>
            <a:r>
              <a:rPr lang="en-US" sz="2200" dirty="0">
                <a:solidFill>
                  <a:srgbClr val="3D4E6B"/>
                </a:solidFill>
                <a:latin typeface="Calibri" panose="020F0502020204030204" pitchFamily="34" charset="0"/>
                <a:ea typeface="Calibri" panose="020F0502020204030204" pitchFamily="34" charset="0"/>
                <a:cs typeface="Calibri" panose="020F0502020204030204" pitchFamily="34" charset="0"/>
              </a:rPr>
              <a:t>Le vote </a:t>
            </a:r>
            <a:r>
              <a:rPr lang="en-US" sz="2200" dirty="0" err="1">
                <a:solidFill>
                  <a:srgbClr val="3D4E6B"/>
                </a:solidFill>
                <a:latin typeface="Calibri" panose="020F0502020204030204" pitchFamily="34" charset="0"/>
                <a:ea typeface="Calibri" panose="020F0502020204030204" pitchFamily="34" charset="0"/>
                <a:cs typeface="Calibri" panose="020F0502020204030204" pitchFamily="34" charset="0"/>
              </a:rPr>
              <a:t>pondéré</a:t>
            </a:r>
            <a:r>
              <a:rPr lang="en-US" sz="2200" dirty="0">
                <a:solidFill>
                  <a:srgbClr val="3D4E6B"/>
                </a:solidFill>
                <a:latin typeface="Calibri" panose="020F0502020204030204" pitchFamily="34" charset="0"/>
                <a:ea typeface="Calibri" panose="020F0502020204030204" pitchFamily="34" charset="0"/>
                <a:cs typeface="Calibri" panose="020F0502020204030204" pitchFamily="34" charset="0"/>
              </a:rPr>
              <a:t> </a:t>
            </a:r>
            <a:r>
              <a:rPr lang="en-US" sz="2200" dirty="0" err="1">
                <a:solidFill>
                  <a:srgbClr val="3D4E6B"/>
                </a:solidFill>
                <a:latin typeface="Calibri" panose="020F0502020204030204" pitchFamily="34" charset="0"/>
                <a:ea typeface="Calibri" panose="020F0502020204030204" pitchFamily="34" charset="0"/>
                <a:cs typeface="Calibri" panose="020F0502020204030204" pitchFamily="34" charset="0"/>
              </a:rPr>
              <a:t>est</a:t>
            </a:r>
            <a:r>
              <a:rPr lang="en-US" sz="2200" dirty="0">
                <a:solidFill>
                  <a:srgbClr val="3D4E6B"/>
                </a:solidFill>
                <a:latin typeface="Calibri" panose="020F0502020204030204" pitchFamily="34" charset="0"/>
                <a:ea typeface="Calibri" panose="020F0502020204030204" pitchFamily="34" charset="0"/>
                <a:cs typeface="Calibri" panose="020F0502020204030204" pitchFamily="34" charset="0"/>
              </a:rPr>
              <a:t> </a:t>
            </a:r>
            <a:r>
              <a:rPr lang="en-US" sz="2200" dirty="0" err="1">
                <a:solidFill>
                  <a:srgbClr val="3D4E6B"/>
                </a:solidFill>
                <a:latin typeface="Calibri" panose="020F0502020204030204" pitchFamily="34" charset="0"/>
                <a:ea typeface="Calibri" panose="020F0502020204030204" pitchFamily="34" charset="0"/>
                <a:cs typeface="Calibri" panose="020F0502020204030204" pitchFamily="34" charset="0"/>
              </a:rPr>
              <a:t>généralement</a:t>
            </a:r>
            <a:r>
              <a:rPr lang="en-US" sz="2200" dirty="0">
                <a:solidFill>
                  <a:srgbClr val="3D4E6B"/>
                </a:solidFill>
                <a:latin typeface="Calibri" panose="020F0502020204030204" pitchFamily="34" charset="0"/>
                <a:ea typeface="Calibri" panose="020F0502020204030204" pitchFamily="34" charset="0"/>
                <a:cs typeface="Calibri" panose="020F0502020204030204" pitchFamily="34" charset="0"/>
              </a:rPr>
              <a:t> précis et le </a:t>
            </a:r>
            <a:r>
              <a:rPr lang="en-US" sz="2200" dirty="0" err="1">
                <a:solidFill>
                  <a:srgbClr val="3D4E6B"/>
                </a:solidFill>
                <a:latin typeface="Calibri" panose="020F0502020204030204" pitchFamily="34" charset="0"/>
                <a:ea typeface="Calibri" panose="020F0502020204030204" pitchFamily="34" charset="0"/>
                <a:cs typeface="Calibri" panose="020F0502020204030204" pitchFamily="34" charset="0"/>
              </a:rPr>
              <a:t>classificateur</a:t>
            </a:r>
            <a:r>
              <a:rPr lang="en-US" sz="2200" dirty="0">
                <a:solidFill>
                  <a:srgbClr val="3D4E6B"/>
                </a:solidFill>
                <a:latin typeface="Calibri" panose="020F0502020204030204" pitchFamily="34" charset="0"/>
                <a:ea typeface="Calibri" panose="020F0502020204030204" pitchFamily="34" charset="0"/>
                <a:cs typeface="Calibri" panose="020F0502020204030204" pitchFamily="34" charset="0"/>
              </a:rPr>
              <a:t> </a:t>
            </a:r>
            <a:r>
              <a:rPr lang="en-US" sz="2200" dirty="0" err="1">
                <a:solidFill>
                  <a:srgbClr val="3D4E6B"/>
                </a:solidFill>
                <a:latin typeface="Calibri" panose="020F0502020204030204" pitchFamily="34" charset="0"/>
                <a:ea typeface="Calibri" panose="020F0502020204030204" pitchFamily="34" charset="0"/>
                <a:cs typeface="Calibri" panose="020F0502020204030204" pitchFamily="34" charset="0"/>
              </a:rPr>
              <a:t>visuel</a:t>
            </a:r>
            <a:r>
              <a:rPr lang="en-US" sz="2200" dirty="0">
                <a:solidFill>
                  <a:srgbClr val="3D4E6B"/>
                </a:solidFill>
                <a:latin typeface="Calibri" panose="020F0502020204030204" pitchFamily="34" charset="0"/>
                <a:ea typeface="Calibri" panose="020F0502020204030204" pitchFamily="34" charset="0"/>
                <a:cs typeface="Calibri" panose="020F0502020204030204" pitchFamily="34" charset="0"/>
              </a:rPr>
              <a:t> ne se trompe </a:t>
            </a:r>
            <a:r>
              <a:rPr lang="en-US" sz="2200" dirty="0" err="1">
                <a:solidFill>
                  <a:srgbClr val="3D4E6B"/>
                </a:solidFill>
                <a:latin typeface="Calibri" panose="020F0502020204030204" pitchFamily="34" charset="0"/>
                <a:ea typeface="Calibri" panose="020F0502020204030204" pitchFamily="34" charset="0"/>
                <a:cs typeface="Calibri" panose="020F0502020204030204" pitchFamily="34" charset="0"/>
              </a:rPr>
              <a:t>presque</a:t>
            </a:r>
            <a:r>
              <a:rPr lang="en-US" sz="2200" dirty="0">
                <a:solidFill>
                  <a:srgbClr val="3D4E6B"/>
                </a:solidFill>
                <a:latin typeface="Calibri" panose="020F0502020204030204" pitchFamily="34" charset="0"/>
                <a:ea typeface="Calibri" panose="020F0502020204030204" pitchFamily="34" charset="0"/>
                <a:cs typeface="Calibri" panose="020F0502020204030204" pitchFamily="34" charset="0"/>
              </a:rPr>
              <a:t> jamais </a:t>
            </a:r>
            <a:endParaRPr lang="en-US" sz="2200" dirty="0">
              <a:latin typeface="Calibri" panose="020F0502020204030204" pitchFamily="34" charset="0"/>
              <a:ea typeface="Calibri" panose="020F0502020204030204" pitchFamily="34" charset="0"/>
              <a:cs typeface="Calibri" panose="020F0502020204030204" pitchFamily="34" charset="0"/>
            </a:endParaRPr>
          </a:p>
        </p:txBody>
      </p:sp>
      <p:sp>
        <p:nvSpPr>
          <p:cNvPr id="1309" name="Shape 24">
            <a:extLst>
              <a:ext uri="{FF2B5EF4-FFF2-40B4-BE49-F238E27FC236}">
                <a16:creationId xmlns:a16="http://schemas.microsoft.com/office/drawing/2014/main" id="{E2413F93-7DF2-D3A2-9F4A-C55517860ED4}"/>
              </a:ext>
            </a:extLst>
          </p:cNvPr>
          <p:cNvSpPr/>
          <p:nvPr/>
        </p:nvSpPr>
        <p:spPr>
          <a:xfrm>
            <a:off x="33016783" y="10442422"/>
            <a:ext cx="5798594" cy="1763260"/>
          </a:xfrm>
          <a:prstGeom prst="rect">
            <a:avLst/>
          </a:prstGeom>
          <a:solidFill>
            <a:srgbClr val="E8F5E9"/>
          </a:solidFill>
          <a:ln w="12700">
            <a:solidFill>
              <a:srgbClr val="27AE60"/>
            </a:solidFill>
            <a:prstDash val="solid"/>
          </a:ln>
        </p:spPr>
        <p:txBody>
          <a:bodyPr/>
          <a:lstStyle/>
          <a:p>
            <a:endParaRPr lang="fr-CA" sz="2200">
              <a:latin typeface="Calibri" panose="020F0502020204030204" pitchFamily="34" charset="0"/>
              <a:ea typeface="Calibri" panose="020F0502020204030204" pitchFamily="34" charset="0"/>
              <a:cs typeface="Calibri" panose="020F0502020204030204" pitchFamily="34" charset="0"/>
            </a:endParaRPr>
          </a:p>
        </p:txBody>
      </p:sp>
      <p:sp>
        <p:nvSpPr>
          <p:cNvPr id="1310" name="Shape 25">
            <a:extLst>
              <a:ext uri="{FF2B5EF4-FFF2-40B4-BE49-F238E27FC236}">
                <a16:creationId xmlns:a16="http://schemas.microsoft.com/office/drawing/2014/main" id="{DA1CBBCF-956F-9F65-C800-CABEC16F6853}"/>
              </a:ext>
            </a:extLst>
          </p:cNvPr>
          <p:cNvSpPr/>
          <p:nvPr/>
        </p:nvSpPr>
        <p:spPr>
          <a:xfrm>
            <a:off x="33016783" y="10442422"/>
            <a:ext cx="90200" cy="1763260"/>
          </a:xfrm>
          <a:prstGeom prst="rect">
            <a:avLst/>
          </a:prstGeom>
          <a:solidFill>
            <a:srgbClr val="27AE60"/>
          </a:solidFill>
          <a:ln w="12700">
            <a:solidFill>
              <a:srgbClr val="27AE60"/>
            </a:solidFill>
            <a:prstDash val="solid"/>
          </a:ln>
        </p:spPr>
        <p:txBody>
          <a:bodyPr/>
          <a:lstStyle/>
          <a:p>
            <a:endParaRPr lang="fr-CA" sz="2200">
              <a:latin typeface="Calibri" panose="020F0502020204030204" pitchFamily="34" charset="0"/>
              <a:ea typeface="Calibri" panose="020F0502020204030204" pitchFamily="34" charset="0"/>
              <a:cs typeface="Calibri" panose="020F0502020204030204" pitchFamily="34" charset="0"/>
            </a:endParaRPr>
          </a:p>
        </p:txBody>
      </p:sp>
      <p:sp>
        <p:nvSpPr>
          <p:cNvPr id="1311" name="Text 26">
            <a:extLst>
              <a:ext uri="{FF2B5EF4-FFF2-40B4-BE49-F238E27FC236}">
                <a16:creationId xmlns:a16="http://schemas.microsoft.com/office/drawing/2014/main" id="{B1DEEF5E-2C2F-5BCA-C263-B69A14204902}"/>
              </a:ext>
            </a:extLst>
          </p:cNvPr>
          <p:cNvSpPr/>
          <p:nvPr/>
        </p:nvSpPr>
        <p:spPr>
          <a:xfrm>
            <a:off x="33153943" y="10442422"/>
            <a:ext cx="5476450" cy="613308"/>
          </a:xfrm>
          <a:prstGeom prst="rect">
            <a:avLst/>
          </a:prstGeom>
          <a:noFill/>
          <a:ln/>
        </p:spPr>
        <p:txBody>
          <a:bodyPr wrap="square" rtlCol="0" anchor="ctr"/>
          <a:lstStyle/>
          <a:p>
            <a:pPr marL="0" indent="0">
              <a:buNone/>
            </a:pPr>
            <a:r>
              <a:rPr lang="en-US" sz="2200" b="1" dirty="0">
                <a:solidFill>
                  <a:srgbClr val="27AE60"/>
                </a:solidFill>
                <a:latin typeface="Calibri" panose="020F0502020204030204" pitchFamily="34" charset="0"/>
                <a:ea typeface="Calibri" panose="020F0502020204030204" pitchFamily="34" charset="0"/>
                <a:cs typeface="Calibri" panose="020F0502020204030204" pitchFamily="34" charset="0"/>
              </a:rPr>
              <a:t>✓  Cascade SEV + composite</a:t>
            </a:r>
            <a:endParaRPr lang="en-US" sz="2200" dirty="0">
              <a:latin typeface="Calibri" panose="020F0502020204030204" pitchFamily="34" charset="0"/>
              <a:ea typeface="Calibri" panose="020F0502020204030204" pitchFamily="34" charset="0"/>
              <a:cs typeface="Calibri" panose="020F0502020204030204" pitchFamily="34" charset="0"/>
            </a:endParaRPr>
          </a:p>
        </p:txBody>
      </p:sp>
      <p:sp>
        <p:nvSpPr>
          <p:cNvPr id="1312" name="Text 27">
            <a:extLst>
              <a:ext uri="{FF2B5EF4-FFF2-40B4-BE49-F238E27FC236}">
                <a16:creationId xmlns:a16="http://schemas.microsoft.com/office/drawing/2014/main" id="{2BA3B278-27B4-4984-F366-906C21ACDBA5}"/>
              </a:ext>
            </a:extLst>
          </p:cNvPr>
          <p:cNvSpPr/>
          <p:nvPr/>
        </p:nvSpPr>
        <p:spPr>
          <a:xfrm>
            <a:off x="33153943" y="10924187"/>
            <a:ext cx="5476450" cy="1073289"/>
          </a:xfrm>
          <a:prstGeom prst="rect">
            <a:avLst/>
          </a:prstGeom>
          <a:noFill/>
          <a:ln/>
        </p:spPr>
        <p:txBody>
          <a:bodyPr wrap="square" rtlCol="0" anchor="t"/>
          <a:lstStyle/>
          <a:p>
            <a:pPr marL="0" indent="0">
              <a:buNone/>
            </a:pPr>
            <a:r>
              <a:rPr lang="en-US" sz="2200" dirty="0">
                <a:solidFill>
                  <a:srgbClr val="3D4E6B"/>
                </a:solidFill>
                <a:latin typeface="Calibri" panose="020F0502020204030204" pitchFamily="34" charset="0"/>
                <a:ea typeface="Calibri" panose="020F0502020204030204" pitchFamily="34" charset="0"/>
                <a:cs typeface="Calibri" panose="020F0502020204030204" pitchFamily="34" charset="0"/>
              </a:rPr>
              <a:t>Le </a:t>
            </a:r>
            <a:r>
              <a:rPr lang="en-US" sz="2200" dirty="0" err="1">
                <a:solidFill>
                  <a:srgbClr val="3D4E6B"/>
                </a:solidFill>
                <a:latin typeface="Calibri" panose="020F0502020204030204" pitchFamily="34" charset="0"/>
                <a:ea typeface="Calibri" panose="020F0502020204030204" pitchFamily="34" charset="0"/>
                <a:cs typeface="Calibri" panose="020F0502020204030204" pitchFamily="34" charset="0"/>
              </a:rPr>
              <a:t>modèle</a:t>
            </a:r>
            <a:r>
              <a:rPr lang="en-US" sz="2200" dirty="0">
                <a:solidFill>
                  <a:srgbClr val="3D4E6B"/>
                </a:solidFill>
                <a:latin typeface="Calibri" panose="020F0502020204030204" pitchFamily="34" charset="0"/>
                <a:ea typeface="Calibri" panose="020F0502020204030204" pitchFamily="34" charset="0"/>
                <a:cs typeface="Calibri" panose="020F0502020204030204" pitchFamily="34" charset="0"/>
              </a:rPr>
              <a:t> SEV </a:t>
            </a:r>
            <a:r>
              <a:rPr lang="en-US" sz="2200" dirty="0" err="1">
                <a:solidFill>
                  <a:srgbClr val="3D4E6B"/>
                </a:solidFill>
                <a:latin typeface="Calibri" panose="020F0502020204030204" pitchFamily="34" charset="0"/>
                <a:ea typeface="Calibri" panose="020F0502020204030204" pitchFamily="34" charset="0"/>
                <a:cs typeface="Calibri" panose="020F0502020204030204" pitchFamily="34" charset="0"/>
              </a:rPr>
              <a:t>fonctionne</a:t>
            </a:r>
            <a:r>
              <a:rPr lang="en-US" sz="2200" dirty="0">
                <a:solidFill>
                  <a:srgbClr val="3D4E6B"/>
                </a:solidFill>
                <a:latin typeface="Calibri" panose="020F0502020204030204" pitchFamily="34" charset="0"/>
                <a:ea typeface="Calibri" panose="020F0502020204030204" pitchFamily="34" charset="0"/>
                <a:cs typeface="Calibri" panose="020F0502020204030204" pitchFamily="34" charset="0"/>
              </a:rPr>
              <a:t> </a:t>
            </a:r>
            <a:r>
              <a:rPr lang="en-US" sz="2200" dirty="0" err="1">
                <a:solidFill>
                  <a:srgbClr val="3D4E6B"/>
                </a:solidFill>
                <a:latin typeface="Calibri" panose="020F0502020204030204" pitchFamily="34" charset="0"/>
                <a:ea typeface="Calibri" panose="020F0502020204030204" pitchFamily="34" charset="0"/>
                <a:cs typeface="Calibri" panose="020F0502020204030204" pitchFamily="34" charset="0"/>
              </a:rPr>
              <a:t>généralement</a:t>
            </a:r>
            <a:r>
              <a:rPr lang="en-US" sz="2200" dirty="0">
                <a:solidFill>
                  <a:srgbClr val="3D4E6B"/>
                </a:solidFill>
                <a:latin typeface="Calibri" panose="020F0502020204030204" pitchFamily="34" charset="0"/>
                <a:ea typeface="Calibri" panose="020F0502020204030204" pitchFamily="34" charset="0"/>
                <a:cs typeface="Calibri" panose="020F0502020204030204" pitchFamily="34" charset="0"/>
              </a:rPr>
              <a:t> bien et le </a:t>
            </a:r>
            <a:r>
              <a:rPr lang="en-US" sz="2200" dirty="0" err="1">
                <a:solidFill>
                  <a:srgbClr val="3D4E6B"/>
                </a:solidFill>
                <a:latin typeface="Calibri" panose="020F0502020204030204" pitchFamily="34" charset="0"/>
                <a:ea typeface="Calibri" panose="020F0502020204030204" pitchFamily="34" charset="0"/>
                <a:cs typeface="Calibri" panose="020F0502020204030204" pitchFamily="34" charset="0"/>
              </a:rPr>
              <a:t>mécanisme</a:t>
            </a:r>
            <a:r>
              <a:rPr lang="en-US" sz="2200" dirty="0">
                <a:solidFill>
                  <a:srgbClr val="3D4E6B"/>
                </a:solidFill>
                <a:latin typeface="Calibri" panose="020F0502020204030204" pitchFamily="34" charset="0"/>
                <a:ea typeface="Calibri" panose="020F0502020204030204" pitchFamily="34" charset="0"/>
                <a:cs typeface="Calibri" panose="020F0502020204030204" pitchFamily="34" charset="0"/>
              </a:rPr>
              <a:t> de </a:t>
            </a:r>
            <a:r>
              <a:rPr lang="en-US" sz="2200" dirty="0" err="1">
                <a:solidFill>
                  <a:srgbClr val="3D4E6B"/>
                </a:solidFill>
                <a:latin typeface="Calibri" panose="020F0502020204030204" pitchFamily="34" charset="0"/>
                <a:ea typeface="Calibri" panose="020F0502020204030204" pitchFamily="34" charset="0"/>
                <a:cs typeface="Calibri" panose="020F0502020204030204" pitchFamily="34" charset="0"/>
              </a:rPr>
              <a:t>pointage</a:t>
            </a:r>
            <a:r>
              <a:rPr lang="en-US" sz="2200" dirty="0">
                <a:solidFill>
                  <a:srgbClr val="3D4E6B"/>
                </a:solidFill>
                <a:latin typeface="Calibri" panose="020F0502020204030204" pitchFamily="34" charset="0"/>
                <a:ea typeface="Calibri" panose="020F0502020204030204" pitchFamily="34" charset="0"/>
                <a:cs typeface="Calibri" panose="020F0502020204030204" pitchFamily="34" charset="0"/>
              </a:rPr>
              <a:t> par composite </a:t>
            </a:r>
            <a:r>
              <a:rPr lang="en-US" sz="2200" dirty="0" err="1">
                <a:solidFill>
                  <a:srgbClr val="3D4E6B"/>
                </a:solidFill>
                <a:latin typeface="Calibri" panose="020F0502020204030204" pitchFamily="34" charset="0"/>
                <a:ea typeface="Calibri" panose="020F0502020204030204" pitchFamily="34" charset="0"/>
                <a:cs typeface="Calibri" panose="020F0502020204030204" pitchFamily="34" charset="0"/>
              </a:rPr>
              <a:t>joue</a:t>
            </a:r>
            <a:r>
              <a:rPr lang="en-US" sz="2200" dirty="0">
                <a:solidFill>
                  <a:srgbClr val="3D4E6B"/>
                </a:solidFill>
                <a:latin typeface="Calibri" panose="020F0502020204030204" pitchFamily="34" charset="0"/>
                <a:ea typeface="Calibri" panose="020F0502020204030204" pitchFamily="34" charset="0"/>
                <a:cs typeface="Calibri" panose="020F0502020204030204" pitchFamily="34" charset="0"/>
              </a:rPr>
              <a:t> son role </a:t>
            </a:r>
            <a:r>
              <a:rPr lang="en-US" sz="2200" dirty="0" err="1">
                <a:solidFill>
                  <a:srgbClr val="3D4E6B"/>
                </a:solidFill>
                <a:latin typeface="Calibri" panose="020F0502020204030204" pitchFamily="34" charset="0"/>
                <a:ea typeface="Calibri" panose="020F0502020204030204" pitchFamily="34" charset="0"/>
                <a:cs typeface="Calibri" panose="020F0502020204030204" pitchFamily="34" charset="0"/>
              </a:rPr>
              <a:t>comme</a:t>
            </a:r>
            <a:r>
              <a:rPr lang="en-US" sz="2200" dirty="0">
                <a:solidFill>
                  <a:srgbClr val="3D4E6B"/>
                </a:solidFill>
                <a:latin typeface="Calibri" panose="020F0502020204030204" pitchFamily="34" charset="0"/>
                <a:ea typeface="Calibri" panose="020F0502020204030204" pitchFamily="34" charset="0"/>
                <a:cs typeface="Calibri" panose="020F0502020204030204" pitchFamily="34" charset="0"/>
              </a:rPr>
              <a:t> </a:t>
            </a:r>
            <a:r>
              <a:rPr lang="en-US" sz="2200" dirty="0" err="1">
                <a:solidFill>
                  <a:srgbClr val="3D4E6B"/>
                </a:solidFill>
                <a:latin typeface="Calibri" panose="020F0502020204030204" pitchFamily="34" charset="0"/>
                <a:ea typeface="Calibri" panose="020F0502020204030204" pitchFamily="34" charset="0"/>
                <a:cs typeface="Calibri" panose="020F0502020204030204" pitchFamily="34" charset="0"/>
              </a:rPr>
              <a:t>attendu</a:t>
            </a:r>
            <a:endParaRPr lang="en-US" sz="2200" dirty="0">
              <a:latin typeface="Calibri" panose="020F0502020204030204" pitchFamily="34" charset="0"/>
              <a:ea typeface="Calibri" panose="020F0502020204030204" pitchFamily="34" charset="0"/>
              <a:cs typeface="Calibri" panose="020F0502020204030204" pitchFamily="34" charset="0"/>
            </a:endParaRPr>
          </a:p>
        </p:txBody>
      </p:sp>
      <p:sp>
        <p:nvSpPr>
          <p:cNvPr id="1313" name="Shape 20">
            <a:extLst>
              <a:ext uri="{FF2B5EF4-FFF2-40B4-BE49-F238E27FC236}">
                <a16:creationId xmlns:a16="http://schemas.microsoft.com/office/drawing/2014/main" id="{5225318D-704C-CBCF-238E-CD559F945B25}"/>
              </a:ext>
            </a:extLst>
          </p:cNvPr>
          <p:cNvSpPr/>
          <p:nvPr/>
        </p:nvSpPr>
        <p:spPr>
          <a:xfrm>
            <a:off x="27104228" y="6539731"/>
            <a:ext cx="5798594" cy="1763260"/>
          </a:xfrm>
          <a:prstGeom prst="rect">
            <a:avLst/>
          </a:prstGeom>
          <a:solidFill>
            <a:srgbClr val="E8F5E9"/>
          </a:solidFill>
          <a:ln w="12700">
            <a:solidFill>
              <a:srgbClr val="27AE60"/>
            </a:solidFill>
            <a:prstDash val="solid"/>
          </a:ln>
        </p:spPr>
        <p:txBody>
          <a:bodyPr/>
          <a:lstStyle/>
          <a:p>
            <a:endParaRPr lang="fr-CA" sz="2200">
              <a:latin typeface="Calibri" panose="020F0502020204030204" pitchFamily="34" charset="0"/>
              <a:ea typeface="Calibri" panose="020F0502020204030204" pitchFamily="34" charset="0"/>
              <a:cs typeface="Calibri" panose="020F0502020204030204" pitchFamily="34" charset="0"/>
            </a:endParaRPr>
          </a:p>
        </p:txBody>
      </p:sp>
      <p:sp>
        <p:nvSpPr>
          <p:cNvPr id="1314" name="Shape 21">
            <a:extLst>
              <a:ext uri="{FF2B5EF4-FFF2-40B4-BE49-F238E27FC236}">
                <a16:creationId xmlns:a16="http://schemas.microsoft.com/office/drawing/2014/main" id="{93EFBD9E-E3FA-47FE-106F-9BBB85F25770}"/>
              </a:ext>
            </a:extLst>
          </p:cNvPr>
          <p:cNvSpPr/>
          <p:nvPr/>
        </p:nvSpPr>
        <p:spPr>
          <a:xfrm>
            <a:off x="27104228" y="6539731"/>
            <a:ext cx="90200" cy="1763260"/>
          </a:xfrm>
          <a:prstGeom prst="rect">
            <a:avLst/>
          </a:prstGeom>
          <a:solidFill>
            <a:srgbClr val="27AE60"/>
          </a:solidFill>
          <a:ln w="12700">
            <a:solidFill>
              <a:srgbClr val="27AE60"/>
            </a:solidFill>
            <a:prstDash val="solid"/>
          </a:ln>
        </p:spPr>
        <p:txBody>
          <a:bodyPr/>
          <a:lstStyle/>
          <a:p>
            <a:endParaRPr lang="fr-CA" sz="2200">
              <a:latin typeface="Calibri" panose="020F0502020204030204" pitchFamily="34" charset="0"/>
              <a:ea typeface="Calibri" panose="020F0502020204030204" pitchFamily="34" charset="0"/>
              <a:cs typeface="Calibri" panose="020F0502020204030204" pitchFamily="34" charset="0"/>
            </a:endParaRPr>
          </a:p>
        </p:txBody>
      </p:sp>
      <p:sp>
        <p:nvSpPr>
          <p:cNvPr id="1315" name="Text 22">
            <a:extLst>
              <a:ext uri="{FF2B5EF4-FFF2-40B4-BE49-F238E27FC236}">
                <a16:creationId xmlns:a16="http://schemas.microsoft.com/office/drawing/2014/main" id="{1855BF37-04CF-BAF6-A8B3-449EAEFF0888}"/>
              </a:ext>
            </a:extLst>
          </p:cNvPr>
          <p:cNvSpPr/>
          <p:nvPr/>
        </p:nvSpPr>
        <p:spPr>
          <a:xfrm>
            <a:off x="27241388" y="6539731"/>
            <a:ext cx="5476450" cy="613308"/>
          </a:xfrm>
          <a:prstGeom prst="rect">
            <a:avLst/>
          </a:prstGeom>
          <a:noFill/>
          <a:ln/>
        </p:spPr>
        <p:txBody>
          <a:bodyPr wrap="square" rtlCol="0" anchor="ctr"/>
          <a:lstStyle/>
          <a:p>
            <a:r>
              <a:rPr lang="en-US" sz="2200" b="1" dirty="0">
                <a:solidFill>
                  <a:srgbClr val="27AE60"/>
                </a:solidFill>
                <a:latin typeface="Calibri" panose="020F0502020204030204" pitchFamily="34" charset="0"/>
                <a:ea typeface="Calibri" panose="020F0502020204030204" pitchFamily="34" charset="0"/>
                <a:cs typeface="Calibri" panose="020F0502020204030204" pitchFamily="34" charset="0"/>
              </a:rPr>
              <a:t>✓ </a:t>
            </a:r>
            <a:r>
              <a:rPr lang="en-US" sz="2400" b="1" dirty="0" err="1">
                <a:solidFill>
                  <a:srgbClr val="27AE60"/>
                </a:solidFill>
                <a:latin typeface="Calibri" panose="020F0502020204030204" pitchFamily="34" charset="0"/>
                <a:ea typeface="Calibri" panose="020F0502020204030204" pitchFamily="34" charset="0"/>
                <a:cs typeface="Calibri" panose="020F0502020204030204" pitchFamily="34" charset="0"/>
              </a:rPr>
              <a:t>Dommages</a:t>
            </a:r>
            <a:r>
              <a:rPr lang="en-US" sz="2400" b="1" dirty="0">
                <a:solidFill>
                  <a:srgbClr val="27AE60"/>
                </a:solidFill>
                <a:latin typeface="Calibri" panose="020F0502020204030204" pitchFamily="34" charset="0"/>
                <a:ea typeface="Calibri" panose="020F0502020204030204" pitchFamily="34" charset="0"/>
                <a:cs typeface="Calibri" panose="020F0502020204030204" pitchFamily="34" charset="0"/>
              </a:rPr>
              <a:t> </a:t>
            </a:r>
            <a:r>
              <a:rPr lang="en-US" sz="2400" b="1" dirty="0" err="1">
                <a:solidFill>
                  <a:srgbClr val="27AE60"/>
                </a:solidFill>
                <a:latin typeface="Calibri" panose="020F0502020204030204" pitchFamily="34" charset="0"/>
                <a:ea typeface="Calibri" panose="020F0502020204030204" pitchFamily="34" charset="0"/>
                <a:cs typeface="Calibri" panose="020F0502020204030204" pitchFamily="34" charset="0"/>
              </a:rPr>
              <a:t>sévères</a:t>
            </a:r>
            <a:r>
              <a:rPr lang="en-US" sz="2400" b="1" dirty="0">
                <a:solidFill>
                  <a:srgbClr val="27AE60"/>
                </a:solidFill>
                <a:latin typeface="Calibri" panose="020F0502020204030204" pitchFamily="34" charset="0"/>
                <a:ea typeface="Calibri" panose="020F0502020204030204" pitchFamily="34" charset="0"/>
                <a:cs typeface="Calibri" panose="020F0502020204030204" pitchFamily="34" charset="0"/>
              </a:rPr>
              <a:t> </a:t>
            </a:r>
            <a:r>
              <a:rPr lang="en-US" sz="2400" b="1" dirty="0" err="1">
                <a:solidFill>
                  <a:srgbClr val="27AE60"/>
                </a:solidFill>
                <a:latin typeface="Calibri" panose="020F0502020204030204" pitchFamily="34" charset="0"/>
                <a:ea typeface="Calibri" panose="020F0502020204030204" pitchFamily="34" charset="0"/>
                <a:cs typeface="Calibri" panose="020F0502020204030204" pitchFamily="34" charset="0"/>
              </a:rPr>
              <a:t>détectés</a:t>
            </a:r>
            <a:endParaRPr lang="en-US" sz="2200" dirty="0">
              <a:latin typeface="Calibri" panose="020F0502020204030204" pitchFamily="34" charset="0"/>
              <a:ea typeface="Calibri" panose="020F0502020204030204" pitchFamily="34" charset="0"/>
              <a:cs typeface="Calibri" panose="020F0502020204030204" pitchFamily="34" charset="0"/>
            </a:endParaRPr>
          </a:p>
        </p:txBody>
      </p:sp>
      <p:sp>
        <p:nvSpPr>
          <p:cNvPr id="1316" name="Text 23">
            <a:extLst>
              <a:ext uri="{FF2B5EF4-FFF2-40B4-BE49-F238E27FC236}">
                <a16:creationId xmlns:a16="http://schemas.microsoft.com/office/drawing/2014/main" id="{B0198976-2ABE-82DA-01D7-9356FE511BD1}"/>
              </a:ext>
            </a:extLst>
          </p:cNvPr>
          <p:cNvSpPr/>
          <p:nvPr/>
        </p:nvSpPr>
        <p:spPr>
          <a:xfrm>
            <a:off x="27234201" y="7022459"/>
            <a:ext cx="5476450" cy="1073289"/>
          </a:xfrm>
          <a:prstGeom prst="rect">
            <a:avLst/>
          </a:prstGeom>
          <a:noFill/>
          <a:ln/>
        </p:spPr>
        <p:txBody>
          <a:bodyPr wrap="square" rtlCol="0" anchor="t"/>
          <a:lstStyle/>
          <a:p>
            <a:r>
              <a:rPr lang="en-US" sz="2400" dirty="0">
                <a:solidFill>
                  <a:srgbClr val="3D4E6B"/>
                </a:solidFill>
                <a:latin typeface="Calibri" panose="020F0502020204030204" pitchFamily="34" charset="0"/>
                <a:ea typeface="Calibri" panose="020F0502020204030204" pitchFamily="34" charset="0"/>
                <a:cs typeface="Calibri" panose="020F0502020204030204" pitchFamily="34" charset="0"/>
              </a:rPr>
              <a:t>Structures </a:t>
            </a:r>
            <a:r>
              <a:rPr lang="en-US" sz="2400" dirty="0" err="1">
                <a:solidFill>
                  <a:srgbClr val="3D4E6B"/>
                </a:solidFill>
                <a:latin typeface="Calibri" panose="020F0502020204030204" pitchFamily="34" charset="0"/>
                <a:ea typeface="Calibri" panose="020F0502020204030204" pitchFamily="34" charset="0"/>
                <a:cs typeface="Calibri" panose="020F0502020204030204" pitchFamily="34" charset="0"/>
              </a:rPr>
              <a:t>totalement</a:t>
            </a:r>
            <a:r>
              <a:rPr lang="en-US" sz="2400" dirty="0">
                <a:solidFill>
                  <a:srgbClr val="3D4E6B"/>
                </a:solidFill>
                <a:latin typeface="Calibri" panose="020F0502020204030204" pitchFamily="34" charset="0"/>
                <a:ea typeface="Calibri" panose="020F0502020204030204" pitchFamily="34" charset="0"/>
                <a:cs typeface="Calibri" panose="020F0502020204030204" pitchFamily="34" charset="0"/>
              </a:rPr>
              <a:t> </a:t>
            </a:r>
            <a:r>
              <a:rPr lang="en-US" sz="2400" dirty="0" err="1">
                <a:solidFill>
                  <a:srgbClr val="3D4E6B"/>
                </a:solidFill>
                <a:latin typeface="Calibri" panose="020F0502020204030204" pitchFamily="34" charset="0"/>
                <a:ea typeface="Calibri" panose="020F0502020204030204" pitchFamily="34" charset="0"/>
                <a:cs typeface="Calibri" panose="020F0502020204030204" pitchFamily="34" charset="0"/>
              </a:rPr>
              <a:t>déformées</a:t>
            </a:r>
            <a:r>
              <a:rPr lang="en-US" sz="2400" dirty="0">
                <a:solidFill>
                  <a:srgbClr val="3D4E6B"/>
                </a:solidFill>
                <a:latin typeface="Calibri" panose="020F0502020204030204" pitchFamily="34" charset="0"/>
                <a:ea typeface="Calibri" panose="020F0502020204030204" pitchFamily="34" charset="0"/>
                <a:cs typeface="Calibri" panose="020F0502020204030204" pitchFamily="34" charset="0"/>
              </a:rPr>
              <a:t> </a:t>
            </a:r>
            <a:r>
              <a:rPr lang="en-US" sz="2400" dirty="0" err="1">
                <a:solidFill>
                  <a:srgbClr val="3D4E6B"/>
                </a:solidFill>
                <a:latin typeface="Calibri" panose="020F0502020204030204" pitchFamily="34" charset="0"/>
                <a:ea typeface="Calibri" panose="020F0502020204030204" pitchFamily="34" charset="0"/>
                <a:cs typeface="Calibri" panose="020F0502020204030204" pitchFamily="34" charset="0"/>
              </a:rPr>
              <a:t>identifiées</a:t>
            </a:r>
            <a:r>
              <a:rPr lang="en-US" sz="2400" dirty="0">
                <a:solidFill>
                  <a:srgbClr val="3D4E6B"/>
                </a:solidFill>
                <a:latin typeface="Calibri" panose="020F0502020204030204" pitchFamily="34" charset="0"/>
                <a:ea typeface="Calibri" panose="020F0502020204030204" pitchFamily="34" charset="0"/>
                <a:cs typeface="Calibri" panose="020F0502020204030204" pitchFamily="34" charset="0"/>
              </a:rPr>
              <a:t> </a:t>
            </a:r>
            <a:r>
              <a:rPr lang="en-US" sz="2400" dirty="0" err="1">
                <a:solidFill>
                  <a:srgbClr val="3D4E6B"/>
                </a:solidFill>
                <a:latin typeface="Calibri" panose="020F0502020204030204" pitchFamily="34" charset="0"/>
                <a:ea typeface="Calibri" panose="020F0502020204030204" pitchFamily="34" charset="0"/>
                <a:cs typeface="Calibri" panose="020F0502020204030204" pitchFamily="34" charset="0"/>
              </a:rPr>
              <a:t>correctement</a:t>
            </a:r>
            <a:r>
              <a:rPr lang="en-US" sz="2400" dirty="0">
                <a:solidFill>
                  <a:srgbClr val="3D4E6B"/>
                </a:solidFill>
                <a:latin typeface="Calibri" panose="020F0502020204030204" pitchFamily="34" charset="0"/>
                <a:ea typeface="Calibri" panose="020F0502020204030204" pitchFamily="34" charset="0"/>
                <a:cs typeface="Calibri" panose="020F0502020204030204" pitchFamily="34" charset="0"/>
              </a:rPr>
              <a:t> et </a:t>
            </a:r>
            <a:r>
              <a:rPr lang="en-US" sz="2400" dirty="0" err="1">
                <a:solidFill>
                  <a:srgbClr val="3D4E6B"/>
                </a:solidFill>
                <a:latin typeface="Calibri" panose="020F0502020204030204" pitchFamily="34" charset="0"/>
                <a:ea typeface="Calibri" panose="020F0502020204030204" pitchFamily="34" charset="0"/>
                <a:cs typeface="Calibri" panose="020F0502020204030204" pitchFamily="34" charset="0"/>
              </a:rPr>
              <a:t>détectées</a:t>
            </a:r>
            <a:r>
              <a:rPr lang="en-US" sz="2400" dirty="0">
                <a:solidFill>
                  <a:srgbClr val="3D4E6B"/>
                </a:solidFill>
                <a:latin typeface="Calibri" panose="020F0502020204030204" pitchFamily="34" charset="0"/>
                <a:ea typeface="Calibri" panose="020F0502020204030204" pitchFamily="34" charset="0"/>
                <a:cs typeface="Calibri" panose="020F0502020204030204" pitchFamily="34" charset="0"/>
              </a:rPr>
              <a:t> </a:t>
            </a:r>
            <a:r>
              <a:rPr lang="en-US" sz="2400" dirty="0" err="1">
                <a:solidFill>
                  <a:srgbClr val="3D4E6B"/>
                </a:solidFill>
                <a:latin typeface="Calibri" panose="020F0502020204030204" pitchFamily="34" charset="0"/>
                <a:ea typeface="Calibri" panose="020F0502020204030204" pitchFamily="34" charset="0"/>
                <a:cs typeface="Calibri" panose="020F0502020204030204" pitchFamily="34" charset="0"/>
              </a:rPr>
              <a:t>comme</a:t>
            </a:r>
            <a:r>
              <a:rPr lang="en-US" sz="2400" dirty="0">
                <a:solidFill>
                  <a:srgbClr val="3D4E6B"/>
                </a:solidFill>
                <a:latin typeface="Calibri" panose="020F0502020204030204" pitchFamily="34" charset="0"/>
                <a:ea typeface="Calibri" panose="020F0502020204030204" pitchFamily="34" charset="0"/>
                <a:cs typeface="Calibri" panose="020F0502020204030204" pitchFamily="34" charset="0"/>
              </a:rPr>
              <a:t> voiture</a:t>
            </a: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
        <p:nvSpPr>
          <p:cNvPr id="1317" name="Shape 24">
            <a:extLst>
              <a:ext uri="{FF2B5EF4-FFF2-40B4-BE49-F238E27FC236}">
                <a16:creationId xmlns:a16="http://schemas.microsoft.com/office/drawing/2014/main" id="{3B86085C-B2D7-96EA-E4D5-BB9664190E1C}"/>
              </a:ext>
            </a:extLst>
          </p:cNvPr>
          <p:cNvSpPr/>
          <p:nvPr/>
        </p:nvSpPr>
        <p:spPr>
          <a:xfrm>
            <a:off x="33039982" y="6542578"/>
            <a:ext cx="5798594" cy="1763260"/>
          </a:xfrm>
          <a:prstGeom prst="rect">
            <a:avLst/>
          </a:prstGeom>
          <a:solidFill>
            <a:srgbClr val="E8F5E9"/>
          </a:solidFill>
          <a:ln w="12700">
            <a:solidFill>
              <a:srgbClr val="27AE60"/>
            </a:solidFill>
            <a:prstDash val="solid"/>
          </a:ln>
        </p:spPr>
        <p:txBody>
          <a:bodyPr/>
          <a:lstStyle/>
          <a:p>
            <a:endParaRPr lang="fr-CA" sz="2200">
              <a:latin typeface="Calibri" panose="020F0502020204030204" pitchFamily="34" charset="0"/>
              <a:ea typeface="Calibri" panose="020F0502020204030204" pitchFamily="34" charset="0"/>
              <a:cs typeface="Calibri" panose="020F0502020204030204" pitchFamily="34" charset="0"/>
            </a:endParaRPr>
          </a:p>
        </p:txBody>
      </p:sp>
      <p:sp>
        <p:nvSpPr>
          <p:cNvPr id="1318" name="Shape 25">
            <a:extLst>
              <a:ext uri="{FF2B5EF4-FFF2-40B4-BE49-F238E27FC236}">
                <a16:creationId xmlns:a16="http://schemas.microsoft.com/office/drawing/2014/main" id="{584E2FCE-1782-6316-6D21-F4EA43413B21}"/>
              </a:ext>
            </a:extLst>
          </p:cNvPr>
          <p:cNvSpPr/>
          <p:nvPr/>
        </p:nvSpPr>
        <p:spPr>
          <a:xfrm>
            <a:off x="33039982" y="6542578"/>
            <a:ext cx="90200" cy="1763260"/>
          </a:xfrm>
          <a:prstGeom prst="rect">
            <a:avLst/>
          </a:prstGeom>
          <a:solidFill>
            <a:srgbClr val="27AE60"/>
          </a:solidFill>
          <a:ln w="12700">
            <a:solidFill>
              <a:srgbClr val="27AE60"/>
            </a:solidFill>
            <a:prstDash val="solid"/>
          </a:ln>
        </p:spPr>
        <p:txBody>
          <a:bodyPr/>
          <a:lstStyle/>
          <a:p>
            <a:endParaRPr lang="fr-CA" sz="2200">
              <a:latin typeface="Calibri" panose="020F0502020204030204" pitchFamily="34" charset="0"/>
              <a:ea typeface="Calibri" panose="020F0502020204030204" pitchFamily="34" charset="0"/>
              <a:cs typeface="Calibri" panose="020F0502020204030204" pitchFamily="34" charset="0"/>
            </a:endParaRPr>
          </a:p>
        </p:txBody>
      </p:sp>
      <p:sp>
        <p:nvSpPr>
          <p:cNvPr id="1319" name="Text 26">
            <a:extLst>
              <a:ext uri="{FF2B5EF4-FFF2-40B4-BE49-F238E27FC236}">
                <a16:creationId xmlns:a16="http://schemas.microsoft.com/office/drawing/2014/main" id="{F772B187-F084-9C49-7653-724C6BC186EB}"/>
              </a:ext>
            </a:extLst>
          </p:cNvPr>
          <p:cNvSpPr/>
          <p:nvPr/>
        </p:nvSpPr>
        <p:spPr>
          <a:xfrm>
            <a:off x="33177142" y="6542578"/>
            <a:ext cx="5476450" cy="613308"/>
          </a:xfrm>
          <a:prstGeom prst="rect">
            <a:avLst/>
          </a:prstGeom>
          <a:noFill/>
          <a:ln/>
        </p:spPr>
        <p:txBody>
          <a:bodyPr wrap="square" rtlCol="0" anchor="ctr"/>
          <a:lstStyle/>
          <a:p>
            <a:r>
              <a:rPr lang="en-US" sz="2200" b="1" dirty="0">
                <a:solidFill>
                  <a:srgbClr val="27AE60"/>
                </a:solidFill>
                <a:latin typeface="Calibri" panose="020F0502020204030204" pitchFamily="34" charset="0"/>
                <a:ea typeface="Calibri" panose="020F0502020204030204" pitchFamily="34" charset="0"/>
                <a:cs typeface="Calibri" panose="020F0502020204030204" pitchFamily="34" charset="0"/>
              </a:rPr>
              <a:t>✓ </a:t>
            </a:r>
            <a:r>
              <a:rPr lang="en-US" sz="2400" b="1" dirty="0">
                <a:solidFill>
                  <a:srgbClr val="27AE60"/>
                </a:solidFill>
                <a:latin typeface="Calibri" panose="020F0502020204030204" pitchFamily="34" charset="0"/>
                <a:ea typeface="Calibri" panose="020F0502020204030204" pitchFamily="34" charset="0"/>
                <a:cs typeface="Calibri" panose="020F0502020204030204" pitchFamily="34" charset="0"/>
              </a:rPr>
              <a:t>Véhicule </a:t>
            </a:r>
            <a:r>
              <a:rPr lang="en-US" sz="2400" b="1" dirty="0" err="1">
                <a:solidFill>
                  <a:srgbClr val="27AE60"/>
                </a:solidFill>
                <a:latin typeface="Calibri" panose="020F0502020204030204" pitchFamily="34" charset="0"/>
                <a:ea typeface="Calibri" panose="020F0502020204030204" pitchFamily="34" charset="0"/>
                <a:cs typeface="Calibri" panose="020F0502020204030204" pitchFamily="34" charset="0"/>
              </a:rPr>
              <a:t>sain</a:t>
            </a:r>
            <a:r>
              <a:rPr lang="en-US" sz="2400" b="1" dirty="0">
                <a:solidFill>
                  <a:srgbClr val="27AE60"/>
                </a:solidFill>
                <a:latin typeface="Calibri" panose="020F0502020204030204" pitchFamily="34" charset="0"/>
                <a:ea typeface="Calibri" panose="020F0502020204030204" pitchFamily="34" charset="0"/>
                <a:cs typeface="Calibri" panose="020F0502020204030204" pitchFamily="34" charset="0"/>
              </a:rPr>
              <a:t> </a:t>
            </a:r>
            <a:r>
              <a:rPr lang="en-US" sz="2400" b="1" dirty="0" err="1">
                <a:solidFill>
                  <a:srgbClr val="27AE60"/>
                </a:solidFill>
                <a:latin typeface="Calibri" panose="020F0502020204030204" pitchFamily="34" charset="0"/>
                <a:ea typeface="Calibri" panose="020F0502020204030204" pitchFamily="34" charset="0"/>
                <a:cs typeface="Calibri" panose="020F0502020204030204" pitchFamily="34" charset="0"/>
              </a:rPr>
              <a:t>reconnu</a:t>
            </a:r>
            <a:endParaRPr lang="en-US" sz="2200" dirty="0">
              <a:latin typeface="Calibri" panose="020F0502020204030204" pitchFamily="34" charset="0"/>
              <a:ea typeface="Calibri" panose="020F0502020204030204" pitchFamily="34" charset="0"/>
              <a:cs typeface="Calibri" panose="020F0502020204030204" pitchFamily="34" charset="0"/>
            </a:endParaRPr>
          </a:p>
        </p:txBody>
      </p:sp>
      <p:sp>
        <p:nvSpPr>
          <p:cNvPr id="1320" name="Text 27">
            <a:extLst>
              <a:ext uri="{FF2B5EF4-FFF2-40B4-BE49-F238E27FC236}">
                <a16:creationId xmlns:a16="http://schemas.microsoft.com/office/drawing/2014/main" id="{78D421FF-511B-E93D-41AA-0FE82FD92CEC}"/>
              </a:ext>
            </a:extLst>
          </p:cNvPr>
          <p:cNvSpPr/>
          <p:nvPr/>
        </p:nvSpPr>
        <p:spPr>
          <a:xfrm>
            <a:off x="33177142" y="7024343"/>
            <a:ext cx="5476450" cy="1073289"/>
          </a:xfrm>
          <a:prstGeom prst="rect">
            <a:avLst/>
          </a:prstGeom>
          <a:noFill/>
          <a:ln/>
        </p:spPr>
        <p:txBody>
          <a:bodyPr wrap="square" rtlCol="0" anchor="t"/>
          <a:lstStyle/>
          <a:p>
            <a:r>
              <a:rPr lang="en-US" sz="2400" dirty="0">
                <a:solidFill>
                  <a:srgbClr val="3D4E6B"/>
                </a:solidFill>
                <a:latin typeface="Calibri" panose="020F0502020204030204" pitchFamily="34" charset="0"/>
                <a:ea typeface="Calibri" panose="020F0502020204030204" pitchFamily="34" charset="0"/>
                <a:cs typeface="Calibri" panose="020F0502020204030204" pitchFamily="34" charset="0"/>
              </a:rPr>
              <a:t>Le pipeline </a:t>
            </a:r>
            <a:r>
              <a:rPr lang="en-US" sz="2400" dirty="0" err="1">
                <a:solidFill>
                  <a:srgbClr val="3D4E6B"/>
                </a:solidFill>
                <a:latin typeface="Calibri" panose="020F0502020204030204" pitchFamily="34" charset="0"/>
                <a:ea typeface="Calibri" panose="020F0502020204030204" pitchFamily="34" charset="0"/>
                <a:cs typeface="Calibri" panose="020F0502020204030204" pitchFamily="34" charset="0"/>
              </a:rPr>
              <a:t>est</a:t>
            </a:r>
            <a:r>
              <a:rPr lang="en-US" sz="2400" dirty="0">
                <a:solidFill>
                  <a:srgbClr val="3D4E6B"/>
                </a:solidFill>
                <a:latin typeface="Calibri" panose="020F0502020204030204" pitchFamily="34" charset="0"/>
                <a:ea typeface="Calibri" panose="020F0502020204030204" pitchFamily="34" charset="0"/>
                <a:cs typeface="Calibri" panose="020F0502020204030204" pitchFamily="34" charset="0"/>
              </a:rPr>
              <a:t> excellent pour identifier les </a:t>
            </a:r>
            <a:r>
              <a:rPr lang="en-US" sz="2400" dirty="0" err="1">
                <a:solidFill>
                  <a:srgbClr val="3D4E6B"/>
                </a:solidFill>
                <a:latin typeface="Calibri" panose="020F0502020204030204" pitchFamily="34" charset="0"/>
                <a:ea typeface="Calibri" panose="020F0502020204030204" pitchFamily="34" charset="0"/>
                <a:cs typeface="Calibri" panose="020F0502020204030204" pitchFamily="34" charset="0"/>
              </a:rPr>
              <a:t>véhicules</a:t>
            </a:r>
            <a:r>
              <a:rPr lang="en-US" sz="2400" dirty="0">
                <a:solidFill>
                  <a:srgbClr val="3D4E6B"/>
                </a:solidFill>
                <a:latin typeface="Calibri" panose="020F0502020204030204" pitchFamily="34" charset="0"/>
                <a:ea typeface="Calibri" panose="020F0502020204030204" pitchFamily="34" charset="0"/>
                <a:cs typeface="Calibri" panose="020F0502020204030204" pitchFamily="34" charset="0"/>
              </a:rPr>
              <a:t> </a:t>
            </a:r>
            <a:r>
              <a:rPr lang="en-US" sz="2400" dirty="0" err="1">
                <a:solidFill>
                  <a:srgbClr val="3D4E6B"/>
                </a:solidFill>
                <a:latin typeface="Calibri" panose="020F0502020204030204" pitchFamily="34" charset="0"/>
                <a:ea typeface="Calibri" panose="020F0502020204030204" pitchFamily="34" charset="0"/>
                <a:cs typeface="Calibri" panose="020F0502020204030204" pitchFamily="34" charset="0"/>
              </a:rPr>
              <a:t>sains</a:t>
            </a:r>
            <a:r>
              <a:rPr lang="en-US" sz="2400" dirty="0">
                <a:solidFill>
                  <a:srgbClr val="3D4E6B"/>
                </a:solidFill>
                <a:latin typeface="Calibri" panose="020F0502020204030204" pitchFamily="34" charset="0"/>
                <a:ea typeface="Calibri" panose="020F0502020204030204" pitchFamily="34" charset="0"/>
                <a:cs typeface="Calibri" panose="020F0502020204030204" pitchFamily="34" charset="0"/>
              </a:rPr>
              <a:t> et les pieces saines</a:t>
            </a: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
        <p:nvSpPr>
          <p:cNvPr id="1321" name="Shape 20">
            <a:extLst>
              <a:ext uri="{FF2B5EF4-FFF2-40B4-BE49-F238E27FC236}">
                <a16:creationId xmlns:a16="http://schemas.microsoft.com/office/drawing/2014/main" id="{3D14F082-0AC1-ED6D-AA97-A82B119D7DB0}"/>
              </a:ext>
            </a:extLst>
          </p:cNvPr>
          <p:cNvSpPr/>
          <p:nvPr/>
        </p:nvSpPr>
        <p:spPr>
          <a:xfrm>
            <a:off x="27081029" y="8499880"/>
            <a:ext cx="5798594" cy="1763260"/>
          </a:xfrm>
          <a:prstGeom prst="rect">
            <a:avLst/>
          </a:prstGeom>
          <a:solidFill>
            <a:srgbClr val="E8F5E9"/>
          </a:solidFill>
          <a:ln w="12700">
            <a:solidFill>
              <a:srgbClr val="27AE60"/>
            </a:solidFill>
            <a:prstDash val="solid"/>
          </a:ln>
        </p:spPr>
        <p:txBody>
          <a:bodyPr/>
          <a:lstStyle/>
          <a:p>
            <a:endParaRPr lang="fr-CA" sz="2200">
              <a:latin typeface="Calibri" panose="020F0502020204030204" pitchFamily="34" charset="0"/>
              <a:ea typeface="Calibri" panose="020F0502020204030204" pitchFamily="34" charset="0"/>
              <a:cs typeface="Calibri" panose="020F0502020204030204" pitchFamily="34" charset="0"/>
            </a:endParaRPr>
          </a:p>
        </p:txBody>
      </p:sp>
      <p:sp>
        <p:nvSpPr>
          <p:cNvPr id="1322" name="Shape 21">
            <a:extLst>
              <a:ext uri="{FF2B5EF4-FFF2-40B4-BE49-F238E27FC236}">
                <a16:creationId xmlns:a16="http://schemas.microsoft.com/office/drawing/2014/main" id="{C3A2F9A8-C21A-1927-428F-CCD2BFE4F692}"/>
              </a:ext>
            </a:extLst>
          </p:cNvPr>
          <p:cNvSpPr/>
          <p:nvPr/>
        </p:nvSpPr>
        <p:spPr>
          <a:xfrm>
            <a:off x="27081029" y="8499880"/>
            <a:ext cx="90200" cy="1763260"/>
          </a:xfrm>
          <a:prstGeom prst="rect">
            <a:avLst/>
          </a:prstGeom>
          <a:solidFill>
            <a:srgbClr val="27AE60"/>
          </a:solidFill>
          <a:ln w="12700">
            <a:solidFill>
              <a:srgbClr val="27AE60"/>
            </a:solidFill>
            <a:prstDash val="solid"/>
          </a:ln>
        </p:spPr>
        <p:txBody>
          <a:bodyPr/>
          <a:lstStyle/>
          <a:p>
            <a:endParaRPr lang="fr-CA" sz="2200">
              <a:latin typeface="Calibri" panose="020F0502020204030204" pitchFamily="34" charset="0"/>
              <a:ea typeface="Calibri" panose="020F0502020204030204" pitchFamily="34" charset="0"/>
              <a:cs typeface="Calibri" panose="020F0502020204030204" pitchFamily="34" charset="0"/>
            </a:endParaRPr>
          </a:p>
        </p:txBody>
      </p:sp>
      <p:sp>
        <p:nvSpPr>
          <p:cNvPr id="1323" name="Text 22">
            <a:extLst>
              <a:ext uri="{FF2B5EF4-FFF2-40B4-BE49-F238E27FC236}">
                <a16:creationId xmlns:a16="http://schemas.microsoft.com/office/drawing/2014/main" id="{ABAA9056-6BE8-1B38-3B71-D6A2F13EEEAE}"/>
              </a:ext>
            </a:extLst>
          </p:cNvPr>
          <p:cNvSpPr/>
          <p:nvPr/>
        </p:nvSpPr>
        <p:spPr>
          <a:xfrm>
            <a:off x="27218189" y="8499880"/>
            <a:ext cx="5476450" cy="613308"/>
          </a:xfrm>
          <a:prstGeom prst="rect">
            <a:avLst/>
          </a:prstGeom>
          <a:noFill/>
          <a:ln/>
        </p:spPr>
        <p:txBody>
          <a:bodyPr wrap="square" rtlCol="0" anchor="ctr"/>
          <a:lstStyle/>
          <a:p>
            <a:r>
              <a:rPr lang="en-US" sz="2200" b="1" dirty="0">
                <a:solidFill>
                  <a:srgbClr val="27AE60"/>
                </a:solidFill>
                <a:latin typeface="Calibri" panose="020F0502020204030204" pitchFamily="34" charset="0"/>
                <a:ea typeface="Calibri" panose="020F0502020204030204" pitchFamily="34" charset="0"/>
                <a:cs typeface="Calibri" panose="020F0502020204030204" pitchFamily="34" charset="0"/>
              </a:rPr>
              <a:t>✓ </a:t>
            </a:r>
            <a:r>
              <a:rPr lang="en-US" sz="2400" b="1" dirty="0" err="1">
                <a:solidFill>
                  <a:srgbClr val="27AE60"/>
                </a:solidFill>
                <a:latin typeface="Calibri" panose="020F0502020204030204" pitchFamily="34" charset="0"/>
                <a:ea typeface="Calibri" panose="020F0502020204030204" pitchFamily="34" charset="0"/>
                <a:cs typeface="Calibri" panose="020F0502020204030204" pitchFamily="34" charset="0"/>
              </a:rPr>
              <a:t>Filtre</a:t>
            </a:r>
            <a:r>
              <a:rPr lang="en-US" sz="2400" b="1" dirty="0">
                <a:solidFill>
                  <a:srgbClr val="27AE60"/>
                </a:solidFill>
                <a:latin typeface="Calibri" panose="020F0502020204030204" pitchFamily="34" charset="0"/>
                <a:ea typeface="Calibri" panose="020F0502020204030204" pitchFamily="34" charset="0"/>
                <a:cs typeface="Calibri" panose="020F0502020204030204" pitchFamily="34" charset="0"/>
              </a:rPr>
              <a:t> </a:t>
            </a:r>
            <a:r>
              <a:rPr lang="en-US" sz="2400" b="1" dirty="0" err="1">
                <a:solidFill>
                  <a:srgbClr val="27AE60"/>
                </a:solidFill>
                <a:latin typeface="Calibri" panose="020F0502020204030204" pitchFamily="34" charset="0"/>
                <a:ea typeface="Calibri" panose="020F0502020204030204" pitchFamily="34" charset="0"/>
                <a:cs typeface="Calibri" panose="020F0502020204030204" pitchFamily="34" charset="0"/>
              </a:rPr>
              <a:t>véhicules</a:t>
            </a:r>
            <a:r>
              <a:rPr lang="en-US" sz="2400" b="1" dirty="0">
                <a:solidFill>
                  <a:srgbClr val="27AE60"/>
                </a:solidFill>
                <a:latin typeface="Calibri" panose="020F0502020204030204" pitchFamily="34" charset="0"/>
                <a:ea typeface="Calibri" panose="020F0502020204030204" pitchFamily="34" charset="0"/>
                <a:cs typeface="Calibri" panose="020F0502020204030204" pitchFamily="34" charset="0"/>
              </a:rPr>
              <a:t> parasites</a:t>
            </a:r>
            <a:endParaRPr lang="en-US" sz="2200" dirty="0">
              <a:latin typeface="Calibri" panose="020F0502020204030204" pitchFamily="34" charset="0"/>
              <a:ea typeface="Calibri" panose="020F0502020204030204" pitchFamily="34" charset="0"/>
              <a:cs typeface="Calibri" panose="020F0502020204030204" pitchFamily="34" charset="0"/>
            </a:endParaRPr>
          </a:p>
        </p:txBody>
      </p:sp>
      <p:sp>
        <p:nvSpPr>
          <p:cNvPr id="1324" name="Text 23">
            <a:extLst>
              <a:ext uri="{FF2B5EF4-FFF2-40B4-BE49-F238E27FC236}">
                <a16:creationId xmlns:a16="http://schemas.microsoft.com/office/drawing/2014/main" id="{9284C61E-4BF1-F4D0-827F-B728159ECAD4}"/>
              </a:ext>
            </a:extLst>
          </p:cNvPr>
          <p:cNvSpPr/>
          <p:nvPr/>
        </p:nvSpPr>
        <p:spPr>
          <a:xfrm>
            <a:off x="27211002" y="8982608"/>
            <a:ext cx="5476450" cy="1073289"/>
          </a:xfrm>
          <a:prstGeom prst="rect">
            <a:avLst/>
          </a:prstGeom>
          <a:noFill/>
          <a:ln/>
        </p:spPr>
        <p:txBody>
          <a:bodyPr wrap="square" rtlCol="0" anchor="t"/>
          <a:lstStyle/>
          <a:p>
            <a:r>
              <a:rPr lang="en-US" sz="2400" dirty="0">
                <a:solidFill>
                  <a:srgbClr val="3D4E6B"/>
                </a:solidFill>
                <a:latin typeface="Calibri" panose="020F0502020204030204" pitchFamily="34" charset="0"/>
                <a:ea typeface="Calibri" panose="020F0502020204030204" pitchFamily="34" charset="0"/>
                <a:cs typeface="Calibri" panose="020F0502020204030204" pitchFamily="34" charset="0"/>
              </a:rPr>
              <a:t>Camion de </a:t>
            </a:r>
            <a:r>
              <a:rPr lang="en-US" sz="2400" dirty="0" err="1">
                <a:solidFill>
                  <a:srgbClr val="3D4E6B"/>
                </a:solidFill>
                <a:latin typeface="Calibri" panose="020F0502020204030204" pitchFamily="34" charset="0"/>
                <a:ea typeface="Calibri" panose="020F0502020204030204" pitchFamily="34" charset="0"/>
                <a:cs typeface="Calibri" panose="020F0502020204030204" pitchFamily="34" charset="0"/>
              </a:rPr>
              <a:t>dépannage</a:t>
            </a:r>
            <a:r>
              <a:rPr lang="en-US" sz="2400" dirty="0">
                <a:solidFill>
                  <a:srgbClr val="3D4E6B"/>
                </a:solidFill>
                <a:latin typeface="Calibri" panose="020F0502020204030204" pitchFamily="34" charset="0"/>
                <a:ea typeface="Calibri" panose="020F0502020204030204" pitchFamily="34" charset="0"/>
                <a:cs typeface="Calibri" panose="020F0502020204030204" pitchFamily="34" charset="0"/>
              </a:rPr>
              <a:t>, services urgences, </a:t>
            </a:r>
            <a:r>
              <a:rPr lang="en-US" sz="2400" dirty="0" err="1">
                <a:solidFill>
                  <a:srgbClr val="3D4E6B"/>
                </a:solidFill>
                <a:latin typeface="Calibri" panose="020F0502020204030204" pitchFamily="34" charset="0"/>
                <a:ea typeface="Calibri" panose="020F0502020204030204" pitchFamily="34" charset="0"/>
                <a:cs typeface="Calibri" panose="020F0502020204030204" pitchFamily="34" charset="0"/>
              </a:rPr>
              <a:t>humains</a:t>
            </a:r>
            <a:r>
              <a:rPr lang="en-US" sz="2400" dirty="0">
                <a:solidFill>
                  <a:srgbClr val="3D4E6B"/>
                </a:solidFill>
                <a:latin typeface="Calibri" panose="020F0502020204030204" pitchFamily="34" charset="0"/>
                <a:ea typeface="Calibri" panose="020F0502020204030204" pitchFamily="34" charset="0"/>
                <a:cs typeface="Calibri" panose="020F0502020204030204" pitchFamily="34" charset="0"/>
              </a:rPr>
              <a:t>, </a:t>
            </a:r>
            <a:r>
              <a:rPr lang="en-US" sz="2400" dirty="0" err="1">
                <a:solidFill>
                  <a:srgbClr val="3D4E6B"/>
                </a:solidFill>
                <a:latin typeface="Calibri" panose="020F0502020204030204" pitchFamily="34" charset="0"/>
                <a:ea typeface="Calibri" panose="020F0502020204030204" pitchFamily="34" charset="0"/>
                <a:cs typeface="Calibri" panose="020F0502020204030204" pitchFamily="34" charset="0"/>
              </a:rPr>
              <a:t>autres</a:t>
            </a:r>
            <a:r>
              <a:rPr lang="en-US" sz="2400" dirty="0">
                <a:solidFill>
                  <a:srgbClr val="3D4E6B"/>
                </a:solidFill>
                <a:latin typeface="Calibri" panose="020F0502020204030204" pitchFamily="34" charset="0"/>
                <a:ea typeface="Calibri" panose="020F0502020204030204" pitchFamily="34" charset="0"/>
                <a:cs typeface="Calibri" panose="020F0502020204030204" pitchFamily="34" charset="0"/>
              </a:rPr>
              <a:t> voitures et </a:t>
            </a:r>
            <a:r>
              <a:rPr lang="en-US" sz="2400" dirty="0" err="1">
                <a:solidFill>
                  <a:srgbClr val="3D4E6B"/>
                </a:solidFill>
                <a:latin typeface="Calibri" panose="020F0502020204030204" pitchFamily="34" charset="0"/>
                <a:ea typeface="Calibri" panose="020F0502020204030204" pitchFamily="34" charset="0"/>
                <a:cs typeface="Calibri" panose="020F0502020204030204" pitchFamily="34" charset="0"/>
              </a:rPr>
              <a:t>pièces</a:t>
            </a:r>
            <a:r>
              <a:rPr lang="en-US" sz="2400" dirty="0">
                <a:solidFill>
                  <a:srgbClr val="3D4E6B"/>
                </a:solidFill>
                <a:latin typeface="Calibri" panose="020F0502020204030204" pitchFamily="34" charset="0"/>
                <a:ea typeface="Calibri" panose="020F0502020204030204" pitchFamily="34" charset="0"/>
                <a:cs typeface="Calibri" panose="020F0502020204030204" pitchFamily="34" charset="0"/>
              </a:rPr>
              <a:t> </a:t>
            </a:r>
            <a:r>
              <a:rPr lang="en-US" sz="2400" dirty="0" err="1">
                <a:solidFill>
                  <a:srgbClr val="3D4E6B"/>
                </a:solidFill>
                <a:latin typeface="Calibri" panose="020F0502020204030204" pitchFamily="34" charset="0"/>
                <a:ea typeface="Calibri" panose="020F0502020204030204" pitchFamily="34" charset="0"/>
                <a:cs typeface="Calibri" panose="020F0502020204030204" pitchFamily="34" charset="0"/>
              </a:rPr>
              <a:t>entièrement</a:t>
            </a:r>
            <a:r>
              <a:rPr lang="en-US" sz="2400" dirty="0">
                <a:solidFill>
                  <a:srgbClr val="3D4E6B"/>
                </a:solidFill>
                <a:latin typeface="Calibri" panose="020F0502020204030204" pitchFamily="34" charset="0"/>
                <a:ea typeface="Calibri" panose="020F0502020204030204" pitchFamily="34" charset="0"/>
                <a:cs typeface="Calibri" panose="020F0502020204030204" pitchFamily="34" charset="0"/>
              </a:rPr>
              <a:t> </a:t>
            </a:r>
            <a:r>
              <a:rPr lang="en-US" sz="2400" dirty="0" err="1">
                <a:solidFill>
                  <a:srgbClr val="3D4E6B"/>
                </a:solidFill>
                <a:latin typeface="Calibri" panose="020F0502020204030204" pitchFamily="34" charset="0"/>
                <a:ea typeface="Calibri" panose="020F0502020204030204" pitchFamily="34" charset="0"/>
                <a:cs typeface="Calibri" panose="020F0502020204030204" pitchFamily="34" charset="0"/>
              </a:rPr>
              <a:t>ignorés</a:t>
            </a: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
        <p:nvSpPr>
          <p:cNvPr id="1325" name="Shape 24">
            <a:extLst>
              <a:ext uri="{FF2B5EF4-FFF2-40B4-BE49-F238E27FC236}">
                <a16:creationId xmlns:a16="http://schemas.microsoft.com/office/drawing/2014/main" id="{B471704B-8FA0-2A10-80B1-450265253724}"/>
              </a:ext>
            </a:extLst>
          </p:cNvPr>
          <p:cNvSpPr/>
          <p:nvPr/>
        </p:nvSpPr>
        <p:spPr>
          <a:xfrm>
            <a:off x="33016783" y="8502727"/>
            <a:ext cx="5798594" cy="1763260"/>
          </a:xfrm>
          <a:prstGeom prst="rect">
            <a:avLst/>
          </a:prstGeom>
          <a:solidFill>
            <a:srgbClr val="E8F5E9"/>
          </a:solidFill>
          <a:ln w="12700">
            <a:solidFill>
              <a:srgbClr val="27AE60"/>
            </a:solidFill>
            <a:prstDash val="solid"/>
          </a:ln>
        </p:spPr>
        <p:txBody>
          <a:bodyPr/>
          <a:lstStyle/>
          <a:p>
            <a:endParaRPr lang="fr-CA" sz="2200">
              <a:latin typeface="Calibri" panose="020F0502020204030204" pitchFamily="34" charset="0"/>
              <a:ea typeface="Calibri" panose="020F0502020204030204" pitchFamily="34" charset="0"/>
              <a:cs typeface="Calibri" panose="020F0502020204030204" pitchFamily="34" charset="0"/>
            </a:endParaRPr>
          </a:p>
        </p:txBody>
      </p:sp>
      <p:sp>
        <p:nvSpPr>
          <p:cNvPr id="1326" name="Shape 25">
            <a:extLst>
              <a:ext uri="{FF2B5EF4-FFF2-40B4-BE49-F238E27FC236}">
                <a16:creationId xmlns:a16="http://schemas.microsoft.com/office/drawing/2014/main" id="{37B0B648-B140-73A2-7090-5197B6B1B127}"/>
              </a:ext>
            </a:extLst>
          </p:cNvPr>
          <p:cNvSpPr/>
          <p:nvPr/>
        </p:nvSpPr>
        <p:spPr>
          <a:xfrm>
            <a:off x="33016783" y="8502727"/>
            <a:ext cx="90200" cy="1763260"/>
          </a:xfrm>
          <a:prstGeom prst="rect">
            <a:avLst/>
          </a:prstGeom>
          <a:solidFill>
            <a:srgbClr val="27AE60"/>
          </a:solidFill>
          <a:ln w="12700">
            <a:solidFill>
              <a:srgbClr val="27AE60"/>
            </a:solidFill>
            <a:prstDash val="solid"/>
          </a:ln>
        </p:spPr>
        <p:txBody>
          <a:bodyPr/>
          <a:lstStyle/>
          <a:p>
            <a:endParaRPr lang="fr-CA" sz="2200">
              <a:latin typeface="Calibri" panose="020F0502020204030204" pitchFamily="34" charset="0"/>
              <a:ea typeface="Calibri" panose="020F0502020204030204" pitchFamily="34" charset="0"/>
              <a:cs typeface="Calibri" panose="020F0502020204030204" pitchFamily="34" charset="0"/>
            </a:endParaRPr>
          </a:p>
        </p:txBody>
      </p:sp>
      <p:sp>
        <p:nvSpPr>
          <p:cNvPr id="1327" name="Text 26">
            <a:extLst>
              <a:ext uri="{FF2B5EF4-FFF2-40B4-BE49-F238E27FC236}">
                <a16:creationId xmlns:a16="http://schemas.microsoft.com/office/drawing/2014/main" id="{3D1016CD-C7D8-693C-3775-D5E04B722E45}"/>
              </a:ext>
            </a:extLst>
          </p:cNvPr>
          <p:cNvSpPr/>
          <p:nvPr/>
        </p:nvSpPr>
        <p:spPr>
          <a:xfrm>
            <a:off x="33153943" y="8502727"/>
            <a:ext cx="5476450" cy="613308"/>
          </a:xfrm>
          <a:prstGeom prst="rect">
            <a:avLst/>
          </a:prstGeom>
          <a:noFill/>
          <a:ln/>
        </p:spPr>
        <p:txBody>
          <a:bodyPr wrap="square" rtlCol="0" anchor="ctr"/>
          <a:lstStyle/>
          <a:p>
            <a:r>
              <a:rPr lang="en-US" sz="2200" b="1" dirty="0">
                <a:solidFill>
                  <a:srgbClr val="27AE60"/>
                </a:solidFill>
                <a:latin typeface="Calibri" panose="020F0502020204030204" pitchFamily="34" charset="0"/>
                <a:ea typeface="Calibri" panose="020F0502020204030204" pitchFamily="34" charset="0"/>
                <a:cs typeface="Calibri" panose="020F0502020204030204" pitchFamily="34" charset="0"/>
              </a:rPr>
              <a:t>✓ </a:t>
            </a:r>
            <a:r>
              <a:rPr lang="en-US" sz="2400" b="1" dirty="0">
                <a:solidFill>
                  <a:srgbClr val="27AE60"/>
                </a:solidFill>
                <a:latin typeface="Calibri" panose="020F0502020204030204" pitchFamily="34" charset="0"/>
                <a:ea typeface="Calibri" panose="020F0502020204030204" pitchFamily="34" charset="0"/>
                <a:cs typeface="Calibri" panose="020F0502020204030204" pitchFamily="34" charset="0"/>
              </a:rPr>
              <a:t>Image </a:t>
            </a:r>
            <a:r>
              <a:rPr lang="en-US" sz="2400" b="1" dirty="0" err="1">
                <a:solidFill>
                  <a:srgbClr val="27AE60"/>
                </a:solidFill>
                <a:latin typeface="Calibri" panose="020F0502020204030204" pitchFamily="34" charset="0"/>
                <a:ea typeface="Calibri" panose="020F0502020204030204" pitchFamily="34" charset="0"/>
                <a:cs typeface="Calibri" panose="020F0502020204030204" pitchFamily="34" charset="0"/>
              </a:rPr>
              <a:t>dégradée</a:t>
            </a:r>
            <a:r>
              <a:rPr lang="en-US" sz="2400" b="1" dirty="0">
                <a:solidFill>
                  <a:srgbClr val="27AE60"/>
                </a:solidFill>
                <a:latin typeface="Calibri" panose="020F0502020204030204" pitchFamily="34" charset="0"/>
                <a:ea typeface="Calibri" panose="020F0502020204030204" pitchFamily="34" charset="0"/>
                <a:cs typeface="Calibri" panose="020F0502020204030204" pitchFamily="34" charset="0"/>
              </a:rPr>
              <a:t> / </a:t>
            </a:r>
            <a:r>
              <a:rPr lang="en-US" sz="2400" b="1" dirty="0" err="1">
                <a:solidFill>
                  <a:srgbClr val="27AE60"/>
                </a:solidFill>
                <a:latin typeface="Calibri" panose="020F0502020204030204" pitchFamily="34" charset="0"/>
                <a:ea typeface="Calibri" panose="020F0502020204030204" pitchFamily="34" charset="0"/>
                <a:cs typeface="Calibri" panose="020F0502020204030204" pitchFamily="34" charset="0"/>
              </a:rPr>
              <a:t>pixelisée</a:t>
            </a:r>
            <a:endParaRPr lang="en-US" sz="2200" dirty="0">
              <a:latin typeface="Calibri" panose="020F0502020204030204" pitchFamily="34" charset="0"/>
              <a:ea typeface="Calibri" panose="020F0502020204030204" pitchFamily="34" charset="0"/>
              <a:cs typeface="Calibri" panose="020F0502020204030204" pitchFamily="34" charset="0"/>
            </a:endParaRPr>
          </a:p>
        </p:txBody>
      </p:sp>
      <p:sp>
        <p:nvSpPr>
          <p:cNvPr id="1328" name="Text 27">
            <a:extLst>
              <a:ext uri="{FF2B5EF4-FFF2-40B4-BE49-F238E27FC236}">
                <a16:creationId xmlns:a16="http://schemas.microsoft.com/office/drawing/2014/main" id="{C0008561-4289-FCD0-79EA-C6B956D96D24}"/>
              </a:ext>
            </a:extLst>
          </p:cNvPr>
          <p:cNvSpPr/>
          <p:nvPr/>
        </p:nvSpPr>
        <p:spPr>
          <a:xfrm>
            <a:off x="33153943" y="8984492"/>
            <a:ext cx="5476450" cy="1073289"/>
          </a:xfrm>
          <a:prstGeom prst="rect">
            <a:avLst/>
          </a:prstGeom>
          <a:noFill/>
          <a:ln/>
        </p:spPr>
        <p:txBody>
          <a:bodyPr wrap="square" rtlCol="0" anchor="t"/>
          <a:lstStyle/>
          <a:p>
            <a:r>
              <a:rPr lang="en-US" sz="2400" dirty="0" err="1">
                <a:solidFill>
                  <a:srgbClr val="3D4E6B"/>
                </a:solidFill>
                <a:latin typeface="Calibri" panose="020F0502020204030204" pitchFamily="34" charset="0"/>
                <a:ea typeface="Calibri" panose="020F0502020204030204" pitchFamily="34" charset="0"/>
                <a:cs typeface="Calibri" panose="020F0502020204030204" pitchFamily="34" charset="0"/>
              </a:rPr>
              <a:t>Niveau</a:t>
            </a:r>
            <a:r>
              <a:rPr lang="en-US" sz="2400" dirty="0">
                <a:solidFill>
                  <a:srgbClr val="3D4E6B"/>
                </a:solidFill>
                <a:latin typeface="Calibri" panose="020F0502020204030204" pitchFamily="34" charset="0"/>
                <a:ea typeface="Calibri" panose="020F0502020204030204" pitchFamily="34" charset="0"/>
                <a:cs typeface="Calibri" panose="020F0502020204030204" pitchFamily="34" charset="0"/>
              </a:rPr>
              <a:t> de </a:t>
            </a:r>
            <a:r>
              <a:rPr lang="en-US" sz="2400" dirty="0" err="1">
                <a:solidFill>
                  <a:srgbClr val="3D4E6B"/>
                </a:solidFill>
                <a:latin typeface="Calibri" panose="020F0502020204030204" pitchFamily="34" charset="0"/>
                <a:ea typeface="Calibri" panose="020F0502020204030204" pitchFamily="34" charset="0"/>
                <a:cs typeface="Calibri" panose="020F0502020204030204" pitchFamily="34" charset="0"/>
              </a:rPr>
              <a:t>confiance</a:t>
            </a:r>
            <a:r>
              <a:rPr lang="en-US" sz="2400" dirty="0">
                <a:solidFill>
                  <a:srgbClr val="3D4E6B"/>
                </a:solidFill>
                <a:latin typeface="Calibri" panose="020F0502020204030204" pitchFamily="34" charset="0"/>
                <a:ea typeface="Calibri" panose="020F0502020204030204" pitchFamily="34" charset="0"/>
                <a:cs typeface="Calibri" panose="020F0502020204030204" pitchFamily="34" charset="0"/>
              </a:rPr>
              <a:t> et </a:t>
            </a:r>
            <a:r>
              <a:rPr lang="en-US" sz="2400" dirty="0" err="1">
                <a:solidFill>
                  <a:srgbClr val="3D4E6B"/>
                </a:solidFill>
                <a:latin typeface="Calibri" panose="020F0502020204030204" pitchFamily="34" charset="0"/>
                <a:ea typeface="Calibri" panose="020F0502020204030204" pitchFamily="34" charset="0"/>
                <a:cs typeface="Calibri" panose="020F0502020204030204" pitchFamily="34" charset="0"/>
              </a:rPr>
              <a:t>précision</a:t>
            </a:r>
            <a:r>
              <a:rPr lang="en-US" sz="2400" dirty="0">
                <a:solidFill>
                  <a:srgbClr val="3D4E6B"/>
                </a:solidFill>
                <a:latin typeface="Calibri" panose="020F0502020204030204" pitchFamily="34" charset="0"/>
                <a:ea typeface="Calibri" panose="020F0502020204030204" pitchFamily="34" charset="0"/>
                <a:cs typeface="Calibri" panose="020F0502020204030204" pitchFamily="34" charset="0"/>
              </a:rPr>
              <a:t> </a:t>
            </a:r>
            <a:r>
              <a:rPr lang="en-US" sz="2400" dirty="0" err="1">
                <a:solidFill>
                  <a:srgbClr val="3D4E6B"/>
                </a:solidFill>
                <a:latin typeface="Calibri" panose="020F0502020204030204" pitchFamily="34" charset="0"/>
                <a:ea typeface="Calibri" panose="020F0502020204030204" pitchFamily="34" charset="0"/>
                <a:cs typeface="Calibri" panose="020F0502020204030204" pitchFamily="34" charset="0"/>
              </a:rPr>
              <a:t>élevé</a:t>
            </a:r>
            <a:r>
              <a:rPr lang="en-US" sz="2400" dirty="0">
                <a:solidFill>
                  <a:srgbClr val="3D4E6B"/>
                </a:solidFill>
                <a:latin typeface="Calibri" panose="020F0502020204030204" pitchFamily="34" charset="0"/>
                <a:ea typeface="Calibri" panose="020F0502020204030204" pitchFamily="34" charset="0"/>
                <a:cs typeface="Calibri" panose="020F0502020204030204" pitchFamily="34" charset="0"/>
              </a:rPr>
              <a:t> malgré la </a:t>
            </a:r>
            <a:r>
              <a:rPr lang="en-US" sz="2400" dirty="0" err="1">
                <a:solidFill>
                  <a:srgbClr val="3D4E6B"/>
                </a:solidFill>
                <a:latin typeface="Calibri" panose="020F0502020204030204" pitchFamily="34" charset="0"/>
                <a:ea typeface="Calibri" panose="020F0502020204030204" pitchFamily="34" charset="0"/>
                <a:cs typeface="Calibri" panose="020F0502020204030204" pitchFamily="34" charset="0"/>
              </a:rPr>
              <a:t>basse</a:t>
            </a:r>
            <a:r>
              <a:rPr lang="en-US" sz="2400" dirty="0">
                <a:solidFill>
                  <a:srgbClr val="3D4E6B"/>
                </a:solidFill>
                <a:latin typeface="Calibri" panose="020F0502020204030204" pitchFamily="34" charset="0"/>
                <a:ea typeface="Calibri" panose="020F0502020204030204" pitchFamily="34" charset="0"/>
                <a:cs typeface="Calibri" panose="020F0502020204030204" pitchFamily="34" charset="0"/>
              </a:rPr>
              <a:t> </a:t>
            </a:r>
            <a:r>
              <a:rPr lang="en-US" sz="2400" dirty="0" err="1">
                <a:solidFill>
                  <a:srgbClr val="3D4E6B"/>
                </a:solidFill>
                <a:latin typeface="Calibri" panose="020F0502020204030204" pitchFamily="34" charset="0"/>
                <a:ea typeface="Calibri" panose="020F0502020204030204" pitchFamily="34" charset="0"/>
                <a:cs typeface="Calibri" panose="020F0502020204030204" pitchFamily="34" charset="0"/>
              </a:rPr>
              <a:t>résolution</a:t>
            </a:r>
            <a:r>
              <a:rPr lang="en-US" sz="2400" dirty="0">
                <a:solidFill>
                  <a:srgbClr val="3D4E6B"/>
                </a:solidFill>
                <a:latin typeface="Calibri" panose="020F0502020204030204" pitchFamily="34" charset="0"/>
                <a:ea typeface="Calibri" panose="020F0502020204030204" pitchFamily="34" charset="0"/>
                <a:cs typeface="Calibri" panose="020F0502020204030204" pitchFamily="34" charset="0"/>
              </a:rPr>
              <a:t> de </a:t>
            </a:r>
            <a:r>
              <a:rPr lang="en-US" sz="2400" dirty="0" err="1">
                <a:solidFill>
                  <a:srgbClr val="3D4E6B"/>
                </a:solidFill>
                <a:latin typeface="Calibri" panose="020F0502020204030204" pitchFamily="34" charset="0"/>
                <a:ea typeface="Calibri" panose="020F0502020204030204" pitchFamily="34" charset="0"/>
                <a:cs typeface="Calibri" panose="020F0502020204030204" pitchFamily="34" charset="0"/>
              </a:rPr>
              <a:t>certaines</a:t>
            </a:r>
            <a:r>
              <a:rPr lang="en-US" sz="2400" dirty="0">
                <a:solidFill>
                  <a:srgbClr val="3D4E6B"/>
                </a:solidFill>
                <a:latin typeface="Calibri" panose="020F0502020204030204" pitchFamily="34" charset="0"/>
                <a:ea typeface="Calibri" panose="020F0502020204030204" pitchFamily="34" charset="0"/>
                <a:cs typeface="Calibri" panose="020F0502020204030204" pitchFamily="34" charset="0"/>
              </a:rPr>
              <a:t> images</a:t>
            </a:r>
            <a:endParaRPr lang="en-US" sz="2400" dirty="0">
              <a:latin typeface="Calibri" panose="020F0502020204030204" pitchFamily="34" charset="0"/>
              <a:ea typeface="Calibri" panose="020F0502020204030204" pitchFamily="34" charset="0"/>
              <a:cs typeface="Calibri" panose="020F0502020204030204" pitchFamily="34" charset="0"/>
            </a:endParaRPr>
          </a:p>
        </p:txBody>
      </p:sp>
      <p:sp>
        <p:nvSpPr>
          <p:cNvPr id="1329" name="Shape 12">
            <a:extLst>
              <a:ext uri="{FF2B5EF4-FFF2-40B4-BE49-F238E27FC236}">
                <a16:creationId xmlns:a16="http://schemas.microsoft.com/office/drawing/2014/main" id="{490F8970-0027-91FB-BA91-0F9A28395AA5}"/>
              </a:ext>
            </a:extLst>
          </p:cNvPr>
          <p:cNvSpPr/>
          <p:nvPr/>
        </p:nvSpPr>
        <p:spPr>
          <a:xfrm>
            <a:off x="33083073" y="12424973"/>
            <a:ext cx="5755504" cy="2471430"/>
          </a:xfrm>
          <a:prstGeom prst="rect">
            <a:avLst/>
          </a:prstGeom>
          <a:solidFill>
            <a:srgbClr val="F4F7FC"/>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fr-CA" sz="2400"/>
          </a:p>
        </p:txBody>
      </p:sp>
      <p:sp>
        <p:nvSpPr>
          <p:cNvPr id="1330" name="Shape 13">
            <a:extLst>
              <a:ext uri="{FF2B5EF4-FFF2-40B4-BE49-F238E27FC236}">
                <a16:creationId xmlns:a16="http://schemas.microsoft.com/office/drawing/2014/main" id="{E5E65FE9-2337-1711-BF2F-368116DEBF0C}"/>
              </a:ext>
            </a:extLst>
          </p:cNvPr>
          <p:cNvSpPr/>
          <p:nvPr/>
        </p:nvSpPr>
        <p:spPr>
          <a:xfrm>
            <a:off x="33039983" y="12424973"/>
            <a:ext cx="90200" cy="2471430"/>
          </a:xfrm>
          <a:prstGeom prst="rect">
            <a:avLst/>
          </a:prstGeom>
          <a:solidFill>
            <a:srgbClr val="C0392B"/>
          </a:solidFill>
          <a:ln w="12700">
            <a:solidFill>
              <a:srgbClr val="C0392B"/>
            </a:solidFill>
            <a:prstDash val="solid"/>
          </a:ln>
        </p:spPr>
        <p:txBody>
          <a:bodyPr/>
          <a:lstStyle/>
          <a:p>
            <a:endParaRPr lang="fr-CA" sz="2400"/>
          </a:p>
        </p:txBody>
      </p:sp>
      <p:sp>
        <p:nvSpPr>
          <p:cNvPr id="1331" name="Text 14">
            <a:extLst>
              <a:ext uri="{FF2B5EF4-FFF2-40B4-BE49-F238E27FC236}">
                <a16:creationId xmlns:a16="http://schemas.microsoft.com/office/drawing/2014/main" id="{7B5E5CA9-0604-3C93-A572-0244C7900480}"/>
              </a:ext>
            </a:extLst>
          </p:cNvPr>
          <p:cNvSpPr/>
          <p:nvPr/>
        </p:nvSpPr>
        <p:spPr>
          <a:xfrm>
            <a:off x="33220233" y="12319119"/>
            <a:ext cx="5595144" cy="693561"/>
          </a:xfrm>
          <a:prstGeom prst="rect">
            <a:avLst/>
          </a:prstGeom>
          <a:noFill/>
          <a:ln/>
        </p:spPr>
        <p:txBody>
          <a:bodyPr wrap="square" rtlCol="0" anchor="ctr"/>
          <a:lstStyle/>
          <a:p>
            <a:pPr marL="0" indent="0">
              <a:buNone/>
            </a:pPr>
            <a:r>
              <a:rPr lang="en-US" sz="2200" b="1" dirty="0">
                <a:solidFill>
                  <a:srgbClr val="C0392B"/>
                </a:solidFill>
              </a:rPr>
              <a:t>Petites pieces — </a:t>
            </a:r>
            <a:r>
              <a:rPr lang="en-US" sz="2200" b="1" dirty="0" err="1">
                <a:solidFill>
                  <a:srgbClr val="C0392B"/>
                </a:solidFill>
              </a:rPr>
              <a:t>faible</a:t>
            </a:r>
            <a:r>
              <a:rPr lang="en-US" sz="2200" b="1" dirty="0">
                <a:solidFill>
                  <a:srgbClr val="C0392B"/>
                </a:solidFill>
              </a:rPr>
              <a:t> rappel</a:t>
            </a:r>
            <a:endParaRPr lang="en-US" sz="2200" dirty="0">
              <a:solidFill>
                <a:srgbClr val="C0392B"/>
              </a:solidFill>
            </a:endParaRPr>
          </a:p>
        </p:txBody>
      </p:sp>
      <p:sp>
        <p:nvSpPr>
          <p:cNvPr id="1332" name="Text 15">
            <a:extLst>
              <a:ext uri="{FF2B5EF4-FFF2-40B4-BE49-F238E27FC236}">
                <a16:creationId xmlns:a16="http://schemas.microsoft.com/office/drawing/2014/main" id="{0BF58F12-E6AC-F500-001B-503A64540785}"/>
              </a:ext>
            </a:extLst>
          </p:cNvPr>
          <p:cNvSpPr/>
          <p:nvPr/>
        </p:nvSpPr>
        <p:spPr>
          <a:xfrm>
            <a:off x="33186979" y="12869894"/>
            <a:ext cx="5595144" cy="2591727"/>
          </a:xfrm>
          <a:prstGeom prst="rect">
            <a:avLst/>
          </a:prstGeom>
          <a:noFill/>
          <a:ln/>
        </p:spPr>
        <p:txBody>
          <a:bodyPr wrap="square" rtlCol="0" anchor="t"/>
          <a:lstStyle/>
          <a:p>
            <a:r>
              <a:rPr lang="en-US" sz="2200" dirty="0">
                <a:solidFill>
                  <a:srgbClr val="3D4E6B"/>
                </a:solidFill>
              </a:rPr>
              <a:t>Rate </a:t>
            </a:r>
            <a:r>
              <a:rPr lang="en-US" sz="2200" dirty="0" err="1">
                <a:solidFill>
                  <a:srgbClr val="3D4E6B"/>
                </a:solidFill>
              </a:rPr>
              <a:t>plusieurs</a:t>
            </a:r>
            <a:r>
              <a:rPr lang="en-US" sz="2200" dirty="0">
                <a:solidFill>
                  <a:srgbClr val="3D4E6B"/>
                </a:solidFill>
              </a:rPr>
              <a:t> petites pieces </a:t>
            </a:r>
            <a:r>
              <a:rPr lang="en-US" sz="2200" dirty="0" err="1">
                <a:solidFill>
                  <a:srgbClr val="3D4E6B"/>
                </a:solidFill>
              </a:rPr>
              <a:t>comme</a:t>
            </a:r>
            <a:r>
              <a:rPr lang="en-US" sz="2200" dirty="0">
                <a:solidFill>
                  <a:srgbClr val="3D4E6B"/>
                </a:solidFill>
              </a:rPr>
              <a:t> les </a:t>
            </a:r>
            <a:r>
              <a:rPr lang="en-US" sz="2200" dirty="0" err="1">
                <a:solidFill>
                  <a:srgbClr val="3D4E6B"/>
                </a:solidFill>
              </a:rPr>
              <a:t>rétroviseurs</a:t>
            </a:r>
            <a:r>
              <a:rPr lang="en-US" sz="2200" dirty="0">
                <a:solidFill>
                  <a:srgbClr val="3D4E6B"/>
                </a:solidFill>
              </a:rPr>
              <a:t> et phares </a:t>
            </a:r>
            <a:r>
              <a:rPr lang="en-US" sz="2200" dirty="0" err="1">
                <a:solidFill>
                  <a:srgbClr val="3D4E6B"/>
                </a:solidFill>
              </a:rPr>
              <a:t>endommagés</a:t>
            </a:r>
            <a:r>
              <a:rPr lang="en-US" sz="2200" dirty="0">
                <a:solidFill>
                  <a:srgbClr val="3D4E6B"/>
                </a:solidFill>
              </a:rPr>
              <a:t>. </a:t>
            </a:r>
            <a:r>
              <a:rPr lang="en-US" sz="2200" dirty="0" err="1">
                <a:solidFill>
                  <a:srgbClr val="3D4E6B"/>
                </a:solidFill>
              </a:rPr>
              <a:t>Variabilité</a:t>
            </a:r>
            <a:r>
              <a:rPr lang="en-US" sz="2200" dirty="0">
                <a:solidFill>
                  <a:srgbClr val="3D4E6B"/>
                </a:solidFill>
              </a:rPr>
              <a:t> </a:t>
            </a:r>
            <a:r>
              <a:rPr lang="en-US" sz="2200" dirty="0" err="1">
                <a:solidFill>
                  <a:srgbClr val="3D4E6B"/>
                </a:solidFill>
              </a:rPr>
              <a:t>visuelle</a:t>
            </a:r>
            <a:r>
              <a:rPr lang="en-US" sz="2200" dirty="0">
                <a:solidFill>
                  <a:srgbClr val="3D4E6B"/>
                </a:solidFill>
              </a:rPr>
              <a:t> </a:t>
            </a:r>
            <a:r>
              <a:rPr lang="en-US" sz="2200" dirty="0" err="1">
                <a:solidFill>
                  <a:srgbClr val="3D4E6B"/>
                </a:solidFill>
              </a:rPr>
              <a:t>extrême</a:t>
            </a:r>
            <a:r>
              <a:rPr lang="en-US" sz="2200" dirty="0">
                <a:solidFill>
                  <a:srgbClr val="3D4E6B"/>
                </a:solidFill>
              </a:rPr>
              <a:t> + occlusion </a:t>
            </a:r>
            <a:r>
              <a:rPr lang="en-US" sz="2200" dirty="0" err="1">
                <a:solidFill>
                  <a:srgbClr val="3D4E6B"/>
                </a:solidFill>
              </a:rPr>
              <a:t>fréquente</a:t>
            </a:r>
            <a:r>
              <a:rPr lang="en-US" sz="2200" dirty="0">
                <a:solidFill>
                  <a:srgbClr val="3D4E6B"/>
                </a:solidFill>
              </a:rPr>
              <a:t> + petite taille à 640px + </a:t>
            </a:r>
            <a:r>
              <a:rPr lang="en-US" sz="2200" dirty="0" err="1">
                <a:solidFill>
                  <a:srgbClr val="3D4E6B"/>
                </a:solidFill>
              </a:rPr>
              <a:t>parfois</a:t>
            </a:r>
            <a:r>
              <a:rPr lang="en-US" sz="2200" dirty="0">
                <a:solidFill>
                  <a:srgbClr val="3D4E6B"/>
                </a:solidFill>
              </a:rPr>
              <a:t> absent (</a:t>
            </a:r>
            <a:r>
              <a:rPr lang="en-US" sz="2200" dirty="0" err="1">
                <a:solidFill>
                  <a:srgbClr val="3D4E6B"/>
                </a:solidFill>
              </a:rPr>
              <a:t>arraché</a:t>
            </a:r>
            <a:r>
              <a:rPr lang="en-US" sz="2200" dirty="0">
                <a:solidFill>
                  <a:srgbClr val="3D4E6B"/>
                </a:solidFill>
              </a:rPr>
              <a:t>). Seul </a:t>
            </a:r>
            <a:r>
              <a:rPr lang="en-US" sz="2200" dirty="0" err="1">
                <a:solidFill>
                  <a:srgbClr val="3D4E6B"/>
                </a:solidFill>
              </a:rPr>
              <a:t>l’ajout</a:t>
            </a:r>
            <a:r>
              <a:rPr lang="en-US" sz="2200" dirty="0">
                <a:solidFill>
                  <a:srgbClr val="3D4E6B"/>
                </a:solidFill>
              </a:rPr>
              <a:t> de données </a:t>
            </a:r>
            <a:r>
              <a:rPr lang="en-US" sz="2200" dirty="0" err="1">
                <a:solidFill>
                  <a:srgbClr val="3D4E6B"/>
                </a:solidFill>
              </a:rPr>
              <a:t>corrigerait</a:t>
            </a:r>
            <a:r>
              <a:rPr lang="en-US" sz="2200" dirty="0">
                <a:solidFill>
                  <a:srgbClr val="3D4E6B"/>
                </a:solidFill>
              </a:rPr>
              <a:t> </a:t>
            </a:r>
            <a:r>
              <a:rPr lang="en-US" sz="2200" dirty="0" err="1">
                <a:solidFill>
                  <a:srgbClr val="3D4E6B"/>
                </a:solidFill>
              </a:rPr>
              <a:t>cette</a:t>
            </a:r>
            <a:r>
              <a:rPr lang="en-US" sz="2200" dirty="0">
                <a:solidFill>
                  <a:srgbClr val="3D4E6B"/>
                </a:solidFill>
              </a:rPr>
              <a:t> </a:t>
            </a:r>
            <a:r>
              <a:rPr lang="en-US" sz="2200" dirty="0" err="1">
                <a:solidFill>
                  <a:srgbClr val="3D4E6B"/>
                </a:solidFill>
              </a:rPr>
              <a:t>limite</a:t>
            </a:r>
            <a:r>
              <a:rPr lang="en-US" sz="2200" dirty="0">
                <a:solidFill>
                  <a:srgbClr val="3D4E6B"/>
                </a:solidFill>
              </a:rPr>
              <a:t>.</a:t>
            </a:r>
            <a:endParaRPr lang="en-US" sz="2200" dirty="0"/>
          </a:p>
        </p:txBody>
      </p:sp>
      <p:sp>
        <p:nvSpPr>
          <p:cNvPr id="1333" name="Shape 8">
            <a:extLst>
              <a:ext uri="{FF2B5EF4-FFF2-40B4-BE49-F238E27FC236}">
                <a16:creationId xmlns:a16="http://schemas.microsoft.com/office/drawing/2014/main" id="{028B2136-D42F-0987-469C-C0425CB6CBE0}"/>
              </a:ext>
            </a:extLst>
          </p:cNvPr>
          <p:cNvSpPr/>
          <p:nvPr/>
        </p:nvSpPr>
        <p:spPr>
          <a:xfrm>
            <a:off x="27081029" y="12424972"/>
            <a:ext cx="5798594" cy="2471432"/>
          </a:xfrm>
          <a:prstGeom prst="rect">
            <a:avLst/>
          </a:prstGeom>
          <a:solidFill>
            <a:srgbClr val="F4F7FC"/>
          </a:solidFill>
          <a:ln w="12700">
            <a:solidFill>
              <a:srgbClr val="E2E8F0"/>
            </a:solidFill>
            <a:prstDash val="solid"/>
          </a:ln>
          <a:effectLst>
            <a:outerShdw blurRad="101600" dist="25400" dir="8100000" algn="bl" rotWithShape="0">
              <a:srgbClr val="000000">
                <a:alpha val="12000"/>
              </a:srgbClr>
            </a:outerShdw>
          </a:effectLst>
        </p:spPr>
        <p:txBody>
          <a:bodyPr/>
          <a:lstStyle/>
          <a:p>
            <a:endParaRPr lang="fr-CA"/>
          </a:p>
        </p:txBody>
      </p:sp>
      <p:sp>
        <p:nvSpPr>
          <p:cNvPr id="1334" name="Shape 9">
            <a:extLst>
              <a:ext uri="{FF2B5EF4-FFF2-40B4-BE49-F238E27FC236}">
                <a16:creationId xmlns:a16="http://schemas.microsoft.com/office/drawing/2014/main" id="{43D2752A-5ED0-5007-6CAF-BAC5462518FB}"/>
              </a:ext>
            </a:extLst>
          </p:cNvPr>
          <p:cNvSpPr/>
          <p:nvPr/>
        </p:nvSpPr>
        <p:spPr>
          <a:xfrm>
            <a:off x="27081028" y="12424972"/>
            <a:ext cx="113399" cy="2471431"/>
          </a:xfrm>
          <a:prstGeom prst="rect">
            <a:avLst/>
          </a:prstGeom>
          <a:solidFill>
            <a:srgbClr val="C0392B"/>
          </a:solidFill>
          <a:ln w="12700">
            <a:solidFill>
              <a:srgbClr val="C0392B"/>
            </a:solidFill>
            <a:prstDash val="solid"/>
          </a:ln>
        </p:spPr>
        <p:txBody>
          <a:bodyPr/>
          <a:lstStyle/>
          <a:p>
            <a:endParaRPr lang="fr-CA"/>
          </a:p>
        </p:txBody>
      </p:sp>
      <p:sp>
        <p:nvSpPr>
          <p:cNvPr id="1335" name="Text 10">
            <a:extLst>
              <a:ext uri="{FF2B5EF4-FFF2-40B4-BE49-F238E27FC236}">
                <a16:creationId xmlns:a16="http://schemas.microsoft.com/office/drawing/2014/main" id="{65B15BAB-7DA6-88E4-E542-34C53D617030}"/>
              </a:ext>
            </a:extLst>
          </p:cNvPr>
          <p:cNvSpPr/>
          <p:nvPr/>
        </p:nvSpPr>
        <p:spPr>
          <a:xfrm>
            <a:off x="27241388" y="12407885"/>
            <a:ext cx="5671943" cy="610002"/>
          </a:xfrm>
          <a:prstGeom prst="rect">
            <a:avLst/>
          </a:prstGeom>
          <a:noFill/>
          <a:ln/>
        </p:spPr>
        <p:txBody>
          <a:bodyPr wrap="square" rtlCol="0" anchor="ctr"/>
          <a:lstStyle/>
          <a:p>
            <a:pPr marL="0" indent="0">
              <a:buNone/>
            </a:pPr>
            <a:r>
              <a:rPr lang="en-US" sz="2200" b="1" dirty="0">
                <a:solidFill>
                  <a:srgbClr val="C0392B"/>
                </a:solidFill>
              </a:rPr>
              <a:t>Domain shift — véhicules atypiques</a:t>
            </a:r>
            <a:endParaRPr lang="en-US" sz="2200" dirty="0">
              <a:solidFill>
                <a:srgbClr val="C0392B"/>
              </a:solidFill>
            </a:endParaRPr>
          </a:p>
        </p:txBody>
      </p:sp>
      <p:sp>
        <p:nvSpPr>
          <p:cNvPr id="1336" name="Text 11">
            <a:extLst>
              <a:ext uri="{FF2B5EF4-FFF2-40B4-BE49-F238E27FC236}">
                <a16:creationId xmlns:a16="http://schemas.microsoft.com/office/drawing/2014/main" id="{D921E63F-7463-8445-347C-186FD083BF8E}"/>
              </a:ext>
            </a:extLst>
          </p:cNvPr>
          <p:cNvSpPr/>
          <p:nvPr/>
        </p:nvSpPr>
        <p:spPr>
          <a:xfrm>
            <a:off x="27207680" y="12919554"/>
            <a:ext cx="5671943" cy="2279481"/>
          </a:xfrm>
          <a:prstGeom prst="rect">
            <a:avLst/>
          </a:prstGeom>
          <a:noFill/>
          <a:ln/>
        </p:spPr>
        <p:txBody>
          <a:bodyPr wrap="square" rtlCol="0" anchor="t"/>
          <a:lstStyle/>
          <a:p>
            <a:pPr marL="0" indent="0">
              <a:buNone/>
            </a:pPr>
            <a:r>
              <a:rPr lang="en-US" sz="2200" dirty="0">
                <a:solidFill>
                  <a:srgbClr val="3D4E6B"/>
                </a:solidFill>
              </a:rPr>
              <a:t>Ferrari : Très large </a:t>
            </a:r>
            <a:r>
              <a:rPr lang="en-US" sz="2200" dirty="0" err="1">
                <a:solidFill>
                  <a:srgbClr val="3D4E6B"/>
                </a:solidFill>
              </a:rPr>
              <a:t>aile</a:t>
            </a:r>
            <a:r>
              <a:rPr lang="en-US" sz="2200" dirty="0">
                <a:solidFill>
                  <a:srgbClr val="3D4E6B"/>
                </a:solidFill>
              </a:rPr>
              <a:t> arrière confondue avec </a:t>
            </a:r>
            <a:r>
              <a:rPr lang="en-US" sz="2200" dirty="0" err="1">
                <a:solidFill>
                  <a:srgbClr val="3D4E6B"/>
                </a:solidFill>
              </a:rPr>
              <a:t>porte</a:t>
            </a:r>
            <a:r>
              <a:rPr lang="en-US" sz="2200" dirty="0">
                <a:solidFill>
                  <a:srgbClr val="3D4E6B"/>
                </a:solidFill>
              </a:rPr>
              <a:t>, par </a:t>
            </a:r>
            <a:r>
              <a:rPr lang="en-US" sz="2200" dirty="0" err="1">
                <a:solidFill>
                  <a:srgbClr val="3D4E6B"/>
                </a:solidFill>
              </a:rPr>
              <a:t>exemple</a:t>
            </a:r>
            <a:r>
              <a:rPr lang="en-US" sz="2200" dirty="0">
                <a:solidFill>
                  <a:srgbClr val="3D4E6B"/>
                </a:solidFill>
              </a:rPr>
              <a:t>. Design hors distribution du jeu de données. Performances dégradées sur hypercars, véhicules de collection, prototypes.</a:t>
            </a:r>
            <a:endParaRPr lang="en-US" sz="2200" dirty="0"/>
          </a:p>
        </p:txBody>
      </p:sp>
      <p:pic>
        <p:nvPicPr>
          <p:cNvPr id="1337" name="Image 1336">
            <a:extLst>
              <a:ext uri="{FF2B5EF4-FFF2-40B4-BE49-F238E27FC236}">
                <a16:creationId xmlns:a16="http://schemas.microsoft.com/office/drawing/2014/main" id="{69BAF297-A68F-C9A3-7E5B-EC608CD140F3}"/>
              </a:ext>
            </a:extLst>
          </p:cNvPr>
          <p:cNvPicPr>
            <a:picLocks noChangeAspect="1"/>
          </p:cNvPicPr>
          <p:nvPr/>
        </p:nvPicPr>
        <p:blipFill>
          <a:blip r:embed="rId3"/>
          <a:srcRect t="35456" r="6726"/>
          <a:stretch>
            <a:fillRect/>
          </a:stretch>
        </p:blipFill>
        <p:spPr>
          <a:xfrm>
            <a:off x="27171229" y="15331292"/>
            <a:ext cx="8055671" cy="5550881"/>
          </a:xfrm>
          <a:prstGeom prst="rect">
            <a:avLst/>
          </a:prstGeom>
        </p:spPr>
      </p:pic>
      <p:pic>
        <p:nvPicPr>
          <p:cNvPr id="1338" name="Image 1337">
            <a:extLst>
              <a:ext uri="{FF2B5EF4-FFF2-40B4-BE49-F238E27FC236}">
                <a16:creationId xmlns:a16="http://schemas.microsoft.com/office/drawing/2014/main" id="{86D7F776-20E1-6052-7A12-42177B0C95E6}"/>
              </a:ext>
            </a:extLst>
          </p:cNvPr>
          <p:cNvPicPr>
            <a:picLocks noChangeAspect="1"/>
          </p:cNvPicPr>
          <p:nvPr/>
        </p:nvPicPr>
        <p:blipFill>
          <a:blip r:embed="rId4"/>
          <a:stretch>
            <a:fillRect/>
          </a:stretch>
        </p:blipFill>
        <p:spPr>
          <a:xfrm>
            <a:off x="35214318" y="15486562"/>
            <a:ext cx="3710373" cy="5395611"/>
          </a:xfrm>
          <a:prstGeom prst="rect">
            <a:avLst/>
          </a:prstGeom>
        </p:spPr>
      </p:pic>
      <p:sp>
        <p:nvSpPr>
          <p:cNvPr id="1339" name="Shape 195">
            <a:extLst>
              <a:ext uri="{FF2B5EF4-FFF2-40B4-BE49-F238E27FC236}">
                <a16:creationId xmlns:a16="http://schemas.microsoft.com/office/drawing/2014/main" id="{42A8C872-B1E9-27CA-2D5E-537442CC70D2}"/>
              </a:ext>
            </a:extLst>
          </p:cNvPr>
          <p:cNvSpPr/>
          <p:nvPr/>
        </p:nvSpPr>
        <p:spPr>
          <a:xfrm>
            <a:off x="27199882" y="21315794"/>
            <a:ext cx="11612880" cy="54864"/>
          </a:xfrm>
          <a:prstGeom prst="rect">
            <a:avLst/>
          </a:prstGeom>
          <a:solidFill>
            <a:srgbClr val="B8D0F0"/>
          </a:solidFill>
          <a:ln w="12700">
            <a:solidFill>
              <a:srgbClr val="B8D0F0"/>
            </a:solidFill>
            <a:prstDash val="solid"/>
          </a:ln>
        </p:spPr>
        <p:txBody>
          <a:bodyPr/>
          <a:lstStyle/>
          <a:p>
            <a:endParaRPr lang="fr-CA"/>
          </a:p>
        </p:txBody>
      </p:sp>
      <p:sp>
        <p:nvSpPr>
          <p:cNvPr id="1340" name="Text 67">
            <a:extLst>
              <a:ext uri="{FF2B5EF4-FFF2-40B4-BE49-F238E27FC236}">
                <a16:creationId xmlns:a16="http://schemas.microsoft.com/office/drawing/2014/main" id="{8D170021-41BB-5F7C-BBBF-14B5E4B5B4A6}"/>
              </a:ext>
            </a:extLst>
          </p:cNvPr>
          <p:cNvSpPr/>
          <p:nvPr/>
        </p:nvSpPr>
        <p:spPr>
          <a:xfrm>
            <a:off x="27111582" y="5912839"/>
            <a:ext cx="11612880" cy="640080"/>
          </a:xfrm>
          <a:prstGeom prst="rect">
            <a:avLst/>
          </a:prstGeom>
          <a:noFill/>
          <a:ln/>
        </p:spPr>
        <p:txBody>
          <a:bodyPr wrap="square" rtlCol="0" anchor="ctr"/>
          <a:lstStyle/>
          <a:p>
            <a:pPr marL="0" indent="0">
              <a:buNone/>
            </a:pPr>
            <a:r>
              <a:rPr lang="en-US" sz="2400" b="1" dirty="0">
                <a:solidFill>
                  <a:srgbClr val="1A2B5E"/>
                </a:solidFill>
                <a:latin typeface="Calibri" pitchFamily="34" charset="0"/>
                <a:ea typeface="Calibri" pitchFamily="34" charset="-122"/>
                <a:cs typeface="Calibri" pitchFamily="34" charset="-120"/>
              </a:rPr>
              <a:t>Points forts et faiblesses du pipeline</a:t>
            </a:r>
            <a:endParaRPr lang="en-US" sz="2400" dirty="0"/>
          </a:p>
        </p:txBody>
      </p:sp>
      <p:sp>
        <p:nvSpPr>
          <p:cNvPr id="1341" name="Shape 45">
            <a:extLst>
              <a:ext uri="{FF2B5EF4-FFF2-40B4-BE49-F238E27FC236}">
                <a16:creationId xmlns:a16="http://schemas.microsoft.com/office/drawing/2014/main" id="{A2C89B0C-A7A6-7B3E-0C31-E92760428C67}"/>
              </a:ext>
            </a:extLst>
          </p:cNvPr>
          <p:cNvSpPr/>
          <p:nvPr/>
        </p:nvSpPr>
        <p:spPr>
          <a:xfrm>
            <a:off x="488271" y="21008742"/>
            <a:ext cx="12070080" cy="7321465"/>
          </a:xfrm>
          <a:prstGeom prst="rect">
            <a:avLst/>
          </a:prstGeom>
          <a:solidFill>
            <a:srgbClr val="FFFFFF"/>
          </a:solidFill>
          <a:ln w="12700">
            <a:solidFill>
              <a:srgbClr val="C5D3E8"/>
            </a:solidFill>
            <a:prstDash val="solid"/>
          </a:ln>
          <a:effectLst>
            <a:outerShdw blurRad="63500" dist="25400" dir="8100000" algn="bl" rotWithShape="0">
              <a:srgbClr val="000000">
                <a:alpha val="10000"/>
              </a:srgbClr>
            </a:outerShdw>
          </a:effectLst>
        </p:spPr>
        <p:txBody>
          <a:bodyPr/>
          <a:lstStyle/>
          <a:p>
            <a:endParaRPr lang="fr-CA"/>
          </a:p>
        </p:txBody>
      </p:sp>
      <p:sp>
        <p:nvSpPr>
          <p:cNvPr id="1342" name="Shape 46">
            <a:extLst>
              <a:ext uri="{FF2B5EF4-FFF2-40B4-BE49-F238E27FC236}">
                <a16:creationId xmlns:a16="http://schemas.microsoft.com/office/drawing/2014/main" id="{5ED06ADB-684E-0EA0-C294-811612FAEC10}"/>
              </a:ext>
            </a:extLst>
          </p:cNvPr>
          <p:cNvSpPr/>
          <p:nvPr/>
        </p:nvSpPr>
        <p:spPr>
          <a:xfrm>
            <a:off x="488271" y="21008743"/>
            <a:ext cx="12070080" cy="1234440"/>
          </a:xfrm>
          <a:prstGeom prst="rect">
            <a:avLst/>
          </a:prstGeom>
          <a:solidFill>
            <a:srgbClr val="1A2B5E"/>
          </a:solidFill>
          <a:ln w="12700">
            <a:solidFill>
              <a:srgbClr val="1A2B5E"/>
            </a:solidFill>
            <a:prstDash val="solid"/>
          </a:ln>
        </p:spPr>
        <p:txBody>
          <a:bodyPr/>
          <a:lstStyle/>
          <a:p>
            <a:endParaRPr lang="fr-CA"/>
          </a:p>
        </p:txBody>
      </p:sp>
      <p:sp>
        <p:nvSpPr>
          <p:cNvPr id="1343" name="Text 47">
            <a:extLst>
              <a:ext uri="{FF2B5EF4-FFF2-40B4-BE49-F238E27FC236}">
                <a16:creationId xmlns:a16="http://schemas.microsoft.com/office/drawing/2014/main" id="{6D3D70B4-D8B2-F13C-89F4-EF6599A82DAB}"/>
              </a:ext>
            </a:extLst>
          </p:cNvPr>
          <p:cNvSpPr/>
          <p:nvPr/>
        </p:nvSpPr>
        <p:spPr>
          <a:xfrm>
            <a:off x="716871" y="21008743"/>
            <a:ext cx="11612880" cy="1234440"/>
          </a:xfrm>
          <a:prstGeom prst="rect">
            <a:avLst/>
          </a:prstGeom>
          <a:noFill/>
          <a:ln/>
        </p:spPr>
        <p:txBody>
          <a:bodyPr wrap="square" rtlCol="0" anchor="ctr"/>
          <a:lstStyle/>
          <a:p>
            <a:pPr marL="0" indent="0" algn="ctr">
              <a:buNone/>
            </a:pPr>
            <a:r>
              <a:rPr lang="en-US" sz="4000" b="1" dirty="0" err="1">
                <a:solidFill>
                  <a:srgbClr val="FFFFFF"/>
                </a:solidFill>
                <a:latin typeface="Calibri" pitchFamily="34" charset="0"/>
                <a:ea typeface="Calibri" pitchFamily="34" charset="-122"/>
                <a:cs typeface="Calibri" pitchFamily="34" charset="-120"/>
              </a:rPr>
              <a:t>Problèmes</a:t>
            </a:r>
            <a:r>
              <a:rPr lang="en-US" sz="4000" b="1" dirty="0">
                <a:solidFill>
                  <a:srgbClr val="FFFFFF"/>
                </a:solidFill>
                <a:latin typeface="Calibri" pitchFamily="34" charset="0"/>
                <a:ea typeface="Calibri" pitchFamily="34" charset="-122"/>
                <a:cs typeface="Calibri" pitchFamily="34" charset="-120"/>
              </a:rPr>
              <a:t> et correctifs</a:t>
            </a:r>
            <a:endParaRPr lang="en-US" sz="4000" dirty="0"/>
          </a:p>
        </p:txBody>
      </p:sp>
      <p:sp>
        <p:nvSpPr>
          <p:cNvPr id="1344" name="Shape 48">
            <a:extLst>
              <a:ext uri="{FF2B5EF4-FFF2-40B4-BE49-F238E27FC236}">
                <a16:creationId xmlns:a16="http://schemas.microsoft.com/office/drawing/2014/main" id="{08320463-BC41-3691-9AAB-774BDE906A30}"/>
              </a:ext>
            </a:extLst>
          </p:cNvPr>
          <p:cNvSpPr/>
          <p:nvPr/>
        </p:nvSpPr>
        <p:spPr>
          <a:xfrm>
            <a:off x="731520" y="22764391"/>
            <a:ext cx="11612880" cy="1447224"/>
          </a:xfrm>
          <a:prstGeom prst="rect">
            <a:avLst/>
          </a:prstGeom>
          <a:solidFill>
            <a:srgbClr val="F4F7FC"/>
          </a:solidFill>
          <a:ln w="12700">
            <a:solidFill>
              <a:srgbClr val="C5D3E8"/>
            </a:solidFill>
            <a:prstDash val="solid"/>
          </a:ln>
          <a:effectLst>
            <a:outerShdw blurRad="63500" dist="25400" dir="8100000" algn="bl" rotWithShape="0">
              <a:srgbClr val="000000">
                <a:alpha val="10000"/>
              </a:srgbClr>
            </a:outerShdw>
          </a:effectLst>
        </p:spPr>
        <p:txBody>
          <a:bodyPr/>
          <a:lstStyle/>
          <a:p>
            <a:endParaRPr lang="fr-CA" sz="2400"/>
          </a:p>
        </p:txBody>
      </p:sp>
      <p:sp>
        <p:nvSpPr>
          <p:cNvPr id="1345" name="Shape 49">
            <a:extLst>
              <a:ext uri="{FF2B5EF4-FFF2-40B4-BE49-F238E27FC236}">
                <a16:creationId xmlns:a16="http://schemas.microsoft.com/office/drawing/2014/main" id="{9FF2BF20-9746-A5C0-1E7C-A82F7094617B}"/>
              </a:ext>
            </a:extLst>
          </p:cNvPr>
          <p:cNvSpPr/>
          <p:nvPr/>
        </p:nvSpPr>
        <p:spPr>
          <a:xfrm>
            <a:off x="731520" y="22764391"/>
            <a:ext cx="182880" cy="1447224"/>
          </a:xfrm>
          <a:prstGeom prst="rect">
            <a:avLst/>
          </a:prstGeom>
          <a:solidFill>
            <a:srgbClr val="D45D0D"/>
          </a:solidFill>
          <a:ln w="12700">
            <a:solidFill>
              <a:srgbClr val="D45D0D"/>
            </a:solidFill>
            <a:prstDash val="solid"/>
          </a:ln>
        </p:spPr>
        <p:txBody>
          <a:bodyPr/>
          <a:lstStyle/>
          <a:p>
            <a:endParaRPr lang="fr-CA" sz="2400"/>
          </a:p>
        </p:txBody>
      </p:sp>
      <p:sp>
        <p:nvSpPr>
          <p:cNvPr id="1346" name="Text 50">
            <a:extLst>
              <a:ext uri="{FF2B5EF4-FFF2-40B4-BE49-F238E27FC236}">
                <a16:creationId xmlns:a16="http://schemas.microsoft.com/office/drawing/2014/main" id="{9D029E14-5E24-354F-123E-2E49C77B84C9}"/>
              </a:ext>
            </a:extLst>
          </p:cNvPr>
          <p:cNvSpPr/>
          <p:nvPr/>
        </p:nvSpPr>
        <p:spPr>
          <a:xfrm>
            <a:off x="1005840" y="22828399"/>
            <a:ext cx="11247120" cy="457200"/>
          </a:xfrm>
          <a:prstGeom prst="rect">
            <a:avLst/>
          </a:prstGeom>
          <a:noFill/>
          <a:ln/>
        </p:spPr>
        <p:txBody>
          <a:bodyPr wrap="square" rtlCol="0" anchor="ctr"/>
          <a:lstStyle/>
          <a:p>
            <a:pPr marL="0" indent="0">
              <a:buNone/>
            </a:pPr>
            <a:r>
              <a:rPr lang="en-US" sz="2000" b="1" dirty="0">
                <a:solidFill>
                  <a:srgbClr val="D45D0D"/>
                </a:solidFill>
                <a:latin typeface="Calibri" pitchFamily="34" charset="0"/>
                <a:ea typeface="Calibri" pitchFamily="34" charset="-122"/>
                <a:cs typeface="Calibri" pitchFamily="34" charset="-120"/>
              </a:rPr>
              <a:t>Augmentation </a:t>
            </a:r>
            <a:r>
              <a:rPr lang="en-US" sz="2000" b="1" dirty="0" err="1">
                <a:solidFill>
                  <a:srgbClr val="D45D0D"/>
                </a:solidFill>
                <a:latin typeface="Calibri" pitchFamily="34" charset="0"/>
                <a:ea typeface="Calibri" pitchFamily="34" charset="-122"/>
                <a:cs typeface="Calibri" pitchFamily="34" charset="-120"/>
              </a:rPr>
              <a:t>fliplr</a:t>
            </a:r>
            <a:r>
              <a:rPr lang="en-US" sz="2000" b="1" dirty="0">
                <a:solidFill>
                  <a:srgbClr val="D45D0D"/>
                </a:solidFill>
                <a:latin typeface="Calibri" pitchFamily="34" charset="0"/>
                <a:ea typeface="Calibri" pitchFamily="34" charset="-122"/>
                <a:cs typeface="Calibri" pitchFamily="34" charset="-120"/>
              </a:rPr>
              <a:t> = 0.5 </a:t>
            </a:r>
            <a:endParaRPr lang="en-US" sz="2000" dirty="0">
              <a:solidFill>
                <a:srgbClr val="D45D0D"/>
              </a:solidFill>
            </a:endParaRPr>
          </a:p>
        </p:txBody>
      </p:sp>
      <p:sp>
        <p:nvSpPr>
          <p:cNvPr id="1347" name="Text 51">
            <a:extLst>
              <a:ext uri="{FF2B5EF4-FFF2-40B4-BE49-F238E27FC236}">
                <a16:creationId xmlns:a16="http://schemas.microsoft.com/office/drawing/2014/main" id="{4E12EFD4-5E17-4829-2F9D-3681189C5340}"/>
              </a:ext>
            </a:extLst>
          </p:cNvPr>
          <p:cNvSpPr/>
          <p:nvPr/>
        </p:nvSpPr>
        <p:spPr>
          <a:xfrm>
            <a:off x="1005840" y="23285599"/>
            <a:ext cx="11247120" cy="926016"/>
          </a:xfrm>
          <a:prstGeom prst="rect">
            <a:avLst/>
          </a:prstGeom>
          <a:noFill/>
          <a:ln/>
        </p:spPr>
        <p:txBody>
          <a:bodyPr wrap="square" rtlCol="0" anchor="t"/>
          <a:lstStyle/>
          <a:p>
            <a:pPr marL="0" indent="0">
              <a:buNone/>
            </a:pPr>
            <a:r>
              <a:rPr lang="en-US" b="1" dirty="0" err="1">
                <a:solidFill>
                  <a:srgbClr val="1C2833"/>
                </a:solidFill>
                <a:latin typeface="Calibri" pitchFamily="34" charset="0"/>
                <a:ea typeface="Calibri" pitchFamily="34" charset="-122"/>
                <a:cs typeface="Calibri" pitchFamily="34" charset="-120"/>
              </a:rPr>
              <a:t>Problème</a:t>
            </a:r>
            <a:r>
              <a:rPr lang="en-US" b="1" dirty="0">
                <a:solidFill>
                  <a:srgbClr val="1C2833"/>
                </a:solidFill>
                <a:latin typeface="Calibri" pitchFamily="34" charset="0"/>
                <a:ea typeface="Calibri" pitchFamily="34" charset="-122"/>
                <a:cs typeface="Calibri" pitchFamily="34" charset="-120"/>
              </a:rPr>
              <a:t> </a:t>
            </a:r>
            <a:r>
              <a:rPr lang="en-US" dirty="0">
                <a:solidFill>
                  <a:srgbClr val="1C2833"/>
                </a:solidFill>
                <a:latin typeface="Calibri" pitchFamily="34" charset="0"/>
                <a:ea typeface="Calibri" pitchFamily="34" charset="-122"/>
                <a:cs typeface="Calibri" pitchFamily="34" charset="-120"/>
              </a:rPr>
              <a:t>: Le </a:t>
            </a:r>
            <a:r>
              <a:rPr lang="en-US" dirty="0" err="1">
                <a:solidFill>
                  <a:srgbClr val="1C2833"/>
                </a:solidFill>
                <a:latin typeface="Calibri" pitchFamily="34" charset="0"/>
                <a:ea typeface="Calibri" pitchFamily="34" charset="-122"/>
                <a:cs typeface="Calibri" pitchFamily="34" charset="-120"/>
              </a:rPr>
              <a:t>miroir</a:t>
            </a:r>
            <a:r>
              <a:rPr lang="en-US" dirty="0">
                <a:solidFill>
                  <a:srgbClr val="1C2833"/>
                </a:solidFill>
                <a:latin typeface="Calibri" pitchFamily="34" charset="0"/>
                <a:ea typeface="Calibri" pitchFamily="34" charset="-122"/>
                <a:cs typeface="Calibri" pitchFamily="34" charset="-120"/>
              </a:rPr>
              <a:t> horizontal </a:t>
            </a:r>
            <a:r>
              <a:rPr lang="en-US" dirty="0" err="1">
                <a:solidFill>
                  <a:srgbClr val="1C2833"/>
                </a:solidFill>
                <a:latin typeface="Calibri" pitchFamily="34" charset="0"/>
                <a:ea typeface="Calibri" pitchFamily="34" charset="-122"/>
                <a:cs typeface="Calibri" pitchFamily="34" charset="-120"/>
              </a:rPr>
              <a:t>comme</a:t>
            </a:r>
            <a:r>
              <a:rPr lang="en-US" dirty="0">
                <a:solidFill>
                  <a:srgbClr val="1C2833"/>
                </a:solidFill>
                <a:latin typeface="Calibri" pitchFamily="34" charset="0"/>
                <a:ea typeface="Calibri" pitchFamily="34" charset="-122"/>
                <a:cs typeface="Calibri" pitchFamily="34" charset="-120"/>
              </a:rPr>
              <a:t> augmentation </a:t>
            </a:r>
            <a:r>
              <a:rPr lang="en-US" dirty="0" err="1">
                <a:solidFill>
                  <a:srgbClr val="1C2833"/>
                </a:solidFill>
                <a:latin typeface="Calibri" pitchFamily="34" charset="0"/>
                <a:ea typeface="Calibri" pitchFamily="34" charset="-122"/>
                <a:cs typeface="Calibri" pitchFamily="34" charset="-120"/>
              </a:rPr>
              <a:t>lors</a:t>
            </a:r>
            <a:r>
              <a:rPr lang="en-US" dirty="0">
                <a:solidFill>
                  <a:srgbClr val="1C2833"/>
                </a:solidFill>
                <a:latin typeface="Calibri" pitchFamily="34" charset="0"/>
                <a:ea typeface="Calibri" pitchFamily="34" charset="-122"/>
                <a:cs typeface="Calibri" pitchFamily="34" charset="-120"/>
              </a:rPr>
              <a:t> de </a:t>
            </a:r>
            <a:r>
              <a:rPr lang="en-US" dirty="0" err="1">
                <a:solidFill>
                  <a:srgbClr val="1C2833"/>
                </a:solidFill>
                <a:latin typeface="Calibri" pitchFamily="34" charset="0"/>
                <a:ea typeface="Calibri" pitchFamily="34" charset="-122"/>
                <a:cs typeface="Calibri" pitchFamily="34" charset="-120"/>
              </a:rPr>
              <a:t>l’entraînement</a:t>
            </a:r>
            <a:r>
              <a:rPr lang="en-US" dirty="0">
                <a:solidFill>
                  <a:srgbClr val="1C2833"/>
                </a:solidFill>
                <a:latin typeface="Calibri" pitchFamily="34" charset="0"/>
                <a:ea typeface="Calibri" pitchFamily="34" charset="-122"/>
                <a:cs typeface="Calibri" pitchFamily="34" charset="-120"/>
              </a:rPr>
              <a:t> détruisait la notion gauche/droite. Confusion ~30% entre portes. </a:t>
            </a:r>
          </a:p>
          <a:p>
            <a:pPr marL="0" indent="0">
              <a:buNone/>
            </a:pPr>
            <a:r>
              <a:rPr lang="en-US" b="1" dirty="0">
                <a:solidFill>
                  <a:srgbClr val="1C2833"/>
                </a:solidFill>
                <a:latin typeface="Calibri" pitchFamily="34" charset="0"/>
                <a:ea typeface="Calibri" pitchFamily="34" charset="-122"/>
                <a:cs typeface="Calibri" pitchFamily="34" charset="-120"/>
              </a:rPr>
              <a:t>Solution</a:t>
            </a:r>
            <a:r>
              <a:rPr lang="en-US" dirty="0">
                <a:solidFill>
                  <a:srgbClr val="1C2833"/>
                </a:solidFill>
                <a:latin typeface="Calibri" pitchFamily="34" charset="0"/>
                <a:ea typeface="Calibri" pitchFamily="34" charset="-122"/>
                <a:cs typeface="Calibri" pitchFamily="34" charset="-120"/>
              </a:rPr>
              <a:t> : </a:t>
            </a:r>
            <a:r>
              <a:rPr lang="en-US" dirty="0" err="1">
                <a:solidFill>
                  <a:srgbClr val="1C2833"/>
                </a:solidFill>
                <a:latin typeface="Calibri" pitchFamily="34" charset="0"/>
                <a:ea typeface="Calibri" pitchFamily="34" charset="-122"/>
                <a:cs typeface="Calibri" pitchFamily="34" charset="-120"/>
              </a:rPr>
              <a:t>Corrigé</a:t>
            </a:r>
            <a:r>
              <a:rPr lang="en-US" dirty="0">
                <a:solidFill>
                  <a:srgbClr val="1C2833"/>
                </a:solidFill>
                <a:latin typeface="Calibri" pitchFamily="34" charset="0"/>
                <a:ea typeface="Calibri" pitchFamily="34" charset="-122"/>
                <a:cs typeface="Calibri" pitchFamily="34" charset="-120"/>
              </a:rPr>
              <a:t> par modification de </a:t>
            </a:r>
            <a:r>
              <a:rPr lang="en-US" dirty="0" err="1">
                <a:solidFill>
                  <a:srgbClr val="1C2833"/>
                </a:solidFill>
                <a:latin typeface="Calibri" pitchFamily="34" charset="0"/>
                <a:ea typeface="Calibri" pitchFamily="34" charset="-122"/>
                <a:cs typeface="Calibri" pitchFamily="34" charset="-120"/>
              </a:rPr>
              <a:t>fliplr</a:t>
            </a:r>
            <a:r>
              <a:rPr lang="en-US" dirty="0">
                <a:solidFill>
                  <a:srgbClr val="1C2833"/>
                </a:solidFill>
                <a:latin typeface="Calibri" pitchFamily="34" charset="0"/>
                <a:ea typeface="Calibri" pitchFamily="34" charset="-122"/>
                <a:cs typeface="Calibri" pitchFamily="34" charset="-120"/>
              </a:rPr>
              <a:t> = 0.0 dans V5.</a:t>
            </a:r>
            <a:endParaRPr lang="en-US" dirty="0"/>
          </a:p>
        </p:txBody>
      </p:sp>
      <p:sp>
        <p:nvSpPr>
          <p:cNvPr id="1348" name="Shape 52">
            <a:extLst>
              <a:ext uri="{FF2B5EF4-FFF2-40B4-BE49-F238E27FC236}">
                <a16:creationId xmlns:a16="http://schemas.microsoft.com/office/drawing/2014/main" id="{459CF055-78A6-3BCF-4BD5-D635A9BE7CF3}"/>
              </a:ext>
            </a:extLst>
          </p:cNvPr>
          <p:cNvSpPr/>
          <p:nvPr/>
        </p:nvSpPr>
        <p:spPr>
          <a:xfrm>
            <a:off x="716871" y="24317987"/>
            <a:ext cx="11612880" cy="1188720"/>
          </a:xfrm>
          <a:prstGeom prst="rect">
            <a:avLst/>
          </a:prstGeom>
          <a:solidFill>
            <a:srgbClr val="F4F7FC"/>
          </a:solidFill>
          <a:ln w="12700">
            <a:solidFill>
              <a:srgbClr val="C5D3E8"/>
            </a:solidFill>
            <a:prstDash val="solid"/>
          </a:ln>
          <a:effectLst>
            <a:outerShdw blurRad="63500" dist="25400" dir="8100000" algn="bl" rotWithShape="0">
              <a:srgbClr val="000000">
                <a:alpha val="10000"/>
              </a:srgbClr>
            </a:outerShdw>
          </a:effectLst>
        </p:spPr>
        <p:txBody>
          <a:bodyPr/>
          <a:lstStyle/>
          <a:p>
            <a:endParaRPr lang="fr-CA" sz="2400"/>
          </a:p>
        </p:txBody>
      </p:sp>
      <p:sp>
        <p:nvSpPr>
          <p:cNvPr id="1349" name="Shape 53">
            <a:extLst>
              <a:ext uri="{FF2B5EF4-FFF2-40B4-BE49-F238E27FC236}">
                <a16:creationId xmlns:a16="http://schemas.microsoft.com/office/drawing/2014/main" id="{CE8F70E6-EB5F-93A5-C74B-C9AD78E9FD69}"/>
              </a:ext>
            </a:extLst>
          </p:cNvPr>
          <p:cNvSpPr/>
          <p:nvPr/>
        </p:nvSpPr>
        <p:spPr>
          <a:xfrm>
            <a:off x="716871" y="24317987"/>
            <a:ext cx="182880" cy="1188720"/>
          </a:xfrm>
          <a:prstGeom prst="rect">
            <a:avLst/>
          </a:prstGeom>
          <a:solidFill>
            <a:srgbClr val="D35400"/>
          </a:solidFill>
          <a:ln w="12700">
            <a:solidFill>
              <a:srgbClr val="D45D0D"/>
            </a:solidFill>
            <a:prstDash val="solid"/>
          </a:ln>
        </p:spPr>
        <p:txBody>
          <a:bodyPr/>
          <a:lstStyle/>
          <a:p>
            <a:endParaRPr lang="fr-CA" sz="2400"/>
          </a:p>
        </p:txBody>
      </p:sp>
      <p:sp>
        <p:nvSpPr>
          <p:cNvPr id="1350" name="Text 54">
            <a:extLst>
              <a:ext uri="{FF2B5EF4-FFF2-40B4-BE49-F238E27FC236}">
                <a16:creationId xmlns:a16="http://schemas.microsoft.com/office/drawing/2014/main" id="{B1721587-995E-F7BD-8F95-C42C1229E403}"/>
              </a:ext>
            </a:extLst>
          </p:cNvPr>
          <p:cNvSpPr/>
          <p:nvPr/>
        </p:nvSpPr>
        <p:spPr>
          <a:xfrm>
            <a:off x="991191" y="24381995"/>
            <a:ext cx="11247120" cy="457200"/>
          </a:xfrm>
          <a:prstGeom prst="rect">
            <a:avLst/>
          </a:prstGeom>
          <a:noFill/>
          <a:ln/>
        </p:spPr>
        <p:txBody>
          <a:bodyPr wrap="square" rtlCol="0" anchor="ctr"/>
          <a:lstStyle/>
          <a:p>
            <a:pPr marL="0" indent="0">
              <a:buNone/>
            </a:pPr>
            <a:r>
              <a:rPr lang="en-US" sz="2000" b="1" dirty="0">
                <a:solidFill>
                  <a:srgbClr val="D35400"/>
                </a:solidFill>
                <a:latin typeface="Calibri" pitchFamily="34" charset="0"/>
                <a:ea typeface="Calibri" pitchFamily="34" charset="-122"/>
                <a:cs typeface="Calibri" pitchFamily="34" charset="-120"/>
              </a:rPr>
              <a:t>Vote pondéré insuffisant</a:t>
            </a:r>
            <a:endParaRPr lang="en-US" sz="2000" dirty="0"/>
          </a:p>
        </p:txBody>
      </p:sp>
      <p:sp>
        <p:nvSpPr>
          <p:cNvPr id="1351" name="Text 55">
            <a:extLst>
              <a:ext uri="{FF2B5EF4-FFF2-40B4-BE49-F238E27FC236}">
                <a16:creationId xmlns:a16="http://schemas.microsoft.com/office/drawing/2014/main" id="{3AA7467A-7990-4DDA-D8BB-50EE1F84A2C8}"/>
              </a:ext>
            </a:extLst>
          </p:cNvPr>
          <p:cNvSpPr/>
          <p:nvPr/>
        </p:nvSpPr>
        <p:spPr>
          <a:xfrm>
            <a:off x="991191" y="24839195"/>
            <a:ext cx="11247120" cy="594360"/>
          </a:xfrm>
          <a:prstGeom prst="rect">
            <a:avLst/>
          </a:prstGeom>
          <a:noFill/>
          <a:ln/>
        </p:spPr>
        <p:txBody>
          <a:bodyPr wrap="square" rtlCol="0" anchor="t"/>
          <a:lstStyle/>
          <a:p>
            <a:pPr marL="0" indent="0">
              <a:buNone/>
            </a:pPr>
            <a:r>
              <a:rPr lang="en-US" b="1" dirty="0" err="1">
                <a:solidFill>
                  <a:srgbClr val="1C2833"/>
                </a:solidFill>
                <a:latin typeface="Calibri" pitchFamily="34" charset="0"/>
                <a:ea typeface="Calibri" pitchFamily="34" charset="-122"/>
                <a:cs typeface="Calibri" pitchFamily="34" charset="-120"/>
              </a:rPr>
              <a:t>Problème</a:t>
            </a:r>
            <a:r>
              <a:rPr lang="en-US" b="1" dirty="0">
                <a:solidFill>
                  <a:srgbClr val="1C2833"/>
                </a:solidFill>
                <a:latin typeface="Calibri" pitchFamily="34" charset="0"/>
                <a:ea typeface="Calibri" pitchFamily="34" charset="-122"/>
                <a:cs typeface="Calibri" pitchFamily="34" charset="-120"/>
              </a:rPr>
              <a:t> </a:t>
            </a:r>
            <a:r>
              <a:rPr lang="en-US" dirty="0">
                <a:solidFill>
                  <a:srgbClr val="1C2833"/>
                </a:solidFill>
                <a:latin typeface="Calibri" pitchFamily="34" charset="0"/>
                <a:ea typeface="Calibri" pitchFamily="34" charset="-122"/>
                <a:cs typeface="Calibri" pitchFamily="34" charset="-120"/>
              </a:rPr>
              <a:t>: Zone impact </a:t>
            </a:r>
            <a:r>
              <a:rPr lang="en-US" dirty="0" err="1">
                <a:solidFill>
                  <a:srgbClr val="1C2833"/>
                </a:solidFill>
                <a:latin typeface="Calibri" pitchFamily="34" charset="0"/>
                <a:ea typeface="Calibri" pitchFamily="34" charset="-122"/>
                <a:cs typeface="Calibri" pitchFamily="34" charset="-120"/>
              </a:rPr>
              <a:t>indéterminé</a:t>
            </a:r>
            <a:r>
              <a:rPr lang="en-US" dirty="0">
                <a:solidFill>
                  <a:srgbClr val="1C2833"/>
                </a:solidFill>
                <a:latin typeface="Calibri" pitchFamily="34" charset="0"/>
                <a:ea typeface="Calibri" pitchFamily="34" charset="-122"/>
                <a:cs typeface="Calibri" pitchFamily="34" charset="-120"/>
              </a:rPr>
              <a:t> sur photos de 3/4 ou domain shift. </a:t>
            </a:r>
          </a:p>
          <a:p>
            <a:pPr marL="0" indent="0">
              <a:buNone/>
            </a:pPr>
            <a:r>
              <a:rPr lang="en-US" b="1" dirty="0">
                <a:solidFill>
                  <a:srgbClr val="1C2833"/>
                </a:solidFill>
                <a:latin typeface="Calibri" pitchFamily="34" charset="0"/>
                <a:ea typeface="Calibri" pitchFamily="34" charset="-122"/>
                <a:cs typeface="Calibri" pitchFamily="34" charset="-120"/>
              </a:rPr>
              <a:t>Solution</a:t>
            </a:r>
            <a:r>
              <a:rPr lang="en-US" dirty="0">
                <a:solidFill>
                  <a:srgbClr val="1C2833"/>
                </a:solidFill>
                <a:latin typeface="Calibri" pitchFamily="34" charset="0"/>
                <a:ea typeface="Calibri" pitchFamily="34" charset="-122"/>
                <a:cs typeface="Calibri" pitchFamily="34" charset="-120"/>
              </a:rPr>
              <a:t> : </a:t>
            </a:r>
            <a:r>
              <a:rPr lang="en-US" dirty="0" err="1">
                <a:solidFill>
                  <a:srgbClr val="1C2833"/>
                </a:solidFill>
                <a:latin typeface="Calibri" pitchFamily="34" charset="0"/>
                <a:ea typeface="Calibri" pitchFamily="34" charset="-122"/>
                <a:cs typeface="Calibri" pitchFamily="34" charset="-120"/>
              </a:rPr>
              <a:t>Entraînement</a:t>
            </a:r>
            <a:r>
              <a:rPr lang="en-US" dirty="0">
                <a:solidFill>
                  <a:srgbClr val="1C2833"/>
                </a:solidFill>
                <a:latin typeface="Calibri" pitchFamily="34" charset="0"/>
                <a:ea typeface="Calibri" pitchFamily="34" charset="-122"/>
                <a:cs typeface="Calibri" pitchFamily="34" charset="-120"/>
              </a:rPr>
              <a:t> d’un </a:t>
            </a:r>
            <a:r>
              <a:rPr lang="en-US" dirty="0" err="1">
                <a:solidFill>
                  <a:srgbClr val="1C2833"/>
                </a:solidFill>
                <a:latin typeface="Calibri" pitchFamily="34" charset="0"/>
                <a:ea typeface="Calibri" pitchFamily="34" charset="-122"/>
                <a:cs typeface="Calibri" pitchFamily="34" charset="-120"/>
              </a:rPr>
              <a:t>classificateur</a:t>
            </a:r>
            <a:r>
              <a:rPr lang="en-US" dirty="0">
                <a:solidFill>
                  <a:srgbClr val="1C2833"/>
                </a:solidFill>
                <a:latin typeface="Calibri" pitchFamily="34" charset="0"/>
                <a:ea typeface="Calibri" pitchFamily="34" charset="-122"/>
                <a:cs typeface="Calibri" pitchFamily="34" charset="-120"/>
              </a:rPr>
              <a:t> visual YOLO </a:t>
            </a:r>
            <a:r>
              <a:rPr lang="en-US" dirty="0" err="1">
                <a:solidFill>
                  <a:srgbClr val="1C2833"/>
                </a:solidFill>
                <a:latin typeface="Calibri" pitchFamily="34" charset="0"/>
                <a:ea typeface="Calibri" pitchFamily="34" charset="-122"/>
                <a:cs typeface="Calibri" pitchFamily="34" charset="-120"/>
              </a:rPr>
              <a:t>en</a:t>
            </a:r>
            <a:r>
              <a:rPr lang="en-US" dirty="0">
                <a:solidFill>
                  <a:srgbClr val="1C2833"/>
                </a:solidFill>
                <a:latin typeface="Calibri" pitchFamily="34" charset="0"/>
                <a:ea typeface="Calibri" pitchFamily="34" charset="-122"/>
                <a:cs typeface="Calibri" pitchFamily="34" charset="-120"/>
              </a:rPr>
              <a:t> cascade. </a:t>
            </a:r>
            <a:endParaRPr lang="en-US" dirty="0"/>
          </a:p>
        </p:txBody>
      </p:sp>
      <p:sp>
        <p:nvSpPr>
          <p:cNvPr id="1352" name="Shape 56">
            <a:extLst>
              <a:ext uri="{FF2B5EF4-FFF2-40B4-BE49-F238E27FC236}">
                <a16:creationId xmlns:a16="http://schemas.microsoft.com/office/drawing/2014/main" id="{DC400309-4E1D-FF89-1BD8-4E30A98A6F48}"/>
              </a:ext>
            </a:extLst>
          </p:cNvPr>
          <p:cNvSpPr/>
          <p:nvPr/>
        </p:nvSpPr>
        <p:spPr>
          <a:xfrm>
            <a:off x="716871" y="25616435"/>
            <a:ext cx="11612880" cy="1188720"/>
          </a:xfrm>
          <a:prstGeom prst="rect">
            <a:avLst/>
          </a:prstGeom>
          <a:solidFill>
            <a:srgbClr val="F4F7FC"/>
          </a:solidFill>
          <a:ln w="12700">
            <a:solidFill>
              <a:srgbClr val="C5D3E8"/>
            </a:solidFill>
            <a:prstDash val="solid"/>
          </a:ln>
          <a:effectLst>
            <a:outerShdw blurRad="63500" dist="25400" dir="8100000" algn="bl" rotWithShape="0">
              <a:srgbClr val="000000">
                <a:alpha val="10000"/>
              </a:srgbClr>
            </a:outerShdw>
          </a:effectLst>
        </p:spPr>
        <p:txBody>
          <a:bodyPr/>
          <a:lstStyle/>
          <a:p>
            <a:endParaRPr lang="fr-CA" sz="2400"/>
          </a:p>
        </p:txBody>
      </p:sp>
      <p:sp>
        <p:nvSpPr>
          <p:cNvPr id="1353" name="Shape 57">
            <a:extLst>
              <a:ext uri="{FF2B5EF4-FFF2-40B4-BE49-F238E27FC236}">
                <a16:creationId xmlns:a16="http://schemas.microsoft.com/office/drawing/2014/main" id="{BCB0E584-70F3-AA82-BDFB-F465DF2D1D77}"/>
              </a:ext>
            </a:extLst>
          </p:cNvPr>
          <p:cNvSpPr/>
          <p:nvPr/>
        </p:nvSpPr>
        <p:spPr>
          <a:xfrm>
            <a:off x="716871" y="25616435"/>
            <a:ext cx="182880" cy="1188720"/>
          </a:xfrm>
          <a:prstGeom prst="rect">
            <a:avLst/>
          </a:prstGeom>
          <a:solidFill>
            <a:srgbClr val="C0392B"/>
          </a:solidFill>
          <a:ln w="12700">
            <a:solidFill>
              <a:srgbClr val="C0392B"/>
            </a:solidFill>
            <a:prstDash val="solid"/>
          </a:ln>
        </p:spPr>
        <p:txBody>
          <a:bodyPr/>
          <a:lstStyle/>
          <a:p>
            <a:endParaRPr lang="fr-CA" sz="2400"/>
          </a:p>
        </p:txBody>
      </p:sp>
      <p:sp>
        <p:nvSpPr>
          <p:cNvPr id="1354" name="Text 58">
            <a:extLst>
              <a:ext uri="{FF2B5EF4-FFF2-40B4-BE49-F238E27FC236}">
                <a16:creationId xmlns:a16="http://schemas.microsoft.com/office/drawing/2014/main" id="{4C99B8CF-BC4B-3238-F662-52AD291387C7}"/>
              </a:ext>
            </a:extLst>
          </p:cNvPr>
          <p:cNvSpPr/>
          <p:nvPr/>
        </p:nvSpPr>
        <p:spPr>
          <a:xfrm>
            <a:off x="991191" y="25680443"/>
            <a:ext cx="11247120" cy="457200"/>
          </a:xfrm>
          <a:prstGeom prst="rect">
            <a:avLst/>
          </a:prstGeom>
          <a:noFill/>
          <a:ln/>
        </p:spPr>
        <p:txBody>
          <a:bodyPr wrap="square" rtlCol="0" anchor="ctr"/>
          <a:lstStyle/>
          <a:p>
            <a:pPr marL="0" indent="0">
              <a:buNone/>
            </a:pPr>
            <a:r>
              <a:rPr lang="en-US" sz="2000" b="1" dirty="0" err="1">
                <a:solidFill>
                  <a:srgbClr val="C0392B"/>
                </a:solidFill>
                <a:latin typeface="Calibri" pitchFamily="34" charset="0"/>
                <a:ea typeface="Calibri" pitchFamily="34" charset="-122"/>
                <a:cs typeface="Calibri" pitchFamily="34" charset="-120"/>
              </a:rPr>
              <a:t>Pointage</a:t>
            </a:r>
            <a:r>
              <a:rPr lang="en-US" sz="2000" b="1" dirty="0">
                <a:solidFill>
                  <a:srgbClr val="C0392B"/>
                </a:solidFill>
                <a:latin typeface="Calibri" pitchFamily="34" charset="0"/>
                <a:ea typeface="Calibri" pitchFamily="34" charset="-122"/>
                <a:cs typeface="Calibri" pitchFamily="34" charset="-120"/>
              </a:rPr>
              <a:t> par composite limité</a:t>
            </a:r>
            <a:endParaRPr lang="en-US" sz="2000" dirty="0">
              <a:solidFill>
                <a:srgbClr val="C0392B"/>
              </a:solidFill>
            </a:endParaRPr>
          </a:p>
        </p:txBody>
      </p:sp>
      <p:sp>
        <p:nvSpPr>
          <p:cNvPr id="1355" name="Text 59">
            <a:extLst>
              <a:ext uri="{FF2B5EF4-FFF2-40B4-BE49-F238E27FC236}">
                <a16:creationId xmlns:a16="http://schemas.microsoft.com/office/drawing/2014/main" id="{74C99E15-248F-A4D2-4312-7108B020DF81}"/>
              </a:ext>
            </a:extLst>
          </p:cNvPr>
          <p:cNvSpPr/>
          <p:nvPr/>
        </p:nvSpPr>
        <p:spPr>
          <a:xfrm>
            <a:off x="991191" y="26137643"/>
            <a:ext cx="11247120" cy="594360"/>
          </a:xfrm>
          <a:prstGeom prst="rect">
            <a:avLst/>
          </a:prstGeom>
          <a:noFill/>
          <a:ln/>
        </p:spPr>
        <p:txBody>
          <a:bodyPr wrap="square" rtlCol="0" anchor="t"/>
          <a:lstStyle/>
          <a:p>
            <a:pPr marL="0" indent="0">
              <a:buNone/>
            </a:pPr>
            <a:r>
              <a:rPr lang="en-US" b="1" dirty="0" err="1">
                <a:solidFill>
                  <a:srgbClr val="1C2833"/>
                </a:solidFill>
                <a:latin typeface="Calibri" pitchFamily="34" charset="0"/>
                <a:ea typeface="Calibri" pitchFamily="34" charset="-122"/>
                <a:cs typeface="Calibri" pitchFamily="34" charset="-120"/>
              </a:rPr>
              <a:t>Problème</a:t>
            </a:r>
            <a:r>
              <a:rPr lang="en-US" dirty="0">
                <a:solidFill>
                  <a:srgbClr val="1C2833"/>
                </a:solidFill>
                <a:latin typeface="Calibri" pitchFamily="34" charset="0"/>
                <a:ea typeface="Calibri" pitchFamily="34" charset="-122"/>
                <a:cs typeface="Calibri" pitchFamily="34" charset="-120"/>
              </a:rPr>
              <a:t> : Ne voit pas la texture des </a:t>
            </a:r>
            <a:r>
              <a:rPr lang="en-US" dirty="0" err="1">
                <a:solidFill>
                  <a:srgbClr val="1C2833"/>
                </a:solidFill>
                <a:latin typeface="Calibri" pitchFamily="34" charset="0"/>
                <a:ea typeface="Calibri" pitchFamily="34" charset="-122"/>
                <a:cs typeface="Calibri" pitchFamily="34" charset="-120"/>
              </a:rPr>
              <a:t>dommages</a:t>
            </a:r>
            <a:r>
              <a:rPr lang="en-US" dirty="0">
                <a:solidFill>
                  <a:srgbClr val="1C2833"/>
                </a:solidFill>
                <a:latin typeface="Calibri" pitchFamily="34" charset="0"/>
                <a:ea typeface="Calibri" pitchFamily="34" charset="-122"/>
                <a:cs typeface="Calibri" pitchFamily="34" charset="-120"/>
              </a:rPr>
              <a:t> (</a:t>
            </a:r>
            <a:r>
              <a:rPr lang="en-US" dirty="0" err="1">
                <a:solidFill>
                  <a:srgbClr val="1C2833"/>
                </a:solidFill>
                <a:latin typeface="Calibri" pitchFamily="34" charset="0"/>
                <a:ea typeface="Calibri" pitchFamily="34" charset="-122"/>
                <a:cs typeface="Calibri" pitchFamily="34" charset="-120"/>
              </a:rPr>
              <a:t>porte</a:t>
            </a:r>
            <a:r>
              <a:rPr lang="en-US" dirty="0">
                <a:solidFill>
                  <a:srgbClr val="1C2833"/>
                </a:solidFill>
                <a:latin typeface="Calibri" pitchFamily="34" charset="0"/>
                <a:ea typeface="Calibri" pitchFamily="34" charset="-122"/>
                <a:cs typeface="Calibri" pitchFamily="34" charset="-120"/>
              </a:rPr>
              <a:t> avec </a:t>
            </a:r>
            <a:r>
              <a:rPr lang="en-US" dirty="0" err="1">
                <a:solidFill>
                  <a:srgbClr val="1C2833"/>
                </a:solidFill>
                <a:latin typeface="Calibri" pitchFamily="34" charset="0"/>
                <a:ea typeface="Calibri" pitchFamily="34" charset="-122"/>
                <a:cs typeface="Calibri" pitchFamily="34" charset="-120"/>
              </a:rPr>
              <a:t>grafignes</a:t>
            </a:r>
            <a:r>
              <a:rPr lang="en-US" dirty="0">
                <a:solidFill>
                  <a:srgbClr val="1C2833"/>
                </a:solidFill>
                <a:latin typeface="Calibri" pitchFamily="34" charset="0"/>
                <a:ea typeface="Calibri" pitchFamily="34" charset="-122"/>
                <a:cs typeface="Calibri" pitchFamily="34" charset="-120"/>
              </a:rPr>
              <a:t> </a:t>
            </a:r>
            <a:r>
              <a:rPr lang="en-US" dirty="0" err="1">
                <a:solidFill>
                  <a:srgbClr val="1C2833"/>
                </a:solidFill>
                <a:latin typeface="Calibri" pitchFamily="34" charset="0"/>
                <a:ea typeface="Calibri" pitchFamily="34" charset="-122"/>
                <a:cs typeface="Calibri" pitchFamily="34" charset="-120"/>
              </a:rPr>
              <a:t>ou</a:t>
            </a:r>
            <a:r>
              <a:rPr lang="en-US" dirty="0">
                <a:solidFill>
                  <a:srgbClr val="1C2833"/>
                </a:solidFill>
                <a:latin typeface="Calibri" pitchFamily="34" charset="0"/>
                <a:ea typeface="Calibri" pitchFamily="34" charset="-122"/>
                <a:cs typeface="Calibri" pitchFamily="34" charset="-120"/>
              </a:rPr>
              <a:t> </a:t>
            </a:r>
            <a:r>
              <a:rPr lang="en-US" dirty="0" err="1">
                <a:solidFill>
                  <a:srgbClr val="1C2833"/>
                </a:solidFill>
                <a:latin typeface="Calibri" pitchFamily="34" charset="0"/>
                <a:ea typeface="Calibri" pitchFamily="34" charset="-122"/>
                <a:cs typeface="Calibri" pitchFamily="34" charset="-120"/>
              </a:rPr>
              <a:t>porte</a:t>
            </a:r>
            <a:r>
              <a:rPr lang="en-US" dirty="0">
                <a:solidFill>
                  <a:srgbClr val="1C2833"/>
                </a:solidFill>
                <a:latin typeface="Calibri" pitchFamily="34" charset="0"/>
                <a:ea typeface="Calibri" pitchFamily="34" charset="-122"/>
                <a:cs typeface="Calibri" pitchFamily="34" charset="-120"/>
              </a:rPr>
              <a:t> </a:t>
            </a:r>
            <a:r>
              <a:rPr lang="en-US" dirty="0" err="1">
                <a:solidFill>
                  <a:srgbClr val="1C2833"/>
                </a:solidFill>
                <a:latin typeface="Calibri" pitchFamily="34" charset="0"/>
                <a:ea typeface="Calibri" pitchFamily="34" charset="-122"/>
                <a:cs typeface="Calibri" pitchFamily="34" charset="-120"/>
              </a:rPr>
              <a:t>défoncée</a:t>
            </a:r>
            <a:r>
              <a:rPr lang="en-US" dirty="0">
                <a:solidFill>
                  <a:srgbClr val="1C2833"/>
                </a:solidFill>
                <a:latin typeface="Calibri" pitchFamily="34" charset="0"/>
                <a:ea typeface="Calibri" pitchFamily="34" charset="-122"/>
                <a:cs typeface="Calibri" pitchFamily="34" charset="-120"/>
              </a:rPr>
              <a:t> = </a:t>
            </a:r>
            <a:r>
              <a:rPr lang="en-US" dirty="0" err="1">
                <a:solidFill>
                  <a:srgbClr val="1C2833"/>
                </a:solidFill>
                <a:latin typeface="Calibri" pitchFamily="34" charset="0"/>
                <a:ea typeface="Calibri" pitchFamily="34" charset="-122"/>
                <a:cs typeface="Calibri" pitchFamily="34" charset="-120"/>
              </a:rPr>
              <a:t>même</a:t>
            </a:r>
            <a:r>
              <a:rPr lang="en-US" dirty="0">
                <a:solidFill>
                  <a:srgbClr val="1C2833"/>
                </a:solidFill>
                <a:latin typeface="Calibri" pitchFamily="34" charset="0"/>
                <a:ea typeface="Calibri" pitchFamily="34" charset="-122"/>
                <a:cs typeface="Calibri" pitchFamily="34" charset="-120"/>
              </a:rPr>
              <a:t> chose). </a:t>
            </a:r>
          </a:p>
          <a:p>
            <a:pPr marL="0" indent="0">
              <a:buNone/>
            </a:pPr>
            <a:r>
              <a:rPr lang="en-US" b="1" dirty="0">
                <a:solidFill>
                  <a:srgbClr val="1C2833"/>
                </a:solidFill>
                <a:latin typeface="Calibri" pitchFamily="34" charset="0"/>
                <a:ea typeface="Calibri" pitchFamily="34" charset="-122"/>
                <a:cs typeface="Calibri" pitchFamily="34" charset="-120"/>
              </a:rPr>
              <a:t>Solution</a:t>
            </a:r>
            <a:r>
              <a:rPr lang="en-US" dirty="0">
                <a:solidFill>
                  <a:srgbClr val="1C2833"/>
                </a:solidFill>
                <a:latin typeface="Calibri" pitchFamily="34" charset="0"/>
                <a:ea typeface="Calibri" pitchFamily="34" charset="-122"/>
                <a:cs typeface="Calibri" pitchFamily="34" charset="-120"/>
              </a:rPr>
              <a:t> : </a:t>
            </a:r>
            <a:r>
              <a:rPr lang="en-US" dirty="0" err="1">
                <a:solidFill>
                  <a:srgbClr val="1C2833"/>
                </a:solidFill>
                <a:latin typeface="Calibri" pitchFamily="34" charset="0"/>
                <a:ea typeface="Calibri" pitchFamily="34" charset="-122"/>
                <a:cs typeface="Calibri" pitchFamily="34" charset="-120"/>
              </a:rPr>
              <a:t>Modèle</a:t>
            </a:r>
            <a:r>
              <a:rPr lang="en-US" dirty="0">
                <a:solidFill>
                  <a:srgbClr val="1C2833"/>
                </a:solidFill>
                <a:latin typeface="Calibri" pitchFamily="34" charset="0"/>
                <a:ea typeface="Calibri" pitchFamily="34" charset="-122"/>
                <a:cs typeface="Calibri" pitchFamily="34" charset="-120"/>
              </a:rPr>
              <a:t> de </a:t>
            </a:r>
            <a:r>
              <a:rPr lang="en-US" dirty="0" err="1">
                <a:solidFill>
                  <a:srgbClr val="1C2833"/>
                </a:solidFill>
                <a:latin typeface="Calibri" pitchFamily="34" charset="0"/>
                <a:ea typeface="Calibri" pitchFamily="34" charset="-122"/>
                <a:cs typeface="Calibri" pitchFamily="34" charset="-120"/>
              </a:rPr>
              <a:t>détection</a:t>
            </a:r>
            <a:r>
              <a:rPr lang="en-US" dirty="0">
                <a:solidFill>
                  <a:srgbClr val="1C2833"/>
                </a:solidFill>
                <a:latin typeface="Calibri" pitchFamily="34" charset="0"/>
                <a:ea typeface="Calibri" pitchFamily="34" charset="-122"/>
                <a:cs typeface="Calibri" pitchFamily="34" charset="-120"/>
              </a:rPr>
              <a:t> </a:t>
            </a:r>
            <a:r>
              <a:rPr lang="en-US" dirty="0" err="1">
                <a:solidFill>
                  <a:srgbClr val="1C2833"/>
                </a:solidFill>
                <a:latin typeface="Calibri" pitchFamily="34" charset="0"/>
                <a:ea typeface="Calibri" pitchFamily="34" charset="-122"/>
                <a:cs typeface="Calibri" pitchFamily="34" charset="-120"/>
              </a:rPr>
              <a:t>indépendant</a:t>
            </a:r>
            <a:r>
              <a:rPr lang="en-US" dirty="0">
                <a:solidFill>
                  <a:srgbClr val="1C2833"/>
                </a:solidFill>
                <a:latin typeface="Calibri" pitchFamily="34" charset="0"/>
                <a:ea typeface="Calibri" pitchFamily="34" charset="-122"/>
                <a:cs typeface="Calibri" pitchFamily="34" charset="-120"/>
              </a:rPr>
              <a:t> SEV entraîné (mAP@0.5 = 0.806) pour </a:t>
            </a:r>
            <a:r>
              <a:rPr lang="en-US" dirty="0" err="1">
                <a:solidFill>
                  <a:srgbClr val="1C2833"/>
                </a:solidFill>
                <a:latin typeface="Calibri" pitchFamily="34" charset="0"/>
                <a:ea typeface="Calibri" pitchFamily="34" charset="-122"/>
                <a:cs typeface="Calibri" pitchFamily="34" charset="-120"/>
              </a:rPr>
              <a:t>considérer</a:t>
            </a:r>
            <a:r>
              <a:rPr lang="en-US" dirty="0">
                <a:solidFill>
                  <a:srgbClr val="1C2833"/>
                </a:solidFill>
                <a:latin typeface="Calibri" pitchFamily="34" charset="0"/>
                <a:ea typeface="Calibri" pitchFamily="34" charset="-122"/>
                <a:cs typeface="Calibri" pitchFamily="34" charset="-120"/>
              </a:rPr>
              <a:t> la structure.</a:t>
            </a:r>
            <a:endParaRPr lang="en-US" dirty="0"/>
          </a:p>
        </p:txBody>
      </p:sp>
      <p:sp>
        <p:nvSpPr>
          <p:cNvPr id="1356" name="Shape 60">
            <a:extLst>
              <a:ext uri="{FF2B5EF4-FFF2-40B4-BE49-F238E27FC236}">
                <a16:creationId xmlns:a16="http://schemas.microsoft.com/office/drawing/2014/main" id="{84BB6EFC-1B71-BB5D-D76F-055B66CF1F9C}"/>
              </a:ext>
            </a:extLst>
          </p:cNvPr>
          <p:cNvSpPr/>
          <p:nvPr/>
        </p:nvSpPr>
        <p:spPr>
          <a:xfrm>
            <a:off x="716871" y="26914883"/>
            <a:ext cx="11612880" cy="1188720"/>
          </a:xfrm>
          <a:prstGeom prst="rect">
            <a:avLst/>
          </a:prstGeom>
          <a:solidFill>
            <a:srgbClr val="F4F7FC"/>
          </a:solidFill>
          <a:ln w="12700">
            <a:solidFill>
              <a:srgbClr val="C5D3E8"/>
            </a:solidFill>
            <a:prstDash val="solid"/>
          </a:ln>
          <a:effectLst>
            <a:outerShdw blurRad="63500" dist="25400" dir="8100000" algn="bl" rotWithShape="0">
              <a:srgbClr val="000000">
                <a:alpha val="10000"/>
              </a:srgbClr>
            </a:outerShdw>
          </a:effectLst>
        </p:spPr>
        <p:txBody>
          <a:bodyPr/>
          <a:lstStyle/>
          <a:p>
            <a:endParaRPr lang="fr-CA" sz="2400"/>
          </a:p>
        </p:txBody>
      </p:sp>
      <p:sp>
        <p:nvSpPr>
          <p:cNvPr id="1357" name="Shape 61">
            <a:extLst>
              <a:ext uri="{FF2B5EF4-FFF2-40B4-BE49-F238E27FC236}">
                <a16:creationId xmlns:a16="http://schemas.microsoft.com/office/drawing/2014/main" id="{B913CF89-661E-AC37-087A-3FAA08D82BDE}"/>
              </a:ext>
            </a:extLst>
          </p:cNvPr>
          <p:cNvSpPr/>
          <p:nvPr/>
        </p:nvSpPr>
        <p:spPr>
          <a:xfrm>
            <a:off x="716871" y="26914883"/>
            <a:ext cx="182880" cy="1188720"/>
          </a:xfrm>
          <a:prstGeom prst="rect">
            <a:avLst/>
          </a:prstGeom>
          <a:solidFill>
            <a:srgbClr val="C0392B"/>
          </a:solidFill>
          <a:ln w="12700">
            <a:solidFill>
              <a:srgbClr val="C0392B"/>
            </a:solidFill>
            <a:prstDash val="solid"/>
          </a:ln>
        </p:spPr>
        <p:txBody>
          <a:bodyPr/>
          <a:lstStyle/>
          <a:p>
            <a:endParaRPr lang="fr-CA" sz="2400"/>
          </a:p>
        </p:txBody>
      </p:sp>
      <p:sp>
        <p:nvSpPr>
          <p:cNvPr id="1358" name="Text 62">
            <a:extLst>
              <a:ext uri="{FF2B5EF4-FFF2-40B4-BE49-F238E27FC236}">
                <a16:creationId xmlns:a16="http://schemas.microsoft.com/office/drawing/2014/main" id="{89588FAA-B484-0883-56B8-3613AF48D804}"/>
              </a:ext>
            </a:extLst>
          </p:cNvPr>
          <p:cNvSpPr/>
          <p:nvPr/>
        </p:nvSpPr>
        <p:spPr>
          <a:xfrm>
            <a:off x="991191" y="26978891"/>
            <a:ext cx="11247120" cy="457200"/>
          </a:xfrm>
          <a:prstGeom prst="rect">
            <a:avLst/>
          </a:prstGeom>
          <a:noFill/>
          <a:ln/>
        </p:spPr>
        <p:txBody>
          <a:bodyPr wrap="square" rtlCol="0" anchor="ctr"/>
          <a:lstStyle/>
          <a:p>
            <a:pPr marL="0" indent="0">
              <a:buNone/>
            </a:pPr>
            <a:r>
              <a:rPr lang="en-US" sz="2000" b="1" dirty="0">
                <a:solidFill>
                  <a:srgbClr val="C0392B"/>
                </a:solidFill>
                <a:latin typeface="Calibri" pitchFamily="34" charset="0"/>
                <a:ea typeface="Calibri" pitchFamily="34" charset="-122"/>
                <a:cs typeface="Calibri" pitchFamily="34" charset="-120"/>
              </a:rPr>
              <a:t>Détections multi-véhicules</a:t>
            </a:r>
            <a:endParaRPr lang="en-US" sz="2000" dirty="0">
              <a:solidFill>
                <a:srgbClr val="C0392B"/>
              </a:solidFill>
            </a:endParaRPr>
          </a:p>
        </p:txBody>
      </p:sp>
      <p:sp>
        <p:nvSpPr>
          <p:cNvPr id="1359" name="Text 63">
            <a:extLst>
              <a:ext uri="{FF2B5EF4-FFF2-40B4-BE49-F238E27FC236}">
                <a16:creationId xmlns:a16="http://schemas.microsoft.com/office/drawing/2014/main" id="{390DF147-C958-C0EB-1F77-21C1B713A631}"/>
              </a:ext>
            </a:extLst>
          </p:cNvPr>
          <p:cNvSpPr/>
          <p:nvPr/>
        </p:nvSpPr>
        <p:spPr>
          <a:xfrm>
            <a:off x="991191" y="27436091"/>
            <a:ext cx="11247120" cy="594360"/>
          </a:xfrm>
          <a:prstGeom prst="rect">
            <a:avLst/>
          </a:prstGeom>
          <a:noFill/>
          <a:ln/>
        </p:spPr>
        <p:txBody>
          <a:bodyPr wrap="square" rtlCol="0" anchor="t"/>
          <a:lstStyle/>
          <a:p>
            <a:pPr marL="0" indent="0">
              <a:buNone/>
            </a:pPr>
            <a:r>
              <a:rPr lang="en-US" b="1" dirty="0" err="1">
                <a:solidFill>
                  <a:srgbClr val="1C2833"/>
                </a:solidFill>
                <a:latin typeface="Calibri" pitchFamily="34" charset="0"/>
                <a:ea typeface="Calibri" pitchFamily="34" charset="-122"/>
                <a:cs typeface="Calibri" pitchFamily="34" charset="-120"/>
              </a:rPr>
              <a:t>Problème</a:t>
            </a:r>
            <a:r>
              <a:rPr lang="en-US" dirty="0">
                <a:solidFill>
                  <a:srgbClr val="1C2833"/>
                </a:solidFill>
                <a:latin typeface="Calibri" pitchFamily="34" charset="0"/>
                <a:ea typeface="Calibri" pitchFamily="34" charset="-122"/>
                <a:cs typeface="Calibri" pitchFamily="34" charset="-120"/>
              </a:rPr>
              <a:t> : Le pipeline </a:t>
            </a:r>
            <a:r>
              <a:rPr lang="en-US" dirty="0" err="1">
                <a:solidFill>
                  <a:srgbClr val="1C2833"/>
                </a:solidFill>
                <a:latin typeface="Calibri" pitchFamily="34" charset="0"/>
                <a:ea typeface="Calibri" pitchFamily="34" charset="-122"/>
                <a:cs typeface="Calibri" pitchFamily="34" charset="-120"/>
              </a:rPr>
              <a:t>détecte</a:t>
            </a:r>
            <a:r>
              <a:rPr lang="en-US" dirty="0">
                <a:solidFill>
                  <a:srgbClr val="1C2833"/>
                </a:solidFill>
                <a:latin typeface="Calibri" pitchFamily="34" charset="0"/>
                <a:ea typeface="Calibri" pitchFamily="34" charset="-122"/>
                <a:cs typeface="Calibri" pitchFamily="34" charset="-120"/>
              </a:rPr>
              <a:t> des pieces </a:t>
            </a:r>
            <a:r>
              <a:rPr lang="en-US" dirty="0" err="1">
                <a:solidFill>
                  <a:srgbClr val="1C2833"/>
                </a:solidFill>
                <a:latin typeface="Calibri" pitchFamily="34" charset="0"/>
                <a:ea typeface="Calibri" pitchFamily="34" charset="-122"/>
                <a:cs typeface="Calibri" pitchFamily="34" charset="-120"/>
              </a:rPr>
              <a:t>appartenant</a:t>
            </a:r>
            <a:r>
              <a:rPr lang="en-US" dirty="0">
                <a:solidFill>
                  <a:srgbClr val="1C2833"/>
                </a:solidFill>
                <a:latin typeface="Calibri" pitchFamily="34" charset="0"/>
                <a:ea typeface="Calibri" pitchFamily="34" charset="-122"/>
                <a:cs typeface="Calibri" pitchFamily="34" charset="-120"/>
              </a:rPr>
              <a:t> à </a:t>
            </a:r>
            <a:r>
              <a:rPr lang="en-US" dirty="0" err="1">
                <a:solidFill>
                  <a:srgbClr val="1C2833"/>
                </a:solidFill>
                <a:latin typeface="Calibri" pitchFamily="34" charset="0"/>
                <a:ea typeface="Calibri" pitchFamily="34" charset="-122"/>
                <a:cs typeface="Calibri" pitchFamily="34" charset="-120"/>
              </a:rPr>
              <a:t>d’autres</a:t>
            </a:r>
            <a:r>
              <a:rPr lang="en-US" dirty="0">
                <a:solidFill>
                  <a:srgbClr val="1C2833"/>
                </a:solidFill>
                <a:latin typeface="Calibri" pitchFamily="34" charset="0"/>
                <a:ea typeface="Calibri" pitchFamily="34" charset="-122"/>
                <a:cs typeface="Calibri" pitchFamily="34" charset="-120"/>
              </a:rPr>
              <a:t> </a:t>
            </a:r>
            <a:r>
              <a:rPr lang="en-US" dirty="0" err="1">
                <a:solidFill>
                  <a:srgbClr val="1C2833"/>
                </a:solidFill>
                <a:latin typeface="Calibri" pitchFamily="34" charset="0"/>
                <a:ea typeface="Calibri" pitchFamily="34" charset="-122"/>
                <a:cs typeface="Calibri" pitchFamily="34" charset="-120"/>
              </a:rPr>
              <a:t>véhicules</a:t>
            </a:r>
            <a:r>
              <a:rPr lang="en-US" dirty="0">
                <a:solidFill>
                  <a:srgbClr val="1C2833"/>
                </a:solidFill>
                <a:latin typeface="Calibri" pitchFamily="34" charset="0"/>
                <a:ea typeface="Calibri" pitchFamily="34" charset="-122"/>
                <a:cs typeface="Calibri" pitchFamily="34" charset="-120"/>
              </a:rPr>
              <a:t>, </a:t>
            </a:r>
            <a:r>
              <a:rPr lang="en-US" dirty="0" err="1">
                <a:solidFill>
                  <a:srgbClr val="1C2833"/>
                </a:solidFill>
                <a:latin typeface="Calibri" pitchFamily="34" charset="0"/>
                <a:ea typeface="Calibri" pitchFamily="34" charset="-122"/>
                <a:cs typeface="Calibri" pitchFamily="34" charset="-120"/>
              </a:rPr>
              <a:t>ce</a:t>
            </a:r>
            <a:r>
              <a:rPr lang="en-US" dirty="0">
                <a:solidFill>
                  <a:srgbClr val="1C2833"/>
                </a:solidFill>
                <a:latin typeface="Calibri" pitchFamily="34" charset="0"/>
                <a:ea typeface="Calibri" pitchFamily="34" charset="-122"/>
                <a:cs typeface="Calibri" pitchFamily="34" charset="-120"/>
              </a:rPr>
              <a:t> qui </a:t>
            </a:r>
            <a:r>
              <a:rPr lang="en-US" dirty="0" err="1">
                <a:solidFill>
                  <a:srgbClr val="1C2833"/>
                </a:solidFill>
                <a:latin typeface="Calibri" pitchFamily="34" charset="0"/>
                <a:ea typeface="Calibri" pitchFamily="34" charset="-122"/>
                <a:cs typeface="Calibri" pitchFamily="34" charset="-120"/>
              </a:rPr>
              <a:t>contamine</a:t>
            </a:r>
            <a:r>
              <a:rPr lang="en-US" dirty="0">
                <a:solidFill>
                  <a:srgbClr val="1C2833"/>
                </a:solidFill>
                <a:latin typeface="Calibri" pitchFamily="34" charset="0"/>
                <a:ea typeface="Calibri" pitchFamily="34" charset="-122"/>
                <a:cs typeface="Calibri" pitchFamily="34" charset="-120"/>
              </a:rPr>
              <a:t> </a:t>
            </a:r>
            <a:r>
              <a:rPr lang="en-US" dirty="0" err="1">
                <a:solidFill>
                  <a:srgbClr val="1C2833"/>
                </a:solidFill>
                <a:latin typeface="Calibri" pitchFamily="34" charset="0"/>
                <a:ea typeface="Calibri" pitchFamily="34" charset="-122"/>
                <a:cs typeface="Calibri" pitchFamily="34" charset="-120"/>
              </a:rPr>
              <a:t>l’analyse</a:t>
            </a:r>
            <a:r>
              <a:rPr lang="en-US" dirty="0">
                <a:solidFill>
                  <a:srgbClr val="1C2833"/>
                </a:solidFill>
                <a:latin typeface="Calibri" pitchFamily="34" charset="0"/>
                <a:ea typeface="Calibri" pitchFamily="34" charset="-122"/>
                <a:cs typeface="Calibri" pitchFamily="34" charset="-120"/>
              </a:rPr>
              <a:t>. </a:t>
            </a:r>
          </a:p>
          <a:p>
            <a:pPr marL="0" indent="0">
              <a:buNone/>
            </a:pPr>
            <a:r>
              <a:rPr lang="en-US" b="1" dirty="0">
                <a:solidFill>
                  <a:srgbClr val="1C2833"/>
                </a:solidFill>
                <a:latin typeface="Calibri" pitchFamily="34" charset="0"/>
                <a:ea typeface="Calibri" pitchFamily="34" charset="-122"/>
                <a:cs typeface="Calibri" pitchFamily="34" charset="-120"/>
              </a:rPr>
              <a:t>Solution</a:t>
            </a:r>
            <a:r>
              <a:rPr lang="en-US" dirty="0">
                <a:solidFill>
                  <a:srgbClr val="1C2833"/>
                </a:solidFill>
                <a:latin typeface="Calibri" pitchFamily="34" charset="0"/>
                <a:ea typeface="Calibri" pitchFamily="34" charset="-122"/>
                <a:cs typeface="Calibri" pitchFamily="34" charset="-120"/>
              </a:rPr>
              <a:t> : </a:t>
            </a:r>
            <a:r>
              <a:rPr lang="en-US" dirty="0" err="1">
                <a:solidFill>
                  <a:srgbClr val="1C2833"/>
                </a:solidFill>
                <a:latin typeface="Calibri" pitchFamily="34" charset="0"/>
                <a:ea typeface="Calibri" pitchFamily="34" charset="-122"/>
                <a:cs typeface="Calibri" pitchFamily="34" charset="-120"/>
              </a:rPr>
              <a:t>Filtre</a:t>
            </a:r>
            <a:r>
              <a:rPr lang="en-US" dirty="0">
                <a:solidFill>
                  <a:srgbClr val="1C2833"/>
                </a:solidFill>
                <a:latin typeface="Calibri" pitchFamily="34" charset="0"/>
                <a:ea typeface="Calibri" pitchFamily="34" charset="-122"/>
                <a:cs typeface="Calibri" pitchFamily="34" charset="-120"/>
              </a:rPr>
              <a:t> spatial 4 niveaux : ancrage bbox voiture + clustering des pièces. </a:t>
            </a:r>
            <a:r>
              <a:rPr lang="en-US" dirty="0" err="1">
                <a:solidFill>
                  <a:srgbClr val="1C2833"/>
                </a:solidFill>
                <a:latin typeface="Calibri" pitchFamily="34" charset="0"/>
                <a:ea typeface="Calibri" pitchFamily="34" charset="-122"/>
                <a:cs typeface="Calibri" pitchFamily="34" charset="-120"/>
              </a:rPr>
              <a:t>Pièces</a:t>
            </a:r>
            <a:r>
              <a:rPr lang="en-US" dirty="0">
                <a:solidFill>
                  <a:srgbClr val="1C2833"/>
                </a:solidFill>
                <a:latin typeface="Calibri" pitchFamily="34" charset="0"/>
                <a:ea typeface="Calibri" pitchFamily="34" charset="-122"/>
                <a:cs typeface="Calibri" pitchFamily="34" charset="-120"/>
              </a:rPr>
              <a:t> et </a:t>
            </a:r>
            <a:r>
              <a:rPr lang="en-US" dirty="0" err="1">
                <a:solidFill>
                  <a:srgbClr val="1C2833"/>
                </a:solidFill>
                <a:latin typeface="Calibri" pitchFamily="34" charset="0"/>
                <a:ea typeface="Calibri" pitchFamily="34" charset="-122"/>
                <a:cs typeface="Calibri" pitchFamily="34" charset="-120"/>
              </a:rPr>
              <a:t>éléments</a:t>
            </a:r>
            <a:r>
              <a:rPr lang="en-US" dirty="0">
                <a:solidFill>
                  <a:srgbClr val="1C2833"/>
                </a:solidFill>
                <a:latin typeface="Calibri" pitchFamily="34" charset="0"/>
                <a:ea typeface="Calibri" pitchFamily="34" charset="-122"/>
                <a:cs typeface="Calibri" pitchFamily="34" charset="-120"/>
              </a:rPr>
              <a:t> parasites </a:t>
            </a:r>
            <a:r>
              <a:rPr lang="en-US" dirty="0" err="1">
                <a:solidFill>
                  <a:srgbClr val="1C2833"/>
                </a:solidFill>
                <a:latin typeface="Calibri" pitchFamily="34" charset="0"/>
                <a:ea typeface="Calibri" pitchFamily="34" charset="-122"/>
                <a:cs typeface="Calibri" pitchFamily="34" charset="-120"/>
              </a:rPr>
              <a:t>éliminés</a:t>
            </a:r>
            <a:r>
              <a:rPr lang="en-US" dirty="0">
                <a:solidFill>
                  <a:srgbClr val="1C2833"/>
                </a:solidFill>
                <a:latin typeface="Calibri" pitchFamily="34" charset="0"/>
                <a:ea typeface="Calibri" pitchFamily="34" charset="-122"/>
                <a:cs typeface="Calibri" pitchFamily="34" charset="-120"/>
              </a:rPr>
              <a:t>.</a:t>
            </a:r>
            <a:endParaRPr lang="en-US" dirty="0"/>
          </a:p>
        </p:txBody>
      </p:sp>
      <p:sp>
        <p:nvSpPr>
          <p:cNvPr id="1360" name="Text 215">
            <a:extLst>
              <a:ext uri="{FF2B5EF4-FFF2-40B4-BE49-F238E27FC236}">
                <a16:creationId xmlns:a16="http://schemas.microsoft.com/office/drawing/2014/main" id="{9138F19B-4E19-01CD-4DBF-B57C20569BBE}"/>
              </a:ext>
            </a:extLst>
          </p:cNvPr>
          <p:cNvSpPr/>
          <p:nvPr/>
        </p:nvSpPr>
        <p:spPr>
          <a:xfrm>
            <a:off x="17121491" y="29312969"/>
            <a:ext cx="3864578" cy="640080"/>
          </a:xfrm>
          <a:prstGeom prst="rect">
            <a:avLst/>
          </a:prstGeom>
          <a:noFill/>
          <a:ln/>
        </p:spPr>
        <p:txBody>
          <a:bodyPr wrap="square" rtlCol="0" anchor="ctr"/>
          <a:lstStyle/>
          <a:p>
            <a:pPr marL="0" indent="0" algn="ctr">
              <a:buNone/>
            </a:pPr>
            <a:endParaRPr lang="en-US" sz="1900" dirty="0"/>
          </a:p>
        </p:txBody>
      </p:sp>
    </p:spTree>
    <p:extLst>
      <p:ext uri="{BB962C8B-B14F-4D97-AF65-F5344CB8AC3E}">
        <p14:creationId xmlns:p14="http://schemas.microsoft.com/office/powerpoint/2010/main" val="4179078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820</TotalTime>
  <Words>1513</Words>
  <Application>Microsoft Office PowerPoint</Application>
  <PresentationFormat>Personnalisé</PresentationFormat>
  <Paragraphs>163</Paragraphs>
  <Slides>1</Slides>
  <Notes>0</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vt:i4>
      </vt:variant>
    </vt:vector>
  </HeadingPairs>
  <TitlesOfParts>
    <vt:vector size="4" baseType="lpstr">
      <vt:lpstr>Arial</vt:lpstr>
      <vt:lpstr>Calibri</vt:lpstr>
      <vt:lpstr>Office Theme</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Affiche INF1022 — Détection dommages automobiles</dc:title>
  <dc:subject>PptxGenJS Presentation</dc:subject>
  <dc:creator>PptxGenJS</dc:creator>
  <cp:lastModifiedBy>Poirier, Yannick</cp:lastModifiedBy>
  <cp:revision>12</cp:revision>
  <dcterms:created xsi:type="dcterms:W3CDTF">2026-04-05T04:22:27Z</dcterms:created>
  <dcterms:modified xsi:type="dcterms:W3CDTF">2026-04-25T18:19:21Z</dcterms:modified>
</cp:coreProperties>
</file>